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3" r:id="rId4"/>
    <p:sldMasterId id="2147483674" r:id="rId5"/>
  </p:sldMasterIdLst>
  <p:notesMasterIdLst>
    <p:notesMasterId r:id="rId6"/>
  </p:notesMasterIdLst>
  <p:sldIdLst>
    <p:sldId id="256" r:id="rId35"/>
    <p:sldId id="257" r:id="rId36"/>
    <p:sldId id="258" r:id="rId37"/>
    <p:sldId id="259" r:id="rId38"/>
    <p:sldId id="260" r:id="rId39"/>
    <p:sldId id="261" r:id="rId40"/>
    <p:sldId id="262" r:id="rId41"/>
    <p:sldId id="263" r:id="rId42"/>
    <p:sldId id="264" r:id="rId43"/>
    <p:sldId id="265" r:id="rId44"/>
    <p:sldId id="266" r:id="rId45"/>
    <p:sldId id="267" r:id="rId46"/>
    <p:sldId id="268" r:id="rId34"/>
    <p:sldId id="269" r:id="rId33"/>
    <p:sldId id="270" r:id="rId32"/>
    <p:sldId id="271" r:id="rId31"/>
    <p:sldId id="272" r:id="rId30"/>
    <p:sldId id="273" r:id="rId29"/>
  </p:sldIdLst>
  <p:sldSz cy="5143500" cx="9144000"/>
  <p:notesSz cx="6858000" cy="9144000"/>
  <p:embeddedFontLst>
    <p:embeddedFont>
      <p:font typeface="Raleway"/>
      <p:regular r:id="rId47"/>
      <p:bold r:id="rId48"/>
      <p:italic r:id="rId49"/>
      <p:boldItalic r:id="rId50"/>
    </p:embeddedFont>
    <p:embeddedFont>
      <p:font typeface="Proxima Nova"/>
      <p:regular r:id="rId51"/>
      <p:bold r:id="rId52"/>
      <p:italic r:id="rId53"/>
      <p:boldItalic r:id="rId54"/>
    </p:embeddedFont>
    <p:embeddedFont>
      <p:font typeface="Roboto Medium"/>
      <p:regular r:id="rId55"/>
      <p:bold r:id="rId56"/>
      <p:italic r:id="rId57"/>
      <p:boldItalic r:id="rId58"/>
    </p:embeddedFont>
    <p:embeddedFont>
      <p:font typeface="Amatic SC"/>
      <p:regular r:id="rId59"/>
      <p:bold r:id="rId60"/>
    </p:embeddedFont>
    <p:embeddedFont>
      <p:font typeface="Cabin"/>
      <p:regular r:id="rId61"/>
      <p:bold r:id="rId62"/>
      <p:italic r:id="rId63"/>
      <p:boldItalic r:id="rId64"/>
    </p:embeddedFont>
    <p:embeddedFont>
      <p:font typeface="Paytone One"/>
      <p:regular r:id="rId65"/>
    </p:embeddedFont>
    <p:embeddedFont>
      <p:font typeface="Proxima Nova Semibold"/>
      <p:regular r:id="rId66"/>
      <p:bold r:id="rId67"/>
      <p:boldItalic r:id="rId68"/>
    </p:embeddedFont>
    <p:embeddedFont>
      <p:font typeface="Nanum Gothic"/>
      <p:regular r:id="rId69"/>
      <p:bold r:id="rId70"/>
    </p:embeddedFont>
    <p:embeddedFont>
      <p:font typeface="Open Sans"/>
      <p:regular r:id="rId71"/>
      <p:bold r:id="rId72"/>
      <p:italic r:id="rId73"/>
      <p:boldItalic r:id="rId7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1360676-FC1D-4813-9C7A-D1655A5118BE}">
  <a:tblStyle styleId="{51360676-FC1D-4813-9C7A-D1655A5118B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4B207771-6E49-4809-92DE-D7EDE40BEC60}" styleName="Table_1">
    <a:wholeTbl>
      <a:tcTxStyle>
        <a:font>
          <a:latin typeface="Arial"/>
          <a:ea typeface="Arial"/>
          <a:cs typeface="Arial"/>
        </a:font>
        <a:srgbClr val="000000"/>
      </a:tcTxStyle>
      <a:tcStyle>
        <a:tcBdr>
          <a:left>
            <a:ln cap="flat" cmpd="sng" w="9525">
              <a:solidFill>
                <a:srgbClr val="000000"/>
              </a:solidFill>
              <a:prstDash val="solid"/>
              <a:round/>
              <a:headEnd len="sm" w="sm" type="none"/>
              <a:tailEnd len="sm" w="sm" type="none"/>
            </a:ln>
          </a:left>
          <a:right>
            <a:ln cap="flat" cmpd="sng" w="9525">
              <a:solidFill>
                <a:srgbClr val="000000"/>
              </a:solidFill>
              <a:prstDash val="solid"/>
              <a:round/>
              <a:headEnd len="sm" w="sm" type="none"/>
              <a:tailEnd len="sm" w="sm" type="none"/>
            </a:ln>
          </a:right>
          <a:top>
            <a:ln cap="flat" cmpd="sng" w="9525">
              <a:solidFill>
                <a:srgbClr val="000000"/>
              </a:solidFill>
              <a:prstDash val="solid"/>
              <a:round/>
              <a:headEnd len="sm" w="sm" type="none"/>
              <a:tailEnd len="sm" w="sm" type="none"/>
            </a:ln>
          </a:top>
          <a:bottom>
            <a:ln cap="flat" cmpd="sng" w="9525">
              <a:solidFill>
                <a:srgbClr val="000000"/>
              </a:solidFill>
              <a:prstDash val="solid"/>
              <a:round/>
              <a:headEnd len="sm" w="sm" type="none"/>
              <a:tailEnd len="sm" w="sm" type="none"/>
            </a:ln>
          </a:bottom>
          <a:insideH>
            <a:ln cap="flat" cmpd="sng" w="9525">
              <a:solidFill>
                <a:srgbClr val="000000"/>
              </a:solidFill>
              <a:prstDash val="solid"/>
              <a:round/>
              <a:headEnd len="sm" w="sm" type="none"/>
              <a:tailEnd len="sm" w="sm" type="none"/>
            </a:ln>
          </a:insideH>
          <a:insideV>
            <a:ln cap="flat" cmpd="sng" w="9525">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29" Type="http://schemas.openxmlformats.org/officeDocument/2006/relationships/slide" Target="slides/slide18.xml"/><Relationship Id="rId30" Type="http://schemas.openxmlformats.org/officeDocument/2006/relationships/slide" Target="slides/slide17.xml"/><Relationship Id="rId31" Type="http://schemas.openxmlformats.org/officeDocument/2006/relationships/slide" Target="slides/slide16.xml"/><Relationship Id="rId32" Type="http://schemas.openxmlformats.org/officeDocument/2006/relationships/slide" Target="slides/slide15.xml"/><Relationship Id="rId33" Type="http://schemas.openxmlformats.org/officeDocument/2006/relationships/slide" Target="slides/slide14.xml"/><Relationship Id="rId34" Type="http://schemas.openxmlformats.org/officeDocument/2006/relationships/slide" Target="slides/slide13.xml"/><Relationship Id="rId35" Type="http://schemas.openxmlformats.org/officeDocument/2006/relationships/slide" Target="slides/slide1.xml"/><Relationship Id="rId36" Type="http://schemas.openxmlformats.org/officeDocument/2006/relationships/slide" Target="slides/slide2.xml"/><Relationship Id="rId37" Type="http://schemas.openxmlformats.org/officeDocument/2006/relationships/slide" Target="slides/slide3.xml"/><Relationship Id="rId38" Type="http://schemas.openxmlformats.org/officeDocument/2006/relationships/slide" Target="slides/slide4.xml"/><Relationship Id="rId39" Type="http://schemas.openxmlformats.org/officeDocument/2006/relationships/slide" Target="slides/slide5.xml"/><Relationship Id="rId40" Type="http://schemas.openxmlformats.org/officeDocument/2006/relationships/slide" Target="slides/slide6.xml"/><Relationship Id="rId41" Type="http://schemas.openxmlformats.org/officeDocument/2006/relationships/slide" Target="slides/slide7.xml"/><Relationship Id="rId42" Type="http://schemas.openxmlformats.org/officeDocument/2006/relationships/slide" Target="slides/slide8.xml"/><Relationship Id="rId43" Type="http://schemas.openxmlformats.org/officeDocument/2006/relationships/slide" Target="slides/slide9.xml"/><Relationship Id="rId44" Type="http://schemas.openxmlformats.org/officeDocument/2006/relationships/slide" Target="slides/slide10.xml"/><Relationship Id="rId45" Type="http://schemas.openxmlformats.org/officeDocument/2006/relationships/slide" Target="slides/slide11.xml"/><Relationship Id="rId46" Type="http://schemas.openxmlformats.org/officeDocument/2006/relationships/slide" Target="slides/slide12.xml"/><Relationship Id="rId47" Type="http://schemas.openxmlformats.org/officeDocument/2006/relationships/font" Target="fonts/Raleway-regular.fntdata"/><Relationship Id="rId48" Type="http://schemas.openxmlformats.org/officeDocument/2006/relationships/font" Target="fonts/Raleway-bold.fntdata"/><Relationship Id="rId49" Type="http://schemas.openxmlformats.org/officeDocument/2006/relationships/font" Target="fonts/Raleway-italic.fntdata"/><Relationship Id="rId50" Type="http://schemas.openxmlformats.org/officeDocument/2006/relationships/font" Target="fonts/Raleway-boldItalic.fntdata"/><Relationship Id="rId51" Type="http://schemas.openxmlformats.org/officeDocument/2006/relationships/font" Target="fonts/ProximaNova-regular.fntdata"/><Relationship Id="rId52" Type="http://schemas.openxmlformats.org/officeDocument/2006/relationships/font" Target="fonts/ProximaNova-bold.fntdata"/><Relationship Id="rId53" Type="http://schemas.openxmlformats.org/officeDocument/2006/relationships/font" Target="fonts/ProximaNova-italic.fntdata"/><Relationship Id="rId54" Type="http://schemas.openxmlformats.org/officeDocument/2006/relationships/font" Target="fonts/ProximaNova-boldItalic.fntdata"/><Relationship Id="rId55" Type="http://schemas.openxmlformats.org/officeDocument/2006/relationships/font" Target="fonts/RobotoMedium-regular.fntdata"/><Relationship Id="rId56" Type="http://schemas.openxmlformats.org/officeDocument/2006/relationships/font" Target="fonts/RobotoMedium-bold.fntdata"/><Relationship Id="rId57" Type="http://schemas.openxmlformats.org/officeDocument/2006/relationships/font" Target="fonts/RobotoMedium-italic.fntdata"/><Relationship Id="rId58" Type="http://schemas.openxmlformats.org/officeDocument/2006/relationships/font" Target="fonts/RobotoMedium-boldItalic.fntdata"/><Relationship Id="rId59" Type="http://schemas.openxmlformats.org/officeDocument/2006/relationships/font" Target="fonts/AmaticSC-regular.fntdata"/><Relationship Id="rId60" Type="http://schemas.openxmlformats.org/officeDocument/2006/relationships/font" Target="fonts/AmaticSC-bold.fntdata"/><Relationship Id="rId61" Type="http://schemas.openxmlformats.org/officeDocument/2006/relationships/font" Target="fonts/Cabin-regular.fntdata"/><Relationship Id="rId62" Type="http://schemas.openxmlformats.org/officeDocument/2006/relationships/font" Target="fonts/Cabin-bold.fntdata"/><Relationship Id="rId63" Type="http://schemas.openxmlformats.org/officeDocument/2006/relationships/font" Target="fonts/Cabin-italic.fntdata"/><Relationship Id="rId64" Type="http://schemas.openxmlformats.org/officeDocument/2006/relationships/font" Target="fonts/Cabin-boldItalic.fntdata"/><Relationship Id="rId65" Type="http://schemas.openxmlformats.org/officeDocument/2006/relationships/font" Target="fonts/PaytoneOne-regular.fntdata"/><Relationship Id="rId66" Type="http://schemas.openxmlformats.org/officeDocument/2006/relationships/font" Target="fonts/ProximaNovaSemibold-regular.fntdata"/><Relationship Id="rId67" Type="http://schemas.openxmlformats.org/officeDocument/2006/relationships/font" Target="fonts/ProximaNovaSemibold-bold.fntdata"/><Relationship Id="rId68" Type="http://schemas.openxmlformats.org/officeDocument/2006/relationships/font" Target="fonts/ProximaNovaSemibold-boldItalic.fntdata"/><Relationship Id="rId69" Type="http://schemas.openxmlformats.org/officeDocument/2006/relationships/font" Target="fonts/NanumGothic-regular.fntdata"/><Relationship Id="rId70" Type="http://schemas.openxmlformats.org/officeDocument/2006/relationships/font" Target="fonts/NanumGothic-bold.fntdata"/><Relationship Id="rId71" Type="http://schemas.openxmlformats.org/officeDocument/2006/relationships/font" Target="fonts/OpenSans-regular.fntdata"/><Relationship Id="rId72" Type="http://schemas.openxmlformats.org/officeDocument/2006/relationships/font" Target="fonts/OpenSans-bold.fntdata"/><Relationship Id="rId73" Type="http://schemas.openxmlformats.org/officeDocument/2006/relationships/font" Target="fonts/OpenSans-italic.fntdata"/><Relationship Id="rId74" Type="http://schemas.openxmlformats.org/officeDocument/2006/relationships/font" Target="fonts/OpenSans-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Good morning. My project is patient's sickness prediction. The question is simple: from the values a doctor records at a routine check-up, can a model tell whether a patient has cardiovascular disease? And just as important: how good is it really, compared with what doctors already use?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Cardiovascular diseases are the world's leading cause of death: about 19.8 million people in 2022. Many of those deaths can be delayed if patients at risk are found early. So the objective is a model that uses one examination's values to detect the disease. Three questions guide the evaluation. First, what does machine learning add over what a doctor already has: a blood-pressure threshold and a standard risk score? Second, how much do data-handling choices change the result? Third, can the predictions be trusted?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dataset has seventy thousand patients. For each, eleven values: age, sex, height, weight, the two blood-pressure readings, cholesterol and glucose in three levels, and three yes-or-no answers about smoking, alcohol and physical activity. Half the patients have cardiovascular disease. Two warnings from the start: we don't know where the data comes from, and we don't know how disease was defined. I come back to both at the end.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first finding came before any model. About two percent of the records hold values no living person can have, nearly all of them blood pressures: sixteen thousand, minus one hundred and fifty, zero. Most are typing errors with a pattern: an extra zero, centimetres instead of millimetres of mercury, a stray minus sign, or the two readings swapped. And three in four of these records belong to sick patients. Dropped or repaired, the effect is dramatic: systolic pressure's correlation with the diagnosis goes from 0.05 to 0.43.</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Here is the clean data, on the training patients only. The disease rate climbs steadily with systolic pressure, from about a quarter below 120 to 86 percent at 160 and above. It almost triples with age, rises with weight, and three quarters of patients with very high cholesterol have the disease. The lifestyle answers barely move it, and two point the wrong way: smokers and drinkers have slightly less disease.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That is the smoking paradox. Smoking causes heart disease, so I checked for a confounder: most smokers here are men, so I compared men of the same age. The paradox survives: smokers have 3.1 points less disease, and the interval excludes zero. A possible reason, which the data cannot test: diagnosis and answers come from the same visit, so patients already diagnosed may have quit. Either way, this is detection of existing disease, not prediction, and every effect is an association, not a cause.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models. Everything was tuned with five-fold cross-validation on the training patients, and these accuracies are on 13,722 test patients the models never saw. At the bottom, the Framingham score as published: 64.6 percent. It was built for a different question, a first event within ten years, and it does not transfer. The guideline rule, systolic at least 130, already gets 71.3. Logistic regression 72.6. Random forest, the neural network and gradient boosting are close together, between 73.1 and 73.6. The best is gradient boosting: 73.6 percent, AUC 0.804. Machine learning helps, but by about two points.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 unseen patients, gradient boosting reaches an AUC of 0.804, with a confidence interval from 0.797 to 0.811, and 73.6 percent accuracy, close to its cross-validated 73.5, so it did not overfit. The most concrete way to see the gain: I chose the model's cut-off on training data to match the rule's specificity, then scored both once on the test patients. The model finds 274 more of the 6,785 diseased patients, with no clear difference in false alarms. And the learning curve flattens, so more data of the same kind would add little: the limit seems to lie in what the examination records.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does the model rely on? Scramble the blood-pressure features and its AUC drops by 0.21; age and cholesterol follow. Glucose, the lifestyle answers and sex add very little. Retrained without blood pressure, a model still reaches 0.70, so the other factors are weaker, not useless. The shape: predicted risk is about 40 percent at 120, 80 at 140, then levels off. Rounded readings and the stage feature may sharpen those steps, but it is clearly not a straight line.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Since the gains are small, I also built something a doctor can use with a pen: four factors, each band earning whole points. The rule: keep measured values whose points go the way medicine expects. In the full card, smoking, alcohol and high glucose earned negative points, and no one can hand out a score that rewards smoking. The total maps to a risk read from the training patients. This card reaches an AUC of 0.793, practically that of logistic regression, and only 0.012 below the best model.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 to the second question. Papers on this dataset report 88 and even 94.5 percent. I reproduced three common mistakes. Choosing the luckiest of 50 random splits barely matters: 73.4. Oversampling with SMOTE before splitting puts near-copies of training patients into the test set: a random forest then reports 86.7 percent, against 71 on truly unseen patients. Scoring a model on its own training patients gives 99.9. Same data, only the evaluation changed. I cannot know what those papers did, but on this data an accuracy far above 74 percent is a reason to check the evaluation before believing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Third question: can the risks be trusted? In this sample, yes: patients given 20 percent have the disease about 20 percent of the time. Women and men get similar results. Older patients are harder to separate, 0.72 over 60 against 0.84 under 50, but blood pressure alone drops the same way, so that is the data more than the model. And where one patient in five is sick, only 44 percent of flagged patients would really have it: a positive result means worth a closer look, not a diagnosis.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last section of the notebook turns the model into a check of a new patient. It saves the model, then assesses an examination in two lines. It rejects impossible readings, with the same rules as the cleaning, and returns the risk, the verdict at two cut-offs, one for accuracy and one for screening, and the clinical points with their breakdown. Here a 62-year-old man with stage 2 hypertension and high cholesterol gets 87 percent.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 conclude. Machine learning adds something real but small: about two points over the guideline rule, and the limit near 74 percent seems to lie in the data. Data handling can move reported numbers far more than the algorithm: dirty records cost the linear model accuracy, and two leakage mistakes report 85 to 100 percent. The predictions are trustworthy within limits. The main limitations: it detects existing disease and cannot forecast, the source and diagnosis definition are unknown, and treatment is not recorded. The next step: data from a known clinic, followed over time.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Thank you. I am happy to take questions.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Backup. Every candidate scored once on the test patients, with bootstrap intervals for the AUC and the cross-validated AUC for comparison. Gradient boosting leads random forest by 0.0015 and the neural network by 0.004: too small to matter clinically.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Backup. Gradient boosting barely notices the cleaning strategy; logistic regression loses 0.017 AUC on the raw data. Repairing and dropping give the same result.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Backup. On average the risks hold in every group: the mean predicted risk is within 1.5 points of the observed share. Discrimination falls with age for the model and for systolic pressure alone, and at the 0.5 cut-off most older patients are flagged because most of them are sick.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bit.ly/3A1uf1Q" TargetMode="External"/><Relationship Id="rId3" Type="http://schemas.openxmlformats.org/officeDocument/2006/relationships/hyperlink" Target="http://bit.ly/2TyoMsr" TargetMode="External"/><Relationship Id="rId4" Type="http://schemas.openxmlformats.org/officeDocument/2006/relationships/hyperlink" Target="http://bit.ly/2TtBDfr" TargetMode="Externa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sp>
        <p:nvSpPr>
          <p:cNvPr id="9" name="Google Shape;9;p2"/>
          <p:cNvSpPr/>
          <p:nvPr/>
        </p:nvSpPr>
        <p:spPr>
          <a:xfrm rot="5400000">
            <a:off x="320000" y="-1440525"/>
            <a:ext cx="1727100" cy="2745600"/>
          </a:xfrm>
          <a:prstGeom prst="round2SameRect">
            <a:avLst>
              <a:gd fmla="val 50000"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sp>
        <p:nvSpPr>
          <p:cNvPr id="10" name="Google Shape;10;p2"/>
          <p:cNvSpPr/>
          <p:nvPr/>
        </p:nvSpPr>
        <p:spPr>
          <a:xfrm rot="10800000">
            <a:off x="8603150" y="0"/>
            <a:ext cx="1105800" cy="17580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11" name="Google Shape;11;p2"/>
          <p:cNvGrpSpPr/>
          <p:nvPr/>
        </p:nvGrpSpPr>
        <p:grpSpPr>
          <a:xfrm>
            <a:off x="7858386" y="4140601"/>
            <a:ext cx="1617386" cy="1624770"/>
            <a:chOff x="3992334" y="189904"/>
            <a:chExt cx="1116902" cy="1122001"/>
          </a:xfrm>
        </p:grpSpPr>
        <p:sp>
          <p:nvSpPr>
            <p:cNvPr id="12" name="Google Shape;12;p2"/>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2"/>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2"/>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2"/>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2"/>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2"/>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2"/>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 name="Google Shape;23;p2"/>
          <p:cNvGrpSpPr/>
          <p:nvPr/>
        </p:nvGrpSpPr>
        <p:grpSpPr>
          <a:xfrm>
            <a:off x="-45478" y="4162264"/>
            <a:ext cx="1105788" cy="1058857"/>
            <a:chOff x="4252810" y="2035226"/>
            <a:chExt cx="624951" cy="598394"/>
          </a:xfrm>
        </p:grpSpPr>
        <p:sp>
          <p:nvSpPr>
            <p:cNvPr id="24" name="Google Shape;24;p2"/>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2"/>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2"/>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2"/>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2"/>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2"/>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2"/>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2"/>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2"/>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2"/>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2"/>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2"/>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2"/>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2"/>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2"/>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2"/>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2"/>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2"/>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2"/>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2"/>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2"/>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2"/>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2"/>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2"/>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2"/>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2"/>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2"/>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2"/>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2"/>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2"/>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2"/>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2"/>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2"/>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2"/>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2"/>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2"/>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6" name="Google Shape;66;p2"/>
          <p:cNvGrpSpPr/>
          <p:nvPr/>
        </p:nvGrpSpPr>
        <p:grpSpPr>
          <a:xfrm>
            <a:off x="8864897" y="97489"/>
            <a:ext cx="1105788" cy="1058857"/>
            <a:chOff x="4252810" y="2035226"/>
            <a:chExt cx="624951" cy="598394"/>
          </a:xfrm>
        </p:grpSpPr>
        <p:sp>
          <p:nvSpPr>
            <p:cNvPr id="67" name="Google Shape;67;p2"/>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2"/>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2"/>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2"/>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2"/>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2"/>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2"/>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2"/>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2"/>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2"/>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2"/>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2"/>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2"/>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2"/>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2"/>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2"/>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2"/>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2"/>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2"/>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2"/>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2"/>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2"/>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2"/>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2"/>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2"/>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2"/>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2"/>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2"/>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2"/>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2"/>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2"/>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2"/>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2"/>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2"/>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2"/>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2"/>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2"/>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2"/>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2"/>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2"/>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2"/>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 name="Google Shape;109;p2"/>
          <p:cNvSpPr txBox="1"/>
          <p:nvPr>
            <p:ph type="ctrTitle"/>
          </p:nvPr>
        </p:nvSpPr>
        <p:spPr>
          <a:xfrm>
            <a:off x="1816292" y="1292400"/>
            <a:ext cx="5511300" cy="2068500"/>
          </a:xfrm>
          <a:prstGeom prst="rect">
            <a:avLst/>
          </a:prstGeom>
        </p:spPr>
        <p:txBody>
          <a:bodyPr anchorCtr="0" anchor="b" bIns="91425" lIns="91425" spcFirstLastPara="1" rIns="91425" wrap="square" tIns="91425">
            <a:noAutofit/>
          </a:bodyPr>
          <a:lstStyle>
            <a:lvl1pPr lvl="0" algn="ctr">
              <a:lnSpc>
                <a:spcPct val="90000"/>
              </a:lnSpc>
              <a:spcBef>
                <a:spcPts val="0"/>
              </a:spcBef>
              <a:spcAft>
                <a:spcPts val="0"/>
              </a:spcAft>
              <a:buClr>
                <a:srgbClr val="191919"/>
              </a:buClr>
              <a:buSzPts val="5200"/>
              <a:buNone/>
              <a:defRPr sz="72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110" name="Google Shape;110;p2"/>
          <p:cNvSpPr txBox="1"/>
          <p:nvPr>
            <p:ph idx="1" type="subTitle"/>
          </p:nvPr>
        </p:nvSpPr>
        <p:spPr>
          <a:xfrm>
            <a:off x="1816408" y="3441600"/>
            <a:ext cx="5511300" cy="409500"/>
          </a:xfrm>
          <a:prstGeom prst="rect">
            <a:avLst/>
          </a:prstGeom>
          <a:solidFill>
            <a:schemeClr val="accent2"/>
          </a:solidFill>
        </p:spPr>
        <p:txBody>
          <a:bodyPr anchorCtr="0" anchor="t" bIns="91425" lIns="91425" spcFirstLastPara="1" rIns="91425" wrap="square" tIns="91425">
            <a:noAutofit/>
          </a:bodyPr>
          <a:lstStyle>
            <a:lvl1pPr lvl="0" algn="ctr">
              <a:lnSpc>
                <a:spcPct val="100000"/>
              </a:lnSpc>
              <a:spcBef>
                <a:spcPts val="0"/>
              </a:spcBef>
              <a:spcAft>
                <a:spcPts val="0"/>
              </a:spcAft>
              <a:buSzPts val="1200"/>
              <a:buNone/>
              <a:defRPr b="1"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1"/>
        </a:solidFill>
      </p:bgPr>
    </p:bg>
    <p:spTree>
      <p:nvGrpSpPr>
        <p:cNvPr id="111" name="Shape 111"/>
        <p:cNvGrpSpPr/>
        <p:nvPr/>
      </p:nvGrpSpPr>
      <p:grpSpPr>
        <a:xfrm>
          <a:off x="0" y="0"/>
          <a:ext cx="0" cy="0"/>
          <a:chOff x="0" y="0"/>
          <a:chExt cx="0" cy="0"/>
        </a:xfrm>
      </p:grpSpPr>
      <p:sp>
        <p:nvSpPr>
          <p:cNvPr id="112" name="Google Shape;112;p3"/>
          <p:cNvSpPr txBox="1"/>
          <p:nvPr>
            <p:ph type="title"/>
          </p:nvPr>
        </p:nvSpPr>
        <p:spPr>
          <a:xfrm>
            <a:off x="3603825" y="2570950"/>
            <a:ext cx="4830300" cy="10230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600"/>
              <a:buNone/>
              <a:defRPr sz="50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113" name="Google Shape;113;p3"/>
          <p:cNvSpPr txBox="1"/>
          <p:nvPr>
            <p:ph hasCustomPrompt="1" idx="2" type="title"/>
          </p:nvPr>
        </p:nvSpPr>
        <p:spPr>
          <a:xfrm>
            <a:off x="5334539" y="1549550"/>
            <a:ext cx="1368900" cy="8418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None/>
              <a:defRPr sz="6000">
                <a:solidFill>
                  <a:schemeClr val="dk2"/>
                </a:solidFill>
              </a:defRPr>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114" name="Google Shape;114;p3"/>
          <p:cNvSpPr/>
          <p:nvPr>
            <p:ph idx="3" type="pic"/>
          </p:nvPr>
        </p:nvSpPr>
        <p:spPr>
          <a:xfrm>
            <a:off x="715100" y="511400"/>
            <a:ext cx="3341100" cy="4097100"/>
          </a:xfrm>
          <a:prstGeom prst="round2SameRect">
            <a:avLst>
              <a:gd fmla="val 16667" name="adj1"/>
              <a:gd fmla="val 0" name="adj2"/>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15" name="Shape 115"/>
        <p:cNvGrpSpPr/>
        <p:nvPr/>
      </p:nvGrpSpPr>
      <p:grpSpPr>
        <a:xfrm>
          <a:off x="0" y="0"/>
          <a:ext cx="0" cy="0"/>
          <a:chOff x="0" y="0"/>
          <a:chExt cx="0" cy="0"/>
        </a:xfrm>
      </p:grpSpPr>
      <p:sp>
        <p:nvSpPr>
          <p:cNvPr id="116" name="Google Shape;116;p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117" name="Google Shape;117;p4"/>
          <p:cNvSpPr txBox="1"/>
          <p:nvPr>
            <p:ph idx="1" type="body"/>
          </p:nvPr>
        </p:nvSpPr>
        <p:spPr>
          <a:xfrm>
            <a:off x="720000" y="1000075"/>
            <a:ext cx="7704000" cy="3534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Clr>
                <a:srgbClr val="434343"/>
              </a:buClr>
              <a:buSzPts val="1400"/>
              <a:buChar char="●"/>
              <a:defRPr b="1"/>
            </a:lvl1pPr>
            <a:lvl2pPr indent="-304800" lvl="1" marL="914400" rtl="0">
              <a:lnSpc>
                <a:spcPct val="115000"/>
              </a:lnSpc>
              <a:spcBef>
                <a:spcPts val="0"/>
              </a:spcBef>
              <a:spcAft>
                <a:spcPts val="0"/>
              </a:spcAft>
              <a:buClr>
                <a:srgbClr val="434343"/>
              </a:buClr>
              <a:buSzPts val="1200"/>
              <a:buChar char="○"/>
              <a:defRPr>
                <a:solidFill>
                  <a:srgbClr val="434343"/>
                </a:solidFill>
              </a:defRPr>
            </a:lvl2pPr>
            <a:lvl3pPr indent="-304800" lvl="2" marL="1371600" rtl="0">
              <a:lnSpc>
                <a:spcPct val="115000"/>
              </a:lnSpc>
              <a:spcBef>
                <a:spcPts val="0"/>
              </a:spcBef>
              <a:spcAft>
                <a:spcPts val="0"/>
              </a:spcAft>
              <a:buClr>
                <a:srgbClr val="434343"/>
              </a:buClr>
              <a:buSzPts val="1200"/>
              <a:buChar char="■"/>
              <a:defRPr>
                <a:solidFill>
                  <a:srgbClr val="434343"/>
                </a:solidFill>
              </a:defRPr>
            </a:lvl3pPr>
            <a:lvl4pPr indent="-304800" lvl="3" marL="1828800" rtl="0">
              <a:lnSpc>
                <a:spcPct val="115000"/>
              </a:lnSpc>
              <a:spcBef>
                <a:spcPts val="0"/>
              </a:spcBef>
              <a:spcAft>
                <a:spcPts val="0"/>
              </a:spcAft>
              <a:buClr>
                <a:srgbClr val="434343"/>
              </a:buClr>
              <a:buSzPts val="1200"/>
              <a:buChar char="●"/>
              <a:defRPr>
                <a:solidFill>
                  <a:srgbClr val="434343"/>
                </a:solidFill>
              </a:defRPr>
            </a:lvl4pPr>
            <a:lvl5pPr indent="-304800" lvl="4" marL="2286000" rtl="0">
              <a:lnSpc>
                <a:spcPct val="115000"/>
              </a:lnSpc>
              <a:spcBef>
                <a:spcPts val="0"/>
              </a:spcBef>
              <a:spcAft>
                <a:spcPts val="0"/>
              </a:spcAft>
              <a:buClr>
                <a:srgbClr val="434343"/>
              </a:buClr>
              <a:buSzPts val="1200"/>
              <a:buChar char="○"/>
              <a:defRPr>
                <a:solidFill>
                  <a:srgbClr val="434343"/>
                </a:solidFill>
              </a:defRPr>
            </a:lvl5pPr>
            <a:lvl6pPr indent="-304800" lvl="5" marL="2743200" rtl="0">
              <a:lnSpc>
                <a:spcPct val="115000"/>
              </a:lnSpc>
              <a:spcBef>
                <a:spcPts val="0"/>
              </a:spcBef>
              <a:spcAft>
                <a:spcPts val="0"/>
              </a:spcAft>
              <a:buClr>
                <a:srgbClr val="434343"/>
              </a:buClr>
              <a:buSzPts val="1200"/>
              <a:buChar char="■"/>
              <a:defRPr>
                <a:solidFill>
                  <a:srgbClr val="434343"/>
                </a:solidFill>
              </a:defRPr>
            </a:lvl6pPr>
            <a:lvl7pPr indent="-304800" lvl="6" marL="3200400" rtl="0">
              <a:lnSpc>
                <a:spcPct val="115000"/>
              </a:lnSpc>
              <a:spcBef>
                <a:spcPts val="0"/>
              </a:spcBef>
              <a:spcAft>
                <a:spcPts val="0"/>
              </a:spcAft>
              <a:buClr>
                <a:srgbClr val="434343"/>
              </a:buClr>
              <a:buSzPts val="1200"/>
              <a:buChar char="●"/>
              <a:defRPr>
                <a:solidFill>
                  <a:srgbClr val="434343"/>
                </a:solidFill>
              </a:defRPr>
            </a:lvl7pPr>
            <a:lvl8pPr indent="-304800" lvl="7" marL="3657600" rtl="0">
              <a:lnSpc>
                <a:spcPct val="115000"/>
              </a:lnSpc>
              <a:spcBef>
                <a:spcPts val="0"/>
              </a:spcBef>
              <a:spcAft>
                <a:spcPts val="0"/>
              </a:spcAft>
              <a:buClr>
                <a:srgbClr val="434343"/>
              </a:buClr>
              <a:buSzPts val="1200"/>
              <a:buChar char="○"/>
              <a:defRPr>
                <a:solidFill>
                  <a:srgbClr val="434343"/>
                </a:solidFill>
              </a:defRPr>
            </a:lvl8pPr>
            <a:lvl9pPr indent="-304800" lvl="8" marL="4114800" rtl="0">
              <a:lnSpc>
                <a:spcPct val="115000"/>
              </a:lnSpc>
              <a:spcBef>
                <a:spcPts val="0"/>
              </a:spcBef>
              <a:spcAft>
                <a:spcPts val="0"/>
              </a:spcAft>
              <a:buClr>
                <a:srgbClr val="434343"/>
              </a:buClr>
              <a:buSzPts val="1200"/>
              <a:buChar char="■"/>
              <a:defRPr>
                <a:solidFill>
                  <a:srgbClr val="434343"/>
                </a:solidFill>
              </a:defRPr>
            </a:lvl9pPr>
          </a:lstStyle>
          <a:p/>
        </p:txBody>
      </p:sp>
      <p:grpSp>
        <p:nvGrpSpPr>
          <p:cNvPr id="118" name="Google Shape;118;p4"/>
          <p:cNvGrpSpPr/>
          <p:nvPr/>
        </p:nvGrpSpPr>
        <p:grpSpPr>
          <a:xfrm>
            <a:off x="-824078" y="4079064"/>
            <a:ext cx="1105788" cy="1058857"/>
            <a:chOff x="4252810" y="2035226"/>
            <a:chExt cx="624951" cy="598394"/>
          </a:xfrm>
        </p:grpSpPr>
        <p:sp>
          <p:nvSpPr>
            <p:cNvPr id="119" name="Google Shape;119;p4"/>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4"/>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4"/>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4"/>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4"/>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4"/>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4"/>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4"/>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4"/>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4"/>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4"/>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4"/>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4"/>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4"/>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4"/>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4"/>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4"/>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4"/>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4"/>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4"/>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4"/>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4"/>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4"/>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4"/>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4"/>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4"/>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4"/>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4"/>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4"/>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4"/>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4"/>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4"/>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4"/>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4"/>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4"/>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4"/>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4"/>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1" name="Google Shape;161;p4"/>
          <p:cNvSpPr/>
          <p:nvPr/>
        </p:nvSpPr>
        <p:spPr>
          <a:xfrm rot="10800000">
            <a:off x="7416900" y="-2003350"/>
            <a:ext cx="1727100" cy="2745600"/>
          </a:xfrm>
          <a:prstGeom prst="round2SameRect">
            <a:avLst>
              <a:gd fmla="val 50000"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62" name="Shape 162"/>
        <p:cNvGrpSpPr/>
        <p:nvPr/>
      </p:nvGrpSpPr>
      <p:grpSpPr>
        <a:xfrm>
          <a:off x="0" y="0"/>
          <a:ext cx="0" cy="0"/>
          <a:chOff x="0" y="0"/>
          <a:chExt cx="0" cy="0"/>
        </a:xfrm>
      </p:grpSpPr>
      <p:grpSp>
        <p:nvGrpSpPr>
          <p:cNvPr id="163" name="Google Shape;163;p5"/>
          <p:cNvGrpSpPr/>
          <p:nvPr/>
        </p:nvGrpSpPr>
        <p:grpSpPr>
          <a:xfrm>
            <a:off x="6061922" y="4608489"/>
            <a:ext cx="2337963" cy="1058857"/>
            <a:chOff x="867497" y="4760889"/>
            <a:chExt cx="2337963" cy="1058857"/>
          </a:xfrm>
        </p:grpSpPr>
        <p:grpSp>
          <p:nvGrpSpPr>
            <p:cNvPr id="164" name="Google Shape;164;p5"/>
            <p:cNvGrpSpPr/>
            <p:nvPr/>
          </p:nvGrpSpPr>
          <p:grpSpPr>
            <a:xfrm>
              <a:off x="2099672" y="4760889"/>
              <a:ext cx="1105788" cy="1058857"/>
              <a:chOff x="4252810" y="2035226"/>
              <a:chExt cx="624951" cy="598394"/>
            </a:xfrm>
          </p:grpSpPr>
          <p:sp>
            <p:nvSpPr>
              <p:cNvPr id="165" name="Google Shape;165;p5"/>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5"/>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5"/>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5"/>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5"/>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5"/>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5"/>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5"/>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5"/>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5"/>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5"/>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5"/>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5"/>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5"/>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5"/>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5"/>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5"/>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5"/>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5"/>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5"/>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5"/>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5"/>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5"/>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5"/>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5"/>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5"/>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5"/>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5"/>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5"/>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5"/>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5"/>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5"/>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5"/>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5"/>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5"/>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5"/>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5"/>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5"/>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5"/>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5"/>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5"/>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5"/>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7" name="Google Shape;207;p5"/>
            <p:cNvGrpSpPr/>
            <p:nvPr/>
          </p:nvGrpSpPr>
          <p:grpSpPr>
            <a:xfrm>
              <a:off x="867497" y="4760889"/>
              <a:ext cx="1105788" cy="1058857"/>
              <a:chOff x="4252810" y="2035226"/>
              <a:chExt cx="624951" cy="598394"/>
            </a:xfrm>
          </p:grpSpPr>
          <p:sp>
            <p:nvSpPr>
              <p:cNvPr id="208" name="Google Shape;208;p5"/>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5"/>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5"/>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5"/>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5"/>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5"/>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5"/>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5"/>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5"/>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5"/>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5"/>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5"/>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5"/>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5"/>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5"/>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5"/>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5"/>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5"/>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5"/>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5"/>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5"/>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5"/>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5"/>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5"/>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5"/>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5"/>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5"/>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5"/>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5"/>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5"/>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5"/>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5"/>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5"/>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5"/>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5"/>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5"/>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5"/>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5"/>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5"/>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5"/>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5"/>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5"/>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50" name="Google Shape;250;p5"/>
          <p:cNvGrpSpPr/>
          <p:nvPr/>
        </p:nvGrpSpPr>
        <p:grpSpPr>
          <a:xfrm>
            <a:off x="-902289" y="1083363"/>
            <a:ext cx="1617386" cy="1624770"/>
            <a:chOff x="3992334" y="189904"/>
            <a:chExt cx="1116902" cy="1122001"/>
          </a:xfrm>
        </p:grpSpPr>
        <p:sp>
          <p:nvSpPr>
            <p:cNvPr id="251" name="Google Shape;251;p5"/>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5"/>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5"/>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5"/>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5"/>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5"/>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5"/>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5"/>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5"/>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5"/>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5"/>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2" name="Google Shape;262;p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263" name="Google Shape;263;p5"/>
          <p:cNvSpPr txBox="1"/>
          <p:nvPr>
            <p:ph idx="1" type="subTitle"/>
          </p:nvPr>
        </p:nvSpPr>
        <p:spPr>
          <a:xfrm>
            <a:off x="4923138" y="2574150"/>
            <a:ext cx="2505600" cy="1755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264" name="Google Shape;264;p5"/>
          <p:cNvSpPr txBox="1"/>
          <p:nvPr>
            <p:ph idx="2" type="subTitle"/>
          </p:nvPr>
        </p:nvSpPr>
        <p:spPr>
          <a:xfrm>
            <a:off x="1715262" y="2574149"/>
            <a:ext cx="2505600" cy="17556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265" name="Google Shape;265;p5"/>
          <p:cNvSpPr txBox="1"/>
          <p:nvPr>
            <p:ph idx="3" type="subTitle"/>
          </p:nvPr>
        </p:nvSpPr>
        <p:spPr>
          <a:xfrm>
            <a:off x="1715262" y="2000490"/>
            <a:ext cx="2505600" cy="5589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Paytone One"/>
                <a:ea typeface="Paytone One"/>
                <a:cs typeface="Paytone One"/>
                <a:sym typeface="Paytone One"/>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266" name="Google Shape;266;p5"/>
          <p:cNvSpPr txBox="1"/>
          <p:nvPr>
            <p:ph idx="4" type="subTitle"/>
          </p:nvPr>
        </p:nvSpPr>
        <p:spPr>
          <a:xfrm>
            <a:off x="4923137" y="2000490"/>
            <a:ext cx="2505600" cy="5589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Paytone One"/>
                <a:ea typeface="Paytone One"/>
                <a:cs typeface="Paytone One"/>
                <a:sym typeface="Paytone One"/>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7" name="Shape 267"/>
        <p:cNvGrpSpPr/>
        <p:nvPr/>
      </p:nvGrpSpPr>
      <p:grpSpPr>
        <a:xfrm>
          <a:off x="0" y="0"/>
          <a:ext cx="0" cy="0"/>
          <a:chOff x="0" y="0"/>
          <a:chExt cx="0" cy="0"/>
        </a:xfrm>
      </p:grpSpPr>
      <p:sp>
        <p:nvSpPr>
          <p:cNvPr id="268" name="Google Shape;268;p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grpSp>
        <p:nvGrpSpPr>
          <p:cNvPr id="269" name="Google Shape;269;p6"/>
          <p:cNvGrpSpPr/>
          <p:nvPr/>
        </p:nvGrpSpPr>
        <p:grpSpPr>
          <a:xfrm>
            <a:off x="-961364" y="3518726"/>
            <a:ext cx="1617386" cy="1624770"/>
            <a:chOff x="3992334" y="189904"/>
            <a:chExt cx="1116902" cy="1122001"/>
          </a:xfrm>
        </p:grpSpPr>
        <p:sp>
          <p:nvSpPr>
            <p:cNvPr id="270" name="Google Shape;270;p6"/>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6"/>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6"/>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6"/>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6"/>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6"/>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6"/>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6"/>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6"/>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6"/>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6"/>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81" name="Google Shape;281;p6"/>
          <p:cNvGrpSpPr/>
          <p:nvPr/>
        </p:nvGrpSpPr>
        <p:grpSpPr>
          <a:xfrm>
            <a:off x="8428897" y="5564"/>
            <a:ext cx="1105788" cy="1058857"/>
            <a:chOff x="4252810" y="2035226"/>
            <a:chExt cx="624951" cy="598394"/>
          </a:xfrm>
        </p:grpSpPr>
        <p:sp>
          <p:nvSpPr>
            <p:cNvPr id="282" name="Google Shape;282;p6"/>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6"/>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6"/>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6"/>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6"/>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6"/>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6"/>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6"/>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6"/>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6"/>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6"/>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6"/>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6"/>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6"/>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6"/>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6"/>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6"/>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6"/>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6"/>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6"/>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6"/>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6"/>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6"/>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6"/>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6"/>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6"/>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6"/>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6"/>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6"/>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6"/>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6"/>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6"/>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6"/>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6"/>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6"/>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6"/>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6"/>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6"/>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6"/>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6"/>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6"/>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6"/>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4" name="Shape 324"/>
        <p:cNvGrpSpPr/>
        <p:nvPr/>
      </p:nvGrpSpPr>
      <p:grpSpPr>
        <a:xfrm>
          <a:off x="0" y="0"/>
          <a:ext cx="0" cy="0"/>
          <a:chOff x="0" y="0"/>
          <a:chExt cx="0" cy="0"/>
        </a:xfrm>
      </p:grpSpPr>
      <p:sp>
        <p:nvSpPr>
          <p:cNvPr id="325" name="Google Shape;325;p7"/>
          <p:cNvSpPr/>
          <p:nvPr/>
        </p:nvSpPr>
        <p:spPr>
          <a:xfrm rot="10800000">
            <a:off x="8603150" y="0"/>
            <a:ext cx="1105800" cy="1758000"/>
          </a:xfrm>
          <a:prstGeom prst="round2SameRect">
            <a:avLst>
              <a:gd fmla="val 50000"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326" name="Google Shape;326;p7"/>
          <p:cNvGrpSpPr/>
          <p:nvPr/>
        </p:nvGrpSpPr>
        <p:grpSpPr>
          <a:xfrm>
            <a:off x="3884522" y="4608389"/>
            <a:ext cx="1105788" cy="1058857"/>
            <a:chOff x="4252810" y="2035226"/>
            <a:chExt cx="624951" cy="598394"/>
          </a:xfrm>
        </p:grpSpPr>
        <p:sp>
          <p:nvSpPr>
            <p:cNvPr id="327" name="Google Shape;327;p7"/>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7"/>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7"/>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7"/>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7"/>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7"/>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7"/>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7"/>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7"/>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7"/>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7"/>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7"/>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7"/>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7"/>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7"/>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7"/>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7"/>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7"/>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7"/>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7"/>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7"/>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7"/>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7"/>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7"/>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7"/>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7"/>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7"/>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7"/>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7"/>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7"/>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7"/>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7"/>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7"/>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7"/>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7"/>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7"/>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7"/>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7"/>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7"/>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7"/>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7"/>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7"/>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9" name="Google Shape;369;p7"/>
          <p:cNvSpPr txBox="1"/>
          <p:nvPr>
            <p:ph type="title"/>
          </p:nvPr>
        </p:nvSpPr>
        <p:spPr>
          <a:xfrm>
            <a:off x="720000" y="445025"/>
            <a:ext cx="38496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370" name="Google Shape;370;p7"/>
          <p:cNvSpPr txBox="1"/>
          <p:nvPr>
            <p:ph idx="1" type="body"/>
          </p:nvPr>
        </p:nvSpPr>
        <p:spPr>
          <a:xfrm>
            <a:off x="720000" y="1611800"/>
            <a:ext cx="3852000" cy="27063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b="1" sz="1400">
                <a:solidFill>
                  <a:srgbClr val="434343"/>
                </a:solidFill>
              </a:defRPr>
            </a:lvl1pPr>
            <a:lvl2pPr indent="-304800" lvl="1" marL="914400" rtl="0">
              <a:lnSpc>
                <a:spcPct val="115000"/>
              </a:lnSpc>
              <a:spcBef>
                <a:spcPts val="0"/>
              </a:spcBef>
              <a:spcAft>
                <a:spcPts val="0"/>
              </a:spcAft>
              <a:buSzPts val="1200"/>
              <a:buChar char="○"/>
              <a:defRPr>
                <a:solidFill>
                  <a:srgbClr val="434343"/>
                </a:solidFill>
              </a:defRPr>
            </a:lvl2pPr>
            <a:lvl3pPr indent="-304800" lvl="2" marL="1371600" rtl="0">
              <a:lnSpc>
                <a:spcPct val="115000"/>
              </a:lnSpc>
              <a:spcBef>
                <a:spcPts val="0"/>
              </a:spcBef>
              <a:spcAft>
                <a:spcPts val="0"/>
              </a:spcAft>
              <a:buSzPts val="1200"/>
              <a:buChar char="■"/>
              <a:defRPr>
                <a:solidFill>
                  <a:srgbClr val="434343"/>
                </a:solidFill>
              </a:defRPr>
            </a:lvl3pPr>
            <a:lvl4pPr indent="-304800" lvl="3" marL="1828800" rtl="0">
              <a:lnSpc>
                <a:spcPct val="115000"/>
              </a:lnSpc>
              <a:spcBef>
                <a:spcPts val="0"/>
              </a:spcBef>
              <a:spcAft>
                <a:spcPts val="0"/>
              </a:spcAft>
              <a:buSzPts val="1200"/>
              <a:buChar char="●"/>
              <a:defRPr>
                <a:solidFill>
                  <a:srgbClr val="434343"/>
                </a:solidFill>
              </a:defRPr>
            </a:lvl4pPr>
            <a:lvl5pPr indent="-304800" lvl="4" marL="2286000" rtl="0">
              <a:lnSpc>
                <a:spcPct val="115000"/>
              </a:lnSpc>
              <a:spcBef>
                <a:spcPts val="0"/>
              </a:spcBef>
              <a:spcAft>
                <a:spcPts val="0"/>
              </a:spcAft>
              <a:buSzPts val="1200"/>
              <a:buChar char="○"/>
              <a:defRPr>
                <a:solidFill>
                  <a:srgbClr val="434343"/>
                </a:solidFill>
              </a:defRPr>
            </a:lvl5pPr>
            <a:lvl6pPr indent="-304800" lvl="5" marL="2743200" rtl="0">
              <a:lnSpc>
                <a:spcPct val="115000"/>
              </a:lnSpc>
              <a:spcBef>
                <a:spcPts val="0"/>
              </a:spcBef>
              <a:spcAft>
                <a:spcPts val="0"/>
              </a:spcAft>
              <a:buSzPts val="1200"/>
              <a:buChar char="■"/>
              <a:defRPr>
                <a:solidFill>
                  <a:srgbClr val="434343"/>
                </a:solidFill>
              </a:defRPr>
            </a:lvl6pPr>
            <a:lvl7pPr indent="-304800" lvl="6" marL="3200400" rtl="0">
              <a:lnSpc>
                <a:spcPct val="115000"/>
              </a:lnSpc>
              <a:spcBef>
                <a:spcPts val="0"/>
              </a:spcBef>
              <a:spcAft>
                <a:spcPts val="0"/>
              </a:spcAft>
              <a:buSzPts val="1200"/>
              <a:buChar char="●"/>
              <a:defRPr>
                <a:solidFill>
                  <a:srgbClr val="434343"/>
                </a:solidFill>
              </a:defRPr>
            </a:lvl7pPr>
            <a:lvl8pPr indent="-304800" lvl="7" marL="3657600" rtl="0">
              <a:lnSpc>
                <a:spcPct val="115000"/>
              </a:lnSpc>
              <a:spcBef>
                <a:spcPts val="0"/>
              </a:spcBef>
              <a:spcAft>
                <a:spcPts val="0"/>
              </a:spcAft>
              <a:buSzPts val="1200"/>
              <a:buChar char="○"/>
              <a:defRPr>
                <a:solidFill>
                  <a:srgbClr val="434343"/>
                </a:solidFill>
              </a:defRPr>
            </a:lvl8pPr>
            <a:lvl9pPr indent="-304800" lvl="8" marL="4114800" rtl="0">
              <a:lnSpc>
                <a:spcPct val="115000"/>
              </a:lnSpc>
              <a:spcBef>
                <a:spcPts val="0"/>
              </a:spcBef>
              <a:spcAft>
                <a:spcPts val="0"/>
              </a:spcAft>
              <a:buSzPts val="1200"/>
              <a:buChar char="■"/>
              <a:defRPr>
                <a:solidFill>
                  <a:srgbClr val="434343"/>
                </a:solidFill>
              </a:defRPr>
            </a:lvl9pPr>
          </a:lstStyle>
          <a:p/>
        </p:txBody>
      </p:sp>
      <p:sp>
        <p:nvSpPr>
          <p:cNvPr id="371" name="Google Shape;371;p7"/>
          <p:cNvSpPr/>
          <p:nvPr>
            <p:ph idx="2" type="pic"/>
          </p:nvPr>
        </p:nvSpPr>
        <p:spPr>
          <a:xfrm>
            <a:off x="5063025" y="535000"/>
            <a:ext cx="3366000" cy="4073400"/>
          </a:xfrm>
          <a:prstGeom prst="round2SameRect">
            <a:avLst>
              <a:gd fmla="val 16667" name="adj1"/>
              <a:gd fmla="val 0" name="adj2"/>
            </a:avLst>
          </a:prstGeom>
          <a:no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72" name="Shape 372"/>
        <p:cNvGrpSpPr/>
        <p:nvPr/>
      </p:nvGrpSpPr>
      <p:grpSpPr>
        <a:xfrm>
          <a:off x="0" y="0"/>
          <a:ext cx="0" cy="0"/>
          <a:chOff x="0" y="0"/>
          <a:chExt cx="0" cy="0"/>
        </a:xfrm>
      </p:grpSpPr>
      <p:sp>
        <p:nvSpPr>
          <p:cNvPr id="373" name="Google Shape;373;p8"/>
          <p:cNvSpPr txBox="1"/>
          <p:nvPr>
            <p:ph type="title"/>
          </p:nvPr>
        </p:nvSpPr>
        <p:spPr>
          <a:xfrm>
            <a:off x="2724150" y="1307100"/>
            <a:ext cx="3695700" cy="2529300"/>
          </a:xfrm>
          <a:prstGeom prst="rect">
            <a:avLst/>
          </a:prstGeom>
        </p:spPr>
        <p:txBody>
          <a:bodyPr anchorCtr="0" anchor="ctr" bIns="91425" lIns="91425" spcFirstLastPara="1" rIns="91425" wrap="square" tIns="91425">
            <a:noAutofit/>
          </a:bodyPr>
          <a:lstStyle>
            <a:lvl1pPr lvl="0" algn="ctr">
              <a:spcBef>
                <a:spcPts val="0"/>
              </a:spcBef>
              <a:spcAft>
                <a:spcPts val="0"/>
              </a:spcAft>
              <a:buSzPts val="6000"/>
              <a:buNone/>
              <a:defRPr sz="60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74" name="Shape 374"/>
        <p:cNvGrpSpPr/>
        <p:nvPr/>
      </p:nvGrpSpPr>
      <p:grpSpPr>
        <a:xfrm>
          <a:off x="0" y="0"/>
          <a:ext cx="0" cy="0"/>
          <a:chOff x="0" y="0"/>
          <a:chExt cx="0" cy="0"/>
        </a:xfrm>
      </p:grpSpPr>
      <p:sp>
        <p:nvSpPr>
          <p:cNvPr id="375" name="Google Shape;375;p9"/>
          <p:cNvSpPr txBox="1"/>
          <p:nvPr>
            <p:ph type="title"/>
          </p:nvPr>
        </p:nvSpPr>
        <p:spPr>
          <a:xfrm>
            <a:off x="2201850" y="1584874"/>
            <a:ext cx="4740300" cy="8418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3600"/>
              <a:buNone/>
              <a:defRPr sz="45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376" name="Google Shape;376;p9"/>
          <p:cNvSpPr txBox="1"/>
          <p:nvPr>
            <p:ph idx="1" type="subTitle"/>
          </p:nvPr>
        </p:nvSpPr>
        <p:spPr>
          <a:xfrm>
            <a:off x="2201925" y="2427926"/>
            <a:ext cx="4740300" cy="1130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sz="1600"/>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77" name="Shape 377"/>
        <p:cNvGrpSpPr/>
        <p:nvPr/>
      </p:nvGrpSpPr>
      <p:grpSpPr>
        <a:xfrm>
          <a:off x="0" y="0"/>
          <a:ext cx="0" cy="0"/>
          <a:chOff x="0" y="0"/>
          <a:chExt cx="0" cy="0"/>
        </a:xfrm>
      </p:grpSpPr>
      <p:sp>
        <p:nvSpPr>
          <p:cNvPr id="378" name="Google Shape;378;p10"/>
          <p:cNvSpPr/>
          <p:nvPr>
            <p:ph idx="2" type="pic"/>
          </p:nvPr>
        </p:nvSpPr>
        <p:spPr>
          <a:xfrm>
            <a:off x="-6875" y="0"/>
            <a:ext cx="9144000" cy="5157300"/>
          </a:xfrm>
          <a:prstGeom prst="rect">
            <a:avLst/>
          </a:prstGeom>
          <a:noFill/>
          <a:ln>
            <a:noFill/>
          </a:ln>
        </p:spPr>
      </p:sp>
      <p:sp>
        <p:nvSpPr>
          <p:cNvPr id="379" name="Google Shape;379;p10"/>
          <p:cNvSpPr txBox="1"/>
          <p:nvPr>
            <p:ph type="title"/>
          </p:nvPr>
        </p:nvSpPr>
        <p:spPr>
          <a:xfrm>
            <a:off x="720000" y="4038000"/>
            <a:ext cx="7704000" cy="572700"/>
          </a:xfrm>
          <a:prstGeom prst="rect">
            <a:avLst/>
          </a:prstGeom>
          <a:solidFill>
            <a:schemeClr val="accent2"/>
          </a:solidFill>
        </p:spPr>
        <p:txBody>
          <a:bodyPr anchorCtr="0" anchor="ctr" bIns="91425" lIns="91425" spcFirstLastPara="1" rIns="91425" wrap="square" tIns="91425">
            <a:noAutofit/>
          </a:bodyPr>
          <a:lstStyle>
            <a:lvl1pPr lvl="0" rtl="0" algn="ctr">
              <a:spcBef>
                <a:spcPts val="0"/>
              </a:spcBef>
              <a:spcAft>
                <a:spcPts val="0"/>
              </a:spcAft>
              <a:buSzPts val="3000"/>
              <a:buNone/>
              <a:defRPr>
                <a:solidFill>
                  <a:schemeClr val="lt1"/>
                </a:solidFill>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380" name="Shape 380"/>
        <p:cNvGrpSpPr/>
        <p:nvPr/>
      </p:nvGrpSpPr>
      <p:grpSpPr>
        <a:xfrm>
          <a:off x="0" y="0"/>
          <a:ext cx="0" cy="0"/>
          <a:chOff x="0" y="0"/>
          <a:chExt cx="0" cy="0"/>
        </a:xfrm>
      </p:grpSpPr>
      <p:sp>
        <p:nvSpPr>
          <p:cNvPr id="381" name="Google Shape;381;p11"/>
          <p:cNvSpPr txBox="1"/>
          <p:nvPr>
            <p:ph hasCustomPrompt="1" type="title"/>
          </p:nvPr>
        </p:nvSpPr>
        <p:spPr>
          <a:xfrm>
            <a:off x="1284000" y="1734375"/>
            <a:ext cx="6576000" cy="962700"/>
          </a:xfrm>
          <a:prstGeom prst="rect">
            <a:avLst/>
          </a:prstGeom>
        </p:spPr>
        <p:txBody>
          <a:bodyPr anchorCtr="0" anchor="b" bIns="91425" lIns="91425" spcFirstLastPara="1" rIns="91425" wrap="square" tIns="91425">
            <a:noAutofit/>
          </a:bodyPr>
          <a:lstStyle>
            <a:lvl1pPr lvl="0" algn="ctr">
              <a:spcBef>
                <a:spcPts val="0"/>
              </a:spcBef>
              <a:spcAft>
                <a:spcPts val="0"/>
              </a:spcAft>
              <a:buSzPts val="9600"/>
              <a:buNone/>
              <a:defRPr sz="6000">
                <a:solidFill>
                  <a:schemeClr val="dk2"/>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382" name="Google Shape;382;p11"/>
          <p:cNvSpPr txBox="1"/>
          <p:nvPr>
            <p:ph idx="1" type="subTitle"/>
          </p:nvPr>
        </p:nvSpPr>
        <p:spPr>
          <a:xfrm>
            <a:off x="1284000" y="2695725"/>
            <a:ext cx="6576000" cy="713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b="1" sz="1600"/>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grpSp>
        <p:nvGrpSpPr>
          <p:cNvPr id="383" name="Google Shape;383;p11"/>
          <p:cNvGrpSpPr/>
          <p:nvPr/>
        </p:nvGrpSpPr>
        <p:grpSpPr>
          <a:xfrm>
            <a:off x="2001722" y="4608489"/>
            <a:ext cx="1105788" cy="1058857"/>
            <a:chOff x="4252810" y="2035226"/>
            <a:chExt cx="624951" cy="598394"/>
          </a:xfrm>
        </p:grpSpPr>
        <p:sp>
          <p:nvSpPr>
            <p:cNvPr id="384" name="Google Shape;384;p11"/>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11"/>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1"/>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11"/>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11"/>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1"/>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11"/>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11"/>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11"/>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11"/>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1"/>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1"/>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11"/>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11"/>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1"/>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11"/>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1"/>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1"/>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11"/>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11"/>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11"/>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1"/>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11"/>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11"/>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11"/>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11"/>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1"/>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1"/>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11"/>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1"/>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 name="Google Shape;414;p11"/>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11"/>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11"/>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1"/>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1"/>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1"/>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1"/>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1"/>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1"/>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3" name="Google Shape;423;p11"/>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4" name="Google Shape;424;p11"/>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1"/>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rgbClr val="FFFFFF"/>
        </a:solidFill>
      </p:bgPr>
    </p:bg>
    <p:spTree>
      <p:nvGrpSpPr>
        <p:cNvPr id="426" name="Shape 426"/>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
    <p:spTree>
      <p:nvGrpSpPr>
        <p:cNvPr id="427" name="Shape 427"/>
        <p:cNvGrpSpPr/>
        <p:nvPr/>
      </p:nvGrpSpPr>
      <p:grpSpPr>
        <a:xfrm>
          <a:off x="0" y="0"/>
          <a:ext cx="0" cy="0"/>
          <a:chOff x="0" y="0"/>
          <a:chExt cx="0" cy="0"/>
        </a:xfrm>
      </p:grpSpPr>
      <p:grpSp>
        <p:nvGrpSpPr>
          <p:cNvPr id="428" name="Google Shape;428;p13"/>
          <p:cNvGrpSpPr/>
          <p:nvPr/>
        </p:nvGrpSpPr>
        <p:grpSpPr>
          <a:xfrm>
            <a:off x="7428836" y="-1089774"/>
            <a:ext cx="1617386" cy="1624770"/>
            <a:chOff x="3992334" y="189904"/>
            <a:chExt cx="1116902" cy="1122001"/>
          </a:xfrm>
        </p:grpSpPr>
        <p:sp>
          <p:nvSpPr>
            <p:cNvPr id="429" name="Google Shape;429;p13"/>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3"/>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3"/>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13"/>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3"/>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3"/>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p13"/>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13"/>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13"/>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13"/>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13"/>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0" name="Google Shape;440;p13"/>
          <p:cNvGrpSpPr/>
          <p:nvPr/>
        </p:nvGrpSpPr>
        <p:grpSpPr>
          <a:xfrm>
            <a:off x="715097" y="4608489"/>
            <a:ext cx="1105788" cy="1058857"/>
            <a:chOff x="4252810" y="2035226"/>
            <a:chExt cx="624951" cy="598394"/>
          </a:xfrm>
        </p:grpSpPr>
        <p:sp>
          <p:nvSpPr>
            <p:cNvPr id="441" name="Google Shape;441;p13"/>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13"/>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13"/>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13"/>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13"/>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3"/>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13"/>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13"/>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3"/>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3"/>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1" name="Google Shape;451;p13"/>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13"/>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3"/>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3"/>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13"/>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13"/>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13"/>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3"/>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13"/>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3"/>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13"/>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13"/>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13"/>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13"/>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13"/>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13"/>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 name="Google Shape;467;p13"/>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3"/>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13"/>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13"/>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13"/>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13"/>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13"/>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3"/>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3"/>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13"/>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13"/>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3"/>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3"/>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13"/>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13"/>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13"/>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83" name="Google Shape;483;p1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484" name="Google Shape;484;p13"/>
          <p:cNvSpPr txBox="1"/>
          <p:nvPr>
            <p:ph hasCustomPrompt="1" idx="2" type="title"/>
          </p:nvPr>
        </p:nvSpPr>
        <p:spPr>
          <a:xfrm>
            <a:off x="1333950" y="1480883"/>
            <a:ext cx="11064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43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85" name="Google Shape;485;p13"/>
          <p:cNvSpPr txBox="1"/>
          <p:nvPr>
            <p:ph hasCustomPrompt="1" idx="3" type="title"/>
          </p:nvPr>
        </p:nvSpPr>
        <p:spPr>
          <a:xfrm>
            <a:off x="1333950" y="2914291"/>
            <a:ext cx="11064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43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86" name="Google Shape;486;p13"/>
          <p:cNvSpPr txBox="1"/>
          <p:nvPr>
            <p:ph hasCustomPrompt="1" idx="4" type="title"/>
          </p:nvPr>
        </p:nvSpPr>
        <p:spPr>
          <a:xfrm>
            <a:off x="4018800" y="1480883"/>
            <a:ext cx="11064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43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87" name="Google Shape;487;p13"/>
          <p:cNvSpPr txBox="1"/>
          <p:nvPr>
            <p:ph hasCustomPrompt="1" idx="5" type="title"/>
          </p:nvPr>
        </p:nvSpPr>
        <p:spPr>
          <a:xfrm>
            <a:off x="4018800" y="2914291"/>
            <a:ext cx="11064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43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88" name="Google Shape;488;p13"/>
          <p:cNvSpPr txBox="1"/>
          <p:nvPr>
            <p:ph hasCustomPrompt="1" idx="6" type="title"/>
          </p:nvPr>
        </p:nvSpPr>
        <p:spPr>
          <a:xfrm>
            <a:off x="6708543" y="1480883"/>
            <a:ext cx="11064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43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89" name="Google Shape;489;p13"/>
          <p:cNvSpPr txBox="1"/>
          <p:nvPr>
            <p:ph hasCustomPrompt="1" idx="7" type="title"/>
          </p:nvPr>
        </p:nvSpPr>
        <p:spPr>
          <a:xfrm>
            <a:off x="6708543" y="2914291"/>
            <a:ext cx="1106400" cy="4476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3000"/>
              <a:buNone/>
              <a:defRPr sz="4300">
                <a:solidFill>
                  <a:schemeClr val="dk2"/>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90" name="Google Shape;490;p13"/>
          <p:cNvSpPr txBox="1"/>
          <p:nvPr>
            <p:ph idx="1" type="subTitle"/>
          </p:nvPr>
        </p:nvSpPr>
        <p:spPr>
          <a:xfrm>
            <a:off x="720000" y="2056575"/>
            <a:ext cx="2334300" cy="4572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Cabin"/>
                <a:ea typeface="Cabin"/>
                <a:cs typeface="Cabin"/>
                <a:sym typeface="Cabin"/>
              </a:defRPr>
            </a:lvl1pPr>
            <a:lvl2pPr lvl="1" rtl="0">
              <a:lnSpc>
                <a:spcPct val="100000"/>
              </a:lnSpc>
              <a:spcBef>
                <a:spcPts val="0"/>
              </a:spcBef>
              <a:spcAft>
                <a:spcPts val="0"/>
              </a:spcAft>
              <a:buSzPts val="2400"/>
              <a:buFont typeface="Raleway"/>
              <a:buNone/>
              <a:defRPr sz="2400">
                <a:latin typeface="Raleway"/>
                <a:ea typeface="Raleway"/>
                <a:cs typeface="Raleway"/>
                <a:sym typeface="Raleway"/>
              </a:defRPr>
            </a:lvl2pPr>
            <a:lvl3pPr lvl="2" rtl="0">
              <a:lnSpc>
                <a:spcPct val="100000"/>
              </a:lnSpc>
              <a:spcBef>
                <a:spcPts val="0"/>
              </a:spcBef>
              <a:spcAft>
                <a:spcPts val="0"/>
              </a:spcAft>
              <a:buSzPts val="2400"/>
              <a:buFont typeface="Raleway"/>
              <a:buNone/>
              <a:defRPr sz="2400">
                <a:latin typeface="Raleway"/>
                <a:ea typeface="Raleway"/>
                <a:cs typeface="Raleway"/>
                <a:sym typeface="Raleway"/>
              </a:defRPr>
            </a:lvl3pPr>
            <a:lvl4pPr lvl="3" rtl="0">
              <a:lnSpc>
                <a:spcPct val="100000"/>
              </a:lnSpc>
              <a:spcBef>
                <a:spcPts val="0"/>
              </a:spcBef>
              <a:spcAft>
                <a:spcPts val="0"/>
              </a:spcAft>
              <a:buSzPts val="2400"/>
              <a:buFont typeface="Raleway"/>
              <a:buNone/>
              <a:defRPr sz="2400">
                <a:latin typeface="Raleway"/>
                <a:ea typeface="Raleway"/>
                <a:cs typeface="Raleway"/>
                <a:sym typeface="Raleway"/>
              </a:defRPr>
            </a:lvl4pPr>
            <a:lvl5pPr lvl="4" rtl="0">
              <a:lnSpc>
                <a:spcPct val="100000"/>
              </a:lnSpc>
              <a:spcBef>
                <a:spcPts val="0"/>
              </a:spcBef>
              <a:spcAft>
                <a:spcPts val="0"/>
              </a:spcAft>
              <a:buSzPts val="2400"/>
              <a:buFont typeface="Raleway"/>
              <a:buNone/>
              <a:defRPr sz="2400">
                <a:latin typeface="Raleway"/>
                <a:ea typeface="Raleway"/>
                <a:cs typeface="Raleway"/>
                <a:sym typeface="Raleway"/>
              </a:defRPr>
            </a:lvl5pPr>
            <a:lvl6pPr lvl="5" rtl="0">
              <a:lnSpc>
                <a:spcPct val="100000"/>
              </a:lnSpc>
              <a:spcBef>
                <a:spcPts val="0"/>
              </a:spcBef>
              <a:spcAft>
                <a:spcPts val="0"/>
              </a:spcAft>
              <a:buSzPts val="2400"/>
              <a:buFont typeface="Raleway"/>
              <a:buNone/>
              <a:defRPr sz="2400">
                <a:latin typeface="Raleway"/>
                <a:ea typeface="Raleway"/>
                <a:cs typeface="Raleway"/>
                <a:sym typeface="Raleway"/>
              </a:defRPr>
            </a:lvl6pPr>
            <a:lvl7pPr lvl="6" rtl="0">
              <a:lnSpc>
                <a:spcPct val="100000"/>
              </a:lnSpc>
              <a:spcBef>
                <a:spcPts val="0"/>
              </a:spcBef>
              <a:spcAft>
                <a:spcPts val="0"/>
              </a:spcAft>
              <a:buSzPts val="2400"/>
              <a:buFont typeface="Raleway"/>
              <a:buNone/>
              <a:defRPr sz="2400">
                <a:latin typeface="Raleway"/>
                <a:ea typeface="Raleway"/>
                <a:cs typeface="Raleway"/>
                <a:sym typeface="Raleway"/>
              </a:defRPr>
            </a:lvl7pPr>
            <a:lvl8pPr lvl="7" rtl="0">
              <a:lnSpc>
                <a:spcPct val="100000"/>
              </a:lnSpc>
              <a:spcBef>
                <a:spcPts val="0"/>
              </a:spcBef>
              <a:spcAft>
                <a:spcPts val="0"/>
              </a:spcAft>
              <a:buSzPts val="2400"/>
              <a:buFont typeface="Raleway"/>
              <a:buNone/>
              <a:defRPr sz="2400">
                <a:latin typeface="Raleway"/>
                <a:ea typeface="Raleway"/>
                <a:cs typeface="Raleway"/>
                <a:sym typeface="Raleway"/>
              </a:defRPr>
            </a:lvl8pPr>
            <a:lvl9pPr lvl="8" rtl="0">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491" name="Google Shape;491;p13"/>
          <p:cNvSpPr txBox="1"/>
          <p:nvPr>
            <p:ph idx="8" type="subTitle"/>
          </p:nvPr>
        </p:nvSpPr>
        <p:spPr>
          <a:xfrm>
            <a:off x="3404850" y="2056575"/>
            <a:ext cx="2334300" cy="4572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Cabin"/>
                <a:ea typeface="Cabin"/>
                <a:cs typeface="Cabin"/>
                <a:sym typeface="Cabin"/>
              </a:defRPr>
            </a:lvl1pPr>
            <a:lvl2pPr lvl="1" rtl="0">
              <a:lnSpc>
                <a:spcPct val="100000"/>
              </a:lnSpc>
              <a:spcBef>
                <a:spcPts val="0"/>
              </a:spcBef>
              <a:spcAft>
                <a:spcPts val="0"/>
              </a:spcAft>
              <a:buSzPts val="2400"/>
              <a:buFont typeface="Raleway"/>
              <a:buNone/>
              <a:defRPr sz="2400">
                <a:latin typeface="Raleway"/>
                <a:ea typeface="Raleway"/>
                <a:cs typeface="Raleway"/>
                <a:sym typeface="Raleway"/>
              </a:defRPr>
            </a:lvl2pPr>
            <a:lvl3pPr lvl="2" rtl="0">
              <a:lnSpc>
                <a:spcPct val="100000"/>
              </a:lnSpc>
              <a:spcBef>
                <a:spcPts val="0"/>
              </a:spcBef>
              <a:spcAft>
                <a:spcPts val="0"/>
              </a:spcAft>
              <a:buSzPts val="2400"/>
              <a:buFont typeface="Raleway"/>
              <a:buNone/>
              <a:defRPr sz="2400">
                <a:latin typeface="Raleway"/>
                <a:ea typeface="Raleway"/>
                <a:cs typeface="Raleway"/>
                <a:sym typeface="Raleway"/>
              </a:defRPr>
            </a:lvl3pPr>
            <a:lvl4pPr lvl="3" rtl="0">
              <a:lnSpc>
                <a:spcPct val="100000"/>
              </a:lnSpc>
              <a:spcBef>
                <a:spcPts val="0"/>
              </a:spcBef>
              <a:spcAft>
                <a:spcPts val="0"/>
              </a:spcAft>
              <a:buSzPts val="2400"/>
              <a:buFont typeface="Raleway"/>
              <a:buNone/>
              <a:defRPr sz="2400">
                <a:latin typeface="Raleway"/>
                <a:ea typeface="Raleway"/>
                <a:cs typeface="Raleway"/>
                <a:sym typeface="Raleway"/>
              </a:defRPr>
            </a:lvl4pPr>
            <a:lvl5pPr lvl="4" rtl="0">
              <a:lnSpc>
                <a:spcPct val="100000"/>
              </a:lnSpc>
              <a:spcBef>
                <a:spcPts val="0"/>
              </a:spcBef>
              <a:spcAft>
                <a:spcPts val="0"/>
              </a:spcAft>
              <a:buSzPts val="2400"/>
              <a:buFont typeface="Raleway"/>
              <a:buNone/>
              <a:defRPr sz="2400">
                <a:latin typeface="Raleway"/>
                <a:ea typeface="Raleway"/>
                <a:cs typeface="Raleway"/>
                <a:sym typeface="Raleway"/>
              </a:defRPr>
            </a:lvl5pPr>
            <a:lvl6pPr lvl="5" rtl="0">
              <a:lnSpc>
                <a:spcPct val="100000"/>
              </a:lnSpc>
              <a:spcBef>
                <a:spcPts val="0"/>
              </a:spcBef>
              <a:spcAft>
                <a:spcPts val="0"/>
              </a:spcAft>
              <a:buSzPts val="2400"/>
              <a:buFont typeface="Raleway"/>
              <a:buNone/>
              <a:defRPr sz="2400">
                <a:latin typeface="Raleway"/>
                <a:ea typeface="Raleway"/>
                <a:cs typeface="Raleway"/>
                <a:sym typeface="Raleway"/>
              </a:defRPr>
            </a:lvl6pPr>
            <a:lvl7pPr lvl="6" rtl="0">
              <a:lnSpc>
                <a:spcPct val="100000"/>
              </a:lnSpc>
              <a:spcBef>
                <a:spcPts val="0"/>
              </a:spcBef>
              <a:spcAft>
                <a:spcPts val="0"/>
              </a:spcAft>
              <a:buSzPts val="2400"/>
              <a:buFont typeface="Raleway"/>
              <a:buNone/>
              <a:defRPr sz="2400">
                <a:latin typeface="Raleway"/>
                <a:ea typeface="Raleway"/>
                <a:cs typeface="Raleway"/>
                <a:sym typeface="Raleway"/>
              </a:defRPr>
            </a:lvl7pPr>
            <a:lvl8pPr lvl="7" rtl="0">
              <a:lnSpc>
                <a:spcPct val="100000"/>
              </a:lnSpc>
              <a:spcBef>
                <a:spcPts val="0"/>
              </a:spcBef>
              <a:spcAft>
                <a:spcPts val="0"/>
              </a:spcAft>
              <a:buSzPts val="2400"/>
              <a:buFont typeface="Raleway"/>
              <a:buNone/>
              <a:defRPr sz="2400">
                <a:latin typeface="Raleway"/>
                <a:ea typeface="Raleway"/>
                <a:cs typeface="Raleway"/>
                <a:sym typeface="Raleway"/>
              </a:defRPr>
            </a:lvl8pPr>
            <a:lvl9pPr lvl="8" rtl="0">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492" name="Google Shape;492;p13"/>
          <p:cNvSpPr txBox="1"/>
          <p:nvPr>
            <p:ph idx="9" type="subTitle"/>
          </p:nvPr>
        </p:nvSpPr>
        <p:spPr>
          <a:xfrm>
            <a:off x="6094593" y="2056575"/>
            <a:ext cx="2334300" cy="4572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Cabin"/>
                <a:ea typeface="Cabin"/>
                <a:cs typeface="Cabin"/>
                <a:sym typeface="Cabin"/>
              </a:defRPr>
            </a:lvl1pPr>
            <a:lvl2pPr lvl="1" rtl="0">
              <a:lnSpc>
                <a:spcPct val="100000"/>
              </a:lnSpc>
              <a:spcBef>
                <a:spcPts val="0"/>
              </a:spcBef>
              <a:spcAft>
                <a:spcPts val="0"/>
              </a:spcAft>
              <a:buSzPts val="2400"/>
              <a:buFont typeface="Raleway"/>
              <a:buNone/>
              <a:defRPr sz="2400">
                <a:latin typeface="Raleway"/>
                <a:ea typeface="Raleway"/>
                <a:cs typeface="Raleway"/>
                <a:sym typeface="Raleway"/>
              </a:defRPr>
            </a:lvl2pPr>
            <a:lvl3pPr lvl="2" rtl="0">
              <a:lnSpc>
                <a:spcPct val="100000"/>
              </a:lnSpc>
              <a:spcBef>
                <a:spcPts val="0"/>
              </a:spcBef>
              <a:spcAft>
                <a:spcPts val="0"/>
              </a:spcAft>
              <a:buSzPts val="2400"/>
              <a:buFont typeface="Raleway"/>
              <a:buNone/>
              <a:defRPr sz="2400">
                <a:latin typeface="Raleway"/>
                <a:ea typeface="Raleway"/>
                <a:cs typeface="Raleway"/>
                <a:sym typeface="Raleway"/>
              </a:defRPr>
            </a:lvl3pPr>
            <a:lvl4pPr lvl="3" rtl="0">
              <a:lnSpc>
                <a:spcPct val="100000"/>
              </a:lnSpc>
              <a:spcBef>
                <a:spcPts val="0"/>
              </a:spcBef>
              <a:spcAft>
                <a:spcPts val="0"/>
              </a:spcAft>
              <a:buSzPts val="2400"/>
              <a:buFont typeface="Raleway"/>
              <a:buNone/>
              <a:defRPr sz="2400">
                <a:latin typeface="Raleway"/>
                <a:ea typeface="Raleway"/>
                <a:cs typeface="Raleway"/>
                <a:sym typeface="Raleway"/>
              </a:defRPr>
            </a:lvl4pPr>
            <a:lvl5pPr lvl="4" rtl="0">
              <a:lnSpc>
                <a:spcPct val="100000"/>
              </a:lnSpc>
              <a:spcBef>
                <a:spcPts val="0"/>
              </a:spcBef>
              <a:spcAft>
                <a:spcPts val="0"/>
              </a:spcAft>
              <a:buSzPts val="2400"/>
              <a:buFont typeface="Raleway"/>
              <a:buNone/>
              <a:defRPr sz="2400">
                <a:latin typeface="Raleway"/>
                <a:ea typeface="Raleway"/>
                <a:cs typeface="Raleway"/>
                <a:sym typeface="Raleway"/>
              </a:defRPr>
            </a:lvl5pPr>
            <a:lvl6pPr lvl="5" rtl="0">
              <a:lnSpc>
                <a:spcPct val="100000"/>
              </a:lnSpc>
              <a:spcBef>
                <a:spcPts val="0"/>
              </a:spcBef>
              <a:spcAft>
                <a:spcPts val="0"/>
              </a:spcAft>
              <a:buSzPts val="2400"/>
              <a:buFont typeface="Raleway"/>
              <a:buNone/>
              <a:defRPr sz="2400">
                <a:latin typeface="Raleway"/>
                <a:ea typeface="Raleway"/>
                <a:cs typeface="Raleway"/>
                <a:sym typeface="Raleway"/>
              </a:defRPr>
            </a:lvl6pPr>
            <a:lvl7pPr lvl="6" rtl="0">
              <a:lnSpc>
                <a:spcPct val="100000"/>
              </a:lnSpc>
              <a:spcBef>
                <a:spcPts val="0"/>
              </a:spcBef>
              <a:spcAft>
                <a:spcPts val="0"/>
              </a:spcAft>
              <a:buSzPts val="2400"/>
              <a:buFont typeface="Raleway"/>
              <a:buNone/>
              <a:defRPr sz="2400">
                <a:latin typeface="Raleway"/>
                <a:ea typeface="Raleway"/>
                <a:cs typeface="Raleway"/>
                <a:sym typeface="Raleway"/>
              </a:defRPr>
            </a:lvl7pPr>
            <a:lvl8pPr lvl="7" rtl="0">
              <a:lnSpc>
                <a:spcPct val="100000"/>
              </a:lnSpc>
              <a:spcBef>
                <a:spcPts val="0"/>
              </a:spcBef>
              <a:spcAft>
                <a:spcPts val="0"/>
              </a:spcAft>
              <a:buSzPts val="2400"/>
              <a:buFont typeface="Raleway"/>
              <a:buNone/>
              <a:defRPr sz="2400">
                <a:latin typeface="Raleway"/>
                <a:ea typeface="Raleway"/>
                <a:cs typeface="Raleway"/>
                <a:sym typeface="Raleway"/>
              </a:defRPr>
            </a:lvl8pPr>
            <a:lvl9pPr lvl="8" rtl="0">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493" name="Google Shape;493;p13"/>
          <p:cNvSpPr txBox="1"/>
          <p:nvPr>
            <p:ph idx="13" type="subTitle"/>
          </p:nvPr>
        </p:nvSpPr>
        <p:spPr>
          <a:xfrm>
            <a:off x="720000" y="3490050"/>
            <a:ext cx="2334300" cy="4572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Cabin"/>
                <a:ea typeface="Cabin"/>
                <a:cs typeface="Cabin"/>
                <a:sym typeface="Cabin"/>
              </a:defRPr>
            </a:lvl1pPr>
            <a:lvl2pPr lvl="1" rtl="0">
              <a:lnSpc>
                <a:spcPct val="100000"/>
              </a:lnSpc>
              <a:spcBef>
                <a:spcPts val="0"/>
              </a:spcBef>
              <a:spcAft>
                <a:spcPts val="0"/>
              </a:spcAft>
              <a:buSzPts val="2400"/>
              <a:buFont typeface="Raleway"/>
              <a:buNone/>
              <a:defRPr sz="2400">
                <a:latin typeface="Raleway"/>
                <a:ea typeface="Raleway"/>
                <a:cs typeface="Raleway"/>
                <a:sym typeface="Raleway"/>
              </a:defRPr>
            </a:lvl2pPr>
            <a:lvl3pPr lvl="2" rtl="0">
              <a:lnSpc>
                <a:spcPct val="100000"/>
              </a:lnSpc>
              <a:spcBef>
                <a:spcPts val="0"/>
              </a:spcBef>
              <a:spcAft>
                <a:spcPts val="0"/>
              </a:spcAft>
              <a:buSzPts val="2400"/>
              <a:buFont typeface="Raleway"/>
              <a:buNone/>
              <a:defRPr sz="2400">
                <a:latin typeface="Raleway"/>
                <a:ea typeface="Raleway"/>
                <a:cs typeface="Raleway"/>
                <a:sym typeface="Raleway"/>
              </a:defRPr>
            </a:lvl3pPr>
            <a:lvl4pPr lvl="3" rtl="0">
              <a:lnSpc>
                <a:spcPct val="100000"/>
              </a:lnSpc>
              <a:spcBef>
                <a:spcPts val="0"/>
              </a:spcBef>
              <a:spcAft>
                <a:spcPts val="0"/>
              </a:spcAft>
              <a:buSzPts val="2400"/>
              <a:buFont typeface="Raleway"/>
              <a:buNone/>
              <a:defRPr sz="2400">
                <a:latin typeface="Raleway"/>
                <a:ea typeface="Raleway"/>
                <a:cs typeface="Raleway"/>
                <a:sym typeface="Raleway"/>
              </a:defRPr>
            </a:lvl4pPr>
            <a:lvl5pPr lvl="4" rtl="0">
              <a:lnSpc>
                <a:spcPct val="100000"/>
              </a:lnSpc>
              <a:spcBef>
                <a:spcPts val="0"/>
              </a:spcBef>
              <a:spcAft>
                <a:spcPts val="0"/>
              </a:spcAft>
              <a:buSzPts val="2400"/>
              <a:buFont typeface="Raleway"/>
              <a:buNone/>
              <a:defRPr sz="2400">
                <a:latin typeface="Raleway"/>
                <a:ea typeface="Raleway"/>
                <a:cs typeface="Raleway"/>
                <a:sym typeface="Raleway"/>
              </a:defRPr>
            </a:lvl5pPr>
            <a:lvl6pPr lvl="5" rtl="0">
              <a:lnSpc>
                <a:spcPct val="100000"/>
              </a:lnSpc>
              <a:spcBef>
                <a:spcPts val="0"/>
              </a:spcBef>
              <a:spcAft>
                <a:spcPts val="0"/>
              </a:spcAft>
              <a:buSzPts val="2400"/>
              <a:buFont typeface="Raleway"/>
              <a:buNone/>
              <a:defRPr sz="2400">
                <a:latin typeface="Raleway"/>
                <a:ea typeface="Raleway"/>
                <a:cs typeface="Raleway"/>
                <a:sym typeface="Raleway"/>
              </a:defRPr>
            </a:lvl6pPr>
            <a:lvl7pPr lvl="6" rtl="0">
              <a:lnSpc>
                <a:spcPct val="100000"/>
              </a:lnSpc>
              <a:spcBef>
                <a:spcPts val="0"/>
              </a:spcBef>
              <a:spcAft>
                <a:spcPts val="0"/>
              </a:spcAft>
              <a:buSzPts val="2400"/>
              <a:buFont typeface="Raleway"/>
              <a:buNone/>
              <a:defRPr sz="2400">
                <a:latin typeface="Raleway"/>
                <a:ea typeface="Raleway"/>
                <a:cs typeface="Raleway"/>
                <a:sym typeface="Raleway"/>
              </a:defRPr>
            </a:lvl7pPr>
            <a:lvl8pPr lvl="7" rtl="0">
              <a:lnSpc>
                <a:spcPct val="100000"/>
              </a:lnSpc>
              <a:spcBef>
                <a:spcPts val="0"/>
              </a:spcBef>
              <a:spcAft>
                <a:spcPts val="0"/>
              </a:spcAft>
              <a:buSzPts val="2400"/>
              <a:buFont typeface="Raleway"/>
              <a:buNone/>
              <a:defRPr sz="2400">
                <a:latin typeface="Raleway"/>
                <a:ea typeface="Raleway"/>
                <a:cs typeface="Raleway"/>
                <a:sym typeface="Raleway"/>
              </a:defRPr>
            </a:lvl8pPr>
            <a:lvl9pPr lvl="8" rtl="0">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494" name="Google Shape;494;p13"/>
          <p:cNvSpPr txBox="1"/>
          <p:nvPr>
            <p:ph idx="14" type="subTitle"/>
          </p:nvPr>
        </p:nvSpPr>
        <p:spPr>
          <a:xfrm>
            <a:off x="3404850" y="3490050"/>
            <a:ext cx="2334300" cy="4572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Cabin"/>
                <a:ea typeface="Cabin"/>
                <a:cs typeface="Cabin"/>
                <a:sym typeface="Cabin"/>
              </a:defRPr>
            </a:lvl1pPr>
            <a:lvl2pPr lvl="1" rtl="0">
              <a:lnSpc>
                <a:spcPct val="100000"/>
              </a:lnSpc>
              <a:spcBef>
                <a:spcPts val="0"/>
              </a:spcBef>
              <a:spcAft>
                <a:spcPts val="0"/>
              </a:spcAft>
              <a:buSzPts val="2400"/>
              <a:buFont typeface="Raleway"/>
              <a:buNone/>
              <a:defRPr sz="2400">
                <a:latin typeface="Raleway"/>
                <a:ea typeface="Raleway"/>
                <a:cs typeface="Raleway"/>
                <a:sym typeface="Raleway"/>
              </a:defRPr>
            </a:lvl2pPr>
            <a:lvl3pPr lvl="2" rtl="0">
              <a:lnSpc>
                <a:spcPct val="100000"/>
              </a:lnSpc>
              <a:spcBef>
                <a:spcPts val="0"/>
              </a:spcBef>
              <a:spcAft>
                <a:spcPts val="0"/>
              </a:spcAft>
              <a:buSzPts val="2400"/>
              <a:buFont typeface="Raleway"/>
              <a:buNone/>
              <a:defRPr sz="2400">
                <a:latin typeface="Raleway"/>
                <a:ea typeface="Raleway"/>
                <a:cs typeface="Raleway"/>
                <a:sym typeface="Raleway"/>
              </a:defRPr>
            </a:lvl3pPr>
            <a:lvl4pPr lvl="3" rtl="0">
              <a:lnSpc>
                <a:spcPct val="100000"/>
              </a:lnSpc>
              <a:spcBef>
                <a:spcPts val="0"/>
              </a:spcBef>
              <a:spcAft>
                <a:spcPts val="0"/>
              </a:spcAft>
              <a:buSzPts val="2400"/>
              <a:buFont typeface="Raleway"/>
              <a:buNone/>
              <a:defRPr sz="2400">
                <a:latin typeface="Raleway"/>
                <a:ea typeface="Raleway"/>
                <a:cs typeface="Raleway"/>
                <a:sym typeface="Raleway"/>
              </a:defRPr>
            </a:lvl4pPr>
            <a:lvl5pPr lvl="4" rtl="0">
              <a:lnSpc>
                <a:spcPct val="100000"/>
              </a:lnSpc>
              <a:spcBef>
                <a:spcPts val="0"/>
              </a:spcBef>
              <a:spcAft>
                <a:spcPts val="0"/>
              </a:spcAft>
              <a:buSzPts val="2400"/>
              <a:buFont typeface="Raleway"/>
              <a:buNone/>
              <a:defRPr sz="2400">
                <a:latin typeface="Raleway"/>
                <a:ea typeface="Raleway"/>
                <a:cs typeface="Raleway"/>
                <a:sym typeface="Raleway"/>
              </a:defRPr>
            </a:lvl5pPr>
            <a:lvl6pPr lvl="5" rtl="0">
              <a:lnSpc>
                <a:spcPct val="100000"/>
              </a:lnSpc>
              <a:spcBef>
                <a:spcPts val="0"/>
              </a:spcBef>
              <a:spcAft>
                <a:spcPts val="0"/>
              </a:spcAft>
              <a:buSzPts val="2400"/>
              <a:buFont typeface="Raleway"/>
              <a:buNone/>
              <a:defRPr sz="2400">
                <a:latin typeface="Raleway"/>
                <a:ea typeface="Raleway"/>
                <a:cs typeface="Raleway"/>
                <a:sym typeface="Raleway"/>
              </a:defRPr>
            </a:lvl6pPr>
            <a:lvl7pPr lvl="6" rtl="0">
              <a:lnSpc>
                <a:spcPct val="100000"/>
              </a:lnSpc>
              <a:spcBef>
                <a:spcPts val="0"/>
              </a:spcBef>
              <a:spcAft>
                <a:spcPts val="0"/>
              </a:spcAft>
              <a:buSzPts val="2400"/>
              <a:buFont typeface="Raleway"/>
              <a:buNone/>
              <a:defRPr sz="2400">
                <a:latin typeface="Raleway"/>
                <a:ea typeface="Raleway"/>
                <a:cs typeface="Raleway"/>
                <a:sym typeface="Raleway"/>
              </a:defRPr>
            </a:lvl7pPr>
            <a:lvl8pPr lvl="7" rtl="0">
              <a:lnSpc>
                <a:spcPct val="100000"/>
              </a:lnSpc>
              <a:spcBef>
                <a:spcPts val="0"/>
              </a:spcBef>
              <a:spcAft>
                <a:spcPts val="0"/>
              </a:spcAft>
              <a:buSzPts val="2400"/>
              <a:buFont typeface="Raleway"/>
              <a:buNone/>
              <a:defRPr sz="2400">
                <a:latin typeface="Raleway"/>
                <a:ea typeface="Raleway"/>
                <a:cs typeface="Raleway"/>
                <a:sym typeface="Raleway"/>
              </a:defRPr>
            </a:lvl8pPr>
            <a:lvl9pPr lvl="8" rtl="0">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495" name="Google Shape;495;p13"/>
          <p:cNvSpPr txBox="1"/>
          <p:nvPr>
            <p:ph idx="15" type="subTitle"/>
          </p:nvPr>
        </p:nvSpPr>
        <p:spPr>
          <a:xfrm>
            <a:off x="6094593" y="3490050"/>
            <a:ext cx="2334300" cy="4572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Cabin"/>
                <a:ea typeface="Cabin"/>
                <a:cs typeface="Cabin"/>
                <a:sym typeface="Cabin"/>
              </a:defRPr>
            </a:lvl1pPr>
            <a:lvl2pPr lvl="1" rtl="0">
              <a:lnSpc>
                <a:spcPct val="100000"/>
              </a:lnSpc>
              <a:spcBef>
                <a:spcPts val="0"/>
              </a:spcBef>
              <a:spcAft>
                <a:spcPts val="0"/>
              </a:spcAft>
              <a:buSzPts val="2400"/>
              <a:buFont typeface="Raleway"/>
              <a:buNone/>
              <a:defRPr sz="2400">
                <a:latin typeface="Raleway"/>
                <a:ea typeface="Raleway"/>
                <a:cs typeface="Raleway"/>
                <a:sym typeface="Raleway"/>
              </a:defRPr>
            </a:lvl2pPr>
            <a:lvl3pPr lvl="2" rtl="0">
              <a:lnSpc>
                <a:spcPct val="100000"/>
              </a:lnSpc>
              <a:spcBef>
                <a:spcPts val="0"/>
              </a:spcBef>
              <a:spcAft>
                <a:spcPts val="0"/>
              </a:spcAft>
              <a:buSzPts val="2400"/>
              <a:buFont typeface="Raleway"/>
              <a:buNone/>
              <a:defRPr sz="2400">
                <a:latin typeface="Raleway"/>
                <a:ea typeface="Raleway"/>
                <a:cs typeface="Raleway"/>
                <a:sym typeface="Raleway"/>
              </a:defRPr>
            </a:lvl3pPr>
            <a:lvl4pPr lvl="3" rtl="0">
              <a:lnSpc>
                <a:spcPct val="100000"/>
              </a:lnSpc>
              <a:spcBef>
                <a:spcPts val="0"/>
              </a:spcBef>
              <a:spcAft>
                <a:spcPts val="0"/>
              </a:spcAft>
              <a:buSzPts val="2400"/>
              <a:buFont typeface="Raleway"/>
              <a:buNone/>
              <a:defRPr sz="2400">
                <a:latin typeface="Raleway"/>
                <a:ea typeface="Raleway"/>
                <a:cs typeface="Raleway"/>
                <a:sym typeface="Raleway"/>
              </a:defRPr>
            </a:lvl4pPr>
            <a:lvl5pPr lvl="4" rtl="0">
              <a:lnSpc>
                <a:spcPct val="100000"/>
              </a:lnSpc>
              <a:spcBef>
                <a:spcPts val="0"/>
              </a:spcBef>
              <a:spcAft>
                <a:spcPts val="0"/>
              </a:spcAft>
              <a:buSzPts val="2400"/>
              <a:buFont typeface="Raleway"/>
              <a:buNone/>
              <a:defRPr sz="2400">
                <a:latin typeface="Raleway"/>
                <a:ea typeface="Raleway"/>
                <a:cs typeface="Raleway"/>
                <a:sym typeface="Raleway"/>
              </a:defRPr>
            </a:lvl5pPr>
            <a:lvl6pPr lvl="5" rtl="0">
              <a:lnSpc>
                <a:spcPct val="100000"/>
              </a:lnSpc>
              <a:spcBef>
                <a:spcPts val="0"/>
              </a:spcBef>
              <a:spcAft>
                <a:spcPts val="0"/>
              </a:spcAft>
              <a:buSzPts val="2400"/>
              <a:buFont typeface="Raleway"/>
              <a:buNone/>
              <a:defRPr sz="2400">
                <a:latin typeface="Raleway"/>
                <a:ea typeface="Raleway"/>
                <a:cs typeface="Raleway"/>
                <a:sym typeface="Raleway"/>
              </a:defRPr>
            </a:lvl6pPr>
            <a:lvl7pPr lvl="6" rtl="0">
              <a:lnSpc>
                <a:spcPct val="100000"/>
              </a:lnSpc>
              <a:spcBef>
                <a:spcPts val="0"/>
              </a:spcBef>
              <a:spcAft>
                <a:spcPts val="0"/>
              </a:spcAft>
              <a:buSzPts val="2400"/>
              <a:buFont typeface="Raleway"/>
              <a:buNone/>
              <a:defRPr sz="2400">
                <a:latin typeface="Raleway"/>
                <a:ea typeface="Raleway"/>
                <a:cs typeface="Raleway"/>
                <a:sym typeface="Raleway"/>
              </a:defRPr>
            </a:lvl7pPr>
            <a:lvl8pPr lvl="7" rtl="0">
              <a:lnSpc>
                <a:spcPct val="100000"/>
              </a:lnSpc>
              <a:spcBef>
                <a:spcPts val="0"/>
              </a:spcBef>
              <a:spcAft>
                <a:spcPts val="0"/>
              </a:spcAft>
              <a:buSzPts val="2400"/>
              <a:buFont typeface="Raleway"/>
              <a:buNone/>
              <a:defRPr sz="2400">
                <a:latin typeface="Raleway"/>
                <a:ea typeface="Raleway"/>
                <a:cs typeface="Raleway"/>
                <a:sym typeface="Raleway"/>
              </a:defRPr>
            </a:lvl8pPr>
            <a:lvl9pPr lvl="8" rtl="0">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BLANK_1_1_1_1_1_1">
    <p:spTree>
      <p:nvGrpSpPr>
        <p:cNvPr id="496" name="Shape 496"/>
        <p:cNvGrpSpPr/>
        <p:nvPr/>
      </p:nvGrpSpPr>
      <p:grpSpPr>
        <a:xfrm>
          <a:off x="0" y="0"/>
          <a:ext cx="0" cy="0"/>
          <a:chOff x="0" y="0"/>
          <a:chExt cx="0" cy="0"/>
        </a:xfrm>
      </p:grpSpPr>
      <p:sp>
        <p:nvSpPr>
          <p:cNvPr id="497" name="Google Shape;497;p14"/>
          <p:cNvSpPr txBox="1"/>
          <p:nvPr>
            <p:ph hasCustomPrompt="1" type="title"/>
          </p:nvPr>
        </p:nvSpPr>
        <p:spPr>
          <a:xfrm>
            <a:off x="1026838" y="2748382"/>
            <a:ext cx="3035700" cy="7689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None/>
              <a:defRPr sz="4800">
                <a:solidFill>
                  <a:schemeClr val="dk2"/>
                </a:solidFill>
              </a:defRPr>
            </a:lvl1pPr>
            <a:lvl2pPr lvl="1" rtl="0" algn="ctr">
              <a:spcBef>
                <a:spcPts val="0"/>
              </a:spcBef>
              <a:spcAft>
                <a:spcPts val="0"/>
              </a:spcAft>
              <a:buClr>
                <a:schemeClr val="lt1"/>
              </a:buClr>
              <a:buSzPts val="6000"/>
              <a:buNone/>
              <a:defRPr b="1" sz="6000">
                <a:solidFill>
                  <a:schemeClr val="lt1"/>
                </a:solidFill>
              </a:defRPr>
            </a:lvl2pPr>
            <a:lvl3pPr lvl="2" rtl="0" algn="ctr">
              <a:spcBef>
                <a:spcPts val="0"/>
              </a:spcBef>
              <a:spcAft>
                <a:spcPts val="0"/>
              </a:spcAft>
              <a:buClr>
                <a:schemeClr val="lt1"/>
              </a:buClr>
              <a:buSzPts val="6000"/>
              <a:buNone/>
              <a:defRPr b="1" sz="6000">
                <a:solidFill>
                  <a:schemeClr val="lt1"/>
                </a:solidFill>
              </a:defRPr>
            </a:lvl3pPr>
            <a:lvl4pPr lvl="3" rtl="0" algn="ctr">
              <a:spcBef>
                <a:spcPts val="0"/>
              </a:spcBef>
              <a:spcAft>
                <a:spcPts val="0"/>
              </a:spcAft>
              <a:buClr>
                <a:schemeClr val="lt1"/>
              </a:buClr>
              <a:buSzPts val="6000"/>
              <a:buNone/>
              <a:defRPr b="1" sz="6000">
                <a:solidFill>
                  <a:schemeClr val="lt1"/>
                </a:solidFill>
              </a:defRPr>
            </a:lvl4pPr>
            <a:lvl5pPr lvl="4" rtl="0" algn="ctr">
              <a:spcBef>
                <a:spcPts val="0"/>
              </a:spcBef>
              <a:spcAft>
                <a:spcPts val="0"/>
              </a:spcAft>
              <a:buClr>
                <a:schemeClr val="lt1"/>
              </a:buClr>
              <a:buSzPts val="6000"/>
              <a:buNone/>
              <a:defRPr b="1" sz="6000">
                <a:solidFill>
                  <a:schemeClr val="lt1"/>
                </a:solidFill>
              </a:defRPr>
            </a:lvl5pPr>
            <a:lvl6pPr lvl="5" rtl="0" algn="ctr">
              <a:spcBef>
                <a:spcPts val="0"/>
              </a:spcBef>
              <a:spcAft>
                <a:spcPts val="0"/>
              </a:spcAft>
              <a:buClr>
                <a:schemeClr val="lt1"/>
              </a:buClr>
              <a:buSzPts val="6000"/>
              <a:buNone/>
              <a:defRPr b="1" sz="6000">
                <a:solidFill>
                  <a:schemeClr val="lt1"/>
                </a:solidFill>
              </a:defRPr>
            </a:lvl6pPr>
            <a:lvl7pPr lvl="6" rtl="0" algn="ctr">
              <a:spcBef>
                <a:spcPts val="0"/>
              </a:spcBef>
              <a:spcAft>
                <a:spcPts val="0"/>
              </a:spcAft>
              <a:buClr>
                <a:schemeClr val="lt1"/>
              </a:buClr>
              <a:buSzPts val="6000"/>
              <a:buNone/>
              <a:defRPr b="1" sz="6000">
                <a:solidFill>
                  <a:schemeClr val="lt1"/>
                </a:solidFill>
              </a:defRPr>
            </a:lvl7pPr>
            <a:lvl8pPr lvl="7" rtl="0" algn="ctr">
              <a:spcBef>
                <a:spcPts val="0"/>
              </a:spcBef>
              <a:spcAft>
                <a:spcPts val="0"/>
              </a:spcAft>
              <a:buClr>
                <a:schemeClr val="lt1"/>
              </a:buClr>
              <a:buSzPts val="6000"/>
              <a:buNone/>
              <a:defRPr b="1" sz="6000">
                <a:solidFill>
                  <a:schemeClr val="lt1"/>
                </a:solidFill>
              </a:defRPr>
            </a:lvl8pPr>
            <a:lvl9pPr lvl="8" rtl="0" algn="ctr">
              <a:spcBef>
                <a:spcPts val="0"/>
              </a:spcBef>
              <a:spcAft>
                <a:spcPts val="0"/>
              </a:spcAft>
              <a:buClr>
                <a:schemeClr val="lt1"/>
              </a:buClr>
              <a:buSzPts val="6000"/>
              <a:buNone/>
              <a:defRPr b="1" sz="6000">
                <a:solidFill>
                  <a:schemeClr val="lt1"/>
                </a:solidFill>
              </a:defRPr>
            </a:lvl9pPr>
          </a:lstStyle>
          <a:p>
            <a:r>
              <a:t>xx%</a:t>
            </a:r>
          </a:p>
        </p:txBody>
      </p:sp>
      <p:sp>
        <p:nvSpPr>
          <p:cNvPr id="498" name="Google Shape;498;p14"/>
          <p:cNvSpPr txBox="1"/>
          <p:nvPr>
            <p:ph idx="1" type="subTitle"/>
          </p:nvPr>
        </p:nvSpPr>
        <p:spPr>
          <a:xfrm>
            <a:off x="1026838" y="3507304"/>
            <a:ext cx="3035700" cy="598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1200"/>
              <a:buNone/>
              <a:defRPr b="1" sz="1400">
                <a:solidFill>
                  <a:schemeClr val="dk1"/>
                </a:solidFill>
              </a:defRPr>
            </a:lvl1pPr>
            <a:lvl2pPr lvl="1" rtl="0" algn="ctr">
              <a:lnSpc>
                <a:spcPct val="100000"/>
              </a:lnSpc>
              <a:spcBef>
                <a:spcPts val="0"/>
              </a:spcBef>
              <a:spcAft>
                <a:spcPts val="0"/>
              </a:spcAft>
              <a:buClr>
                <a:schemeClr val="dk1"/>
              </a:buClr>
              <a:buSzPts val="1200"/>
              <a:buNone/>
              <a:defRPr>
                <a:solidFill>
                  <a:schemeClr val="dk1"/>
                </a:solidFill>
              </a:defRPr>
            </a:lvl2pPr>
            <a:lvl3pPr lvl="2" rtl="0" algn="ctr">
              <a:lnSpc>
                <a:spcPct val="100000"/>
              </a:lnSpc>
              <a:spcBef>
                <a:spcPts val="0"/>
              </a:spcBef>
              <a:spcAft>
                <a:spcPts val="0"/>
              </a:spcAft>
              <a:buClr>
                <a:schemeClr val="dk1"/>
              </a:buClr>
              <a:buSzPts val="1200"/>
              <a:buNone/>
              <a:defRPr>
                <a:solidFill>
                  <a:schemeClr val="dk1"/>
                </a:solidFill>
              </a:defRPr>
            </a:lvl3pPr>
            <a:lvl4pPr lvl="3" rtl="0" algn="ctr">
              <a:lnSpc>
                <a:spcPct val="100000"/>
              </a:lnSpc>
              <a:spcBef>
                <a:spcPts val="0"/>
              </a:spcBef>
              <a:spcAft>
                <a:spcPts val="0"/>
              </a:spcAft>
              <a:buClr>
                <a:schemeClr val="dk1"/>
              </a:buClr>
              <a:buSzPts val="1200"/>
              <a:buNone/>
              <a:defRPr>
                <a:solidFill>
                  <a:schemeClr val="dk1"/>
                </a:solidFill>
              </a:defRPr>
            </a:lvl4pPr>
            <a:lvl5pPr lvl="4" rtl="0" algn="ctr">
              <a:lnSpc>
                <a:spcPct val="100000"/>
              </a:lnSpc>
              <a:spcBef>
                <a:spcPts val="0"/>
              </a:spcBef>
              <a:spcAft>
                <a:spcPts val="0"/>
              </a:spcAft>
              <a:buClr>
                <a:schemeClr val="dk1"/>
              </a:buClr>
              <a:buSzPts val="1200"/>
              <a:buNone/>
              <a:defRPr>
                <a:solidFill>
                  <a:schemeClr val="dk1"/>
                </a:solidFill>
              </a:defRPr>
            </a:lvl5pPr>
            <a:lvl6pPr lvl="5" rtl="0" algn="ctr">
              <a:lnSpc>
                <a:spcPct val="100000"/>
              </a:lnSpc>
              <a:spcBef>
                <a:spcPts val="0"/>
              </a:spcBef>
              <a:spcAft>
                <a:spcPts val="0"/>
              </a:spcAft>
              <a:buClr>
                <a:schemeClr val="dk1"/>
              </a:buClr>
              <a:buSzPts val="1200"/>
              <a:buNone/>
              <a:defRPr>
                <a:solidFill>
                  <a:schemeClr val="dk1"/>
                </a:solidFill>
              </a:defRPr>
            </a:lvl6pPr>
            <a:lvl7pPr lvl="6" rtl="0" algn="ctr">
              <a:lnSpc>
                <a:spcPct val="100000"/>
              </a:lnSpc>
              <a:spcBef>
                <a:spcPts val="0"/>
              </a:spcBef>
              <a:spcAft>
                <a:spcPts val="0"/>
              </a:spcAft>
              <a:buClr>
                <a:schemeClr val="dk1"/>
              </a:buClr>
              <a:buSzPts val="1200"/>
              <a:buNone/>
              <a:defRPr>
                <a:solidFill>
                  <a:schemeClr val="dk1"/>
                </a:solidFill>
              </a:defRPr>
            </a:lvl7pPr>
            <a:lvl8pPr lvl="7" rtl="0" algn="ctr">
              <a:lnSpc>
                <a:spcPct val="100000"/>
              </a:lnSpc>
              <a:spcBef>
                <a:spcPts val="0"/>
              </a:spcBef>
              <a:spcAft>
                <a:spcPts val="0"/>
              </a:spcAft>
              <a:buClr>
                <a:schemeClr val="dk1"/>
              </a:buClr>
              <a:buSzPts val="1200"/>
              <a:buNone/>
              <a:defRPr>
                <a:solidFill>
                  <a:schemeClr val="dk1"/>
                </a:solidFill>
              </a:defRPr>
            </a:lvl8pPr>
            <a:lvl9pPr lvl="8" rtl="0" algn="ctr">
              <a:lnSpc>
                <a:spcPct val="100000"/>
              </a:lnSpc>
              <a:spcBef>
                <a:spcPts val="0"/>
              </a:spcBef>
              <a:spcAft>
                <a:spcPts val="0"/>
              </a:spcAft>
              <a:buClr>
                <a:schemeClr val="dk1"/>
              </a:buClr>
              <a:buSzPts val="1200"/>
              <a:buNone/>
              <a:defRPr>
                <a:solidFill>
                  <a:schemeClr val="dk1"/>
                </a:solidFill>
              </a:defRPr>
            </a:lvl9pPr>
          </a:lstStyle>
          <a:p/>
        </p:txBody>
      </p:sp>
      <p:sp>
        <p:nvSpPr>
          <p:cNvPr id="499" name="Google Shape;499;p14"/>
          <p:cNvSpPr txBox="1"/>
          <p:nvPr>
            <p:ph hasCustomPrompt="1" idx="2" type="title"/>
          </p:nvPr>
        </p:nvSpPr>
        <p:spPr>
          <a:xfrm>
            <a:off x="3054150" y="1037396"/>
            <a:ext cx="3035700" cy="7689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None/>
              <a:defRPr sz="4800">
                <a:solidFill>
                  <a:schemeClr val="dk2"/>
                </a:solidFill>
              </a:defRPr>
            </a:lvl1pPr>
            <a:lvl2pPr lvl="1" rtl="0" algn="ctr">
              <a:spcBef>
                <a:spcPts val="0"/>
              </a:spcBef>
              <a:spcAft>
                <a:spcPts val="0"/>
              </a:spcAft>
              <a:buClr>
                <a:schemeClr val="lt1"/>
              </a:buClr>
              <a:buSzPts val="6000"/>
              <a:buNone/>
              <a:defRPr b="1" sz="6000">
                <a:solidFill>
                  <a:schemeClr val="lt1"/>
                </a:solidFill>
              </a:defRPr>
            </a:lvl2pPr>
            <a:lvl3pPr lvl="2" rtl="0" algn="ctr">
              <a:spcBef>
                <a:spcPts val="0"/>
              </a:spcBef>
              <a:spcAft>
                <a:spcPts val="0"/>
              </a:spcAft>
              <a:buClr>
                <a:schemeClr val="lt1"/>
              </a:buClr>
              <a:buSzPts val="6000"/>
              <a:buNone/>
              <a:defRPr b="1" sz="6000">
                <a:solidFill>
                  <a:schemeClr val="lt1"/>
                </a:solidFill>
              </a:defRPr>
            </a:lvl3pPr>
            <a:lvl4pPr lvl="3" rtl="0" algn="ctr">
              <a:spcBef>
                <a:spcPts val="0"/>
              </a:spcBef>
              <a:spcAft>
                <a:spcPts val="0"/>
              </a:spcAft>
              <a:buClr>
                <a:schemeClr val="lt1"/>
              </a:buClr>
              <a:buSzPts val="6000"/>
              <a:buNone/>
              <a:defRPr b="1" sz="6000">
                <a:solidFill>
                  <a:schemeClr val="lt1"/>
                </a:solidFill>
              </a:defRPr>
            </a:lvl4pPr>
            <a:lvl5pPr lvl="4" rtl="0" algn="ctr">
              <a:spcBef>
                <a:spcPts val="0"/>
              </a:spcBef>
              <a:spcAft>
                <a:spcPts val="0"/>
              </a:spcAft>
              <a:buClr>
                <a:schemeClr val="lt1"/>
              </a:buClr>
              <a:buSzPts val="6000"/>
              <a:buNone/>
              <a:defRPr b="1" sz="6000">
                <a:solidFill>
                  <a:schemeClr val="lt1"/>
                </a:solidFill>
              </a:defRPr>
            </a:lvl5pPr>
            <a:lvl6pPr lvl="5" rtl="0" algn="ctr">
              <a:spcBef>
                <a:spcPts val="0"/>
              </a:spcBef>
              <a:spcAft>
                <a:spcPts val="0"/>
              </a:spcAft>
              <a:buClr>
                <a:schemeClr val="lt1"/>
              </a:buClr>
              <a:buSzPts val="6000"/>
              <a:buNone/>
              <a:defRPr b="1" sz="6000">
                <a:solidFill>
                  <a:schemeClr val="lt1"/>
                </a:solidFill>
              </a:defRPr>
            </a:lvl6pPr>
            <a:lvl7pPr lvl="6" rtl="0" algn="ctr">
              <a:spcBef>
                <a:spcPts val="0"/>
              </a:spcBef>
              <a:spcAft>
                <a:spcPts val="0"/>
              </a:spcAft>
              <a:buClr>
                <a:schemeClr val="lt1"/>
              </a:buClr>
              <a:buSzPts val="6000"/>
              <a:buNone/>
              <a:defRPr b="1" sz="6000">
                <a:solidFill>
                  <a:schemeClr val="lt1"/>
                </a:solidFill>
              </a:defRPr>
            </a:lvl7pPr>
            <a:lvl8pPr lvl="7" rtl="0" algn="ctr">
              <a:spcBef>
                <a:spcPts val="0"/>
              </a:spcBef>
              <a:spcAft>
                <a:spcPts val="0"/>
              </a:spcAft>
              <a:buClr>
                <a:schemeClr val="lt1"/>
              </a:buClr>
              <a:buSzPts val="6000"/>
              <a:buNone/>
              <a:defRPr b="1" sz="6000">
                <a:solidFill>
                  <a:schemeClr val="lt1"/>
                </a:solidFill>
              </a:defRPr>
            </a:lvl8pPr>
            <a:lvl9pPr lvl="8" rtl="0" algn="ctr">
              <a:spcBef>
                <a:spcPts val="0"/>
              </a:spcBef>
              <a:spcAft>
                <a:spcPts val="0"/>
              </a:spcAft>
              <a:buClr>
                <a:schemeClr val="lt1"/>
              </a:buClr>
              <a:buSzPts val="6000"/>
              <a:buNone/>
              <a:defRPr b="1" sz="6000">
                <a:solidFill>
                  <a:schemeClr val="lt1"/>
                </a:solidFill>
              </a:defRPr>
            </a:lvl9pPr>
          </a:lstStyle>
          <a:p>
            <a:r>
              <a:t>xx%</a:t>
            </a:r>
          </a:p>
        </p:txBody>
      </p:sp>
      <p:sp>
        <p:nvSpPr>
          <p:cNvPr id="500" name="Google Shape;500;p14"/>
          <p:cNvSpPr txBox="1"/>
          <p:nvPr>
            <p:ph idx="3" type="subTitle"/>
          </p:nvPr>
        </p:nvSpPr>
        <p:spPr>
          <a:xfrm>
            <a:off x="3054150" y="1796308"/>
            <a:ext cx="3035700" cy="598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1200"/>
              <a:buNone/>
              <a:defRPr b="1" sz="1400">
                <a:solidFill>
                  <a:schemeClr val="dk1"/>
                </a:solidFill>
              </a:defRPr>
            </a:lvl1pPr>
            <a:lvl2pPr lvl="1" rtl="0" algn="ctr">
              <a:lnSpc>
                <a:spcPct val="100000"/>
              </a:lnSpc>
              <a:spcBef>
                <a:spcPts val="0"/>
              </a:spcBef>
              <a:spcAft>
                <a:spcPts val="0"/>
              </a:spcAft>
              <a:buClr>
                <a:schemeClr val="dk1"/>
              </a:buClr>
              <a:buSzPts val="1200"/>
              <a:buNone/>
              <a:defRPr>
                <a:solidFill>
                  <a:schemeClr val="dk1"/>
                </a:solidFill>
              </a:defRPr>
            </a:lvl2pPr>
            <a:lvl3pPr lvl="2" rtl="0" algn="ctr">
              <a:lnSpc>
                <a:spcPct val="100000"/>
              </a:lnSpc>
              <a:spcBef>
                <a:spcPts val="0"/>
              </a:spcBef>
              <a:spcAft>
                <a:spcPts val="0"/>
              </a:spcAft>
              <a:buClr>
                <a:schemeClr val="dk1"/>
              </a:buClr>
              <a:buSzPts val="1200"/>
              <a:buNone/>
              <a:defRPr>
                <a:solidFill>
                  <a:schemeClr val="dk1"/>
                </a:solidFill>
              </a:defRPr>
            </a:lvl3pPr>
            <a:lvl4pPr lvl="3" rtl="0" algn="ctr">
              <a:lnSpc>
                <a:spcPct val="100000"/>
              </a:lnSpc>
              <a:spcBef>
                <a:spcPts val="0"/>
              </a:spcBef>
              <a:spcAft>
                <a:spcPts val="0"/>
              </a:spcAft>
              <a:buClr>
                <a:schemeClr val="dk1"/>
              </a:buClr>
              <a:buSzPts val="1200"/>
              <a:buNone/>
              <a:defRPr>
                <a:solidFill>
                  <a:schemeClr val="dk1"/>
                </a:solidFill>
              </a:defRPr>
            </a:lvl4pPr>
            <a:lvl5pPr lvl="4" rtl="0" algn="ctr">
              <a:lnSpc>
                <a:spcPct val="100000"/>
              </a:lnSpc>
              <a:spcBef>
                <a:spcPts val="0"/>
              </a:spcBef>
              <a:spcAft>
                <a:spcPts val="0"/>
              </a:spcAft>
              <a:buClr>
                <a:schemeClr val="dk1"/>
              </a:buClr>
              <a:buSzPts val="1200"/>
              <a:buNone/>
              <a:defRPr>
                <a:solidFill>
                  <a:schemeClr val="dk1"/>
                </a:solidFill>
              </a:defRPr>
            </a:lvl5pPr>
            <a:lvl6pPr lvl="5" rtl="0" algn="ctr">
              <a:lnSpc>
                <a:spcPct val="100000"/>
              </a:lnSpc>
              <a:spcBef>
                <a:spcPts val="0"/>
              </a:spcBef>
              <a:spcAft>
                <a:spcPts val="0"/>
              </a:spcAft>
              <a:buClr>
                <a:schemeClr val="dk1"/>
              </a:buClr>
              <a:buSzPts val="1200"/>
              <a:buNone/>
              <a:defRPr>
                <a:solidFill>
                  <a:schemeClr val="dk1"/>
                </a:solidFill>
              </a:defRPr>
            </a:lvl6pPr>
            <a:lvl7pPr lvl="6" rtl="0" algn="ctr">
              <a:lnSpc>
                <a:spcPct val="100000"/>
              </a:lnSpc>
              <a:spcBef>
                <a:spcPts val="0"/>
              </a:spcBef>
              <a:spcAft>
                <a:spcPts val="0"/>
              </a:spcAft>
              <a:buClr>
                <a:schemeClr val="dk1"/>
              </a:buClr>
              <a:buSzPts val="1200"/>
              <a:buNone/>
              <a:defRPr>
                <a:solidFill>
                  <a:schemeClr val="dk1"/>
                </a:solidFill>
              </a:defRPr>
            </a:lvl7pPr>
            <a:lvl8pPr lvl="7" rtl="0" algn="ctr">
              <a:lnSpc>
                <a:spcPct val="100000"/>
              </a:lnSpc>
              <a:spcBef>
                <a:spcPts val="0"/>
              </a:spcBef>
              <a:spcAft>
                <a:spcPts val="0"/>
              </a:spcAft>
              <a:buClr>
                <a:schemeClr val="dk1"/>
              </a:buClr>
              <a:buSzPts val="1200"/>
              <a:buNone/>
              <a:defRPr>
                <a:solidFill>
                  <a:schemeClr val="dk1"/>
                </a:solidFill>
              </a:defRPr>
            </a:lvl8pPr>
            <a:lvl9pPr lvl="8" rtl="0" algn="ctr">
              <a:lnSpc>
                <a:spcPct val="100000"/>
              </a:lnSpc>
              <a:spcBef>
                <a:spcPts val="0"/>
              </a:spcBef>
              <a:spcAft>
                <a:spcPts val="0"/>
              </a:spcAft>
              <a:buClr>
                <a:schemeClr val="dk1"/>
              </a:buClr>
              <a:buSzPts val="1200"/>
              <a:buNone/>
              <a:defRPr>
                <a:solidFill>
                  <a:schemeClr val="dk1"/>
                </a:solidFill>
              </a:defRPr>
            </a:lvl9pPr>
          </a:lstStyle>
          <a:p/>
        </p:txBody>
      </p:sp>
      <p:sp>
        <p:nvSpPr>
          <p:cNvPr id="501" name="Google Shape;501;p14"/>
          <p:cNvSpPr txBox="1"/>
          <p:nvPr>
            <p:ph hasCustomPrompt="1" idx="4" type="title"/>
          </p:nvPr>
        </p:nvSpPr>
        <p:spPr>
          <a:xfrm>
            <a:off x="5081463" y="2748382"/>
            <a:ext cx="3035700" cy="7689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Clr>
                <a:schemeClr val="lt1"/>
              </a:buClr>
              <a:buSzPts val="6000"/>
              <a:buNone/>
              <a:defRPr sz="4800">
                <a:solidFill>
                  <a:schemeClr val="dk2"/>
                </a:solidFill>
              </a:defRPr>
            </a:lvl1pPr>
            <a:lvl2pPr lvl="1" rtl="0" algn="ctr">
              <a:spcBef>
                <a:spcPts val="0"/>
              </a:spcBef>
              <a:spcAft>
                <a:spcPts val="0"/>
              </a:spcAft>
              <a:buClr>
                <a:schemeClr val="lt1"/>
              </a:buClr>
              <a:buSzPts val="6000"/>
              <a:buNone/>
              <a:defRPr b="1" sz="6000">
                <a:solidFill>
                  <a:schemeClr val="lt1"/>
                </a:solidFill>
              </a:defRPr>
            </a:lvl2pPr>
            <a:lvl3pPr lvl="2" rtl="0" algn="ctr">
              <a:spcBef>
                <a:spcPts val="0"/>
              </a:spcBef>
              <a:spcAft>
                <a:spcPts val="0"/>
              </a:spcAft>
              <a:buClr>
                <a:schemeClr val="lt1"/>
              </a:buClr>
              <a:buSzPts val="6000"/>
              <a:buNone/>
              <a:defRPr b="1" sz="6000">
                <a:solidFill>
                  <a:schemeClr val="lt1"/>
                </a:solidFill>
              </a:defRPr>
            </a:lvl3pPr>
            <a:lvl4pPr lvl="3" rtl="0" algn="ctr">
              <a:spcBef>
                <a:spcPts val="0"/>
              </a:spcBef>
              <a:spcAft>
                <a:spcPts val="0"/>
              </a:spcAft>
              <a:buClr>
                <a:schemeClr val="lt1"/>
              </a:buClr>
              <a:buSzPts val="6000"/>
              <a:buNone/>
              <a:defRPr b="1" sz="6000">
                <a:solidFill>
                  <a:schemeClr val="lt1"/>
                </a:solidFill>
              </a:defRPr>
            </a:lvl4pPr>
            <a:lvl5pPr lvl="4" rtl="0" algn="ctr">
              <a:spcBef>
                <a:spcPts val="0"/>
              </a:spcBef>
              <a:spcAft>
                <a:spcPts val="0"/>
              </a:spcAft>
              <a:buClr>
                <a:schemeClr val="lt1"/>
              </a:buClr>
              <a:buSzPts val="6000"/>
              <a:buNone/>
              <a:defRPr b="1" sz="6000">
                <a:solidFill>
                  <a:schemeClr val="lt1"/>
                </a:solidFill>
              </a:defRPr>
            </a:lvl5pPr>
            <a:lvl6pPr lvl="5" rtl="0" algn="ctr">
              <a:spcBef>
                <a:spcPts val="0"/>
              </a:spcBef>
              <a:spcAft>
                <a:spcPts val="0"/>
              </a:spcAft>
              <a:buClr>
                <a:schemeClr val="lt1"/>
              </a:buClr>
              <a:buSzPts val="6000"/>
              <a:buNone/>
              <a:defRPr b="1" sz="6000">
                <a:solidFill>
                  <a:schemeClr val="lt1"/>
                </a:solidFill>
              </a:defRPr>
            </a:lvl6pPr>
            <a:lvl7pPr lvl="6" rtl="0" algn="ctr">
              <a:spcBef>
                <a:spcPts val="0"/>
              </a:spcBef>
              <a:spcAft>
                <a:spcPts val="0"/>
              </a:spcAft>
              <a:buClr>
                <a:schemeClr val="lt1"/>
              </a:buClr>
              <a:buSzPts val="6000"/>
              <a:buNone/>
              <a:defRPr b="1" sz="6000">
                <a:solidFill>
                  <a:schemeClr val="lt1"/>
                </a:solidFill>
              </a:defRPr>
            </a:lvl7pPr>
            <a:lvl8pPr lvl="7" rtl="0" algn="ctr">
              <a:spcBef>
                <a:spcPts val="0"/>
              </a:spcBef>
              <a:spcAft>
                <a:spcPts val="0"/>
              </a:spcAft>
              <a:buClr>
                <a:schemeClr val="lt1"/>
              </a:buClr>
              <a:buSzPts val="6000"/>
              <a:buNone/>
              <a:defRPr b="1" sz="6000">
                <a:solidFill>
                  <a:schemeClr val="lt1"/>
                </a:solidFill>
              </a:defRPr>
            </a:lvl8pPr>
            <a:lvl9pPr lvl="8" rtl="0" algn="ctr">
              <a:spcBef>
                <a:spcPts val="0"/>
              </a:spcBef>
              <a:spcAft>
                <a:spcPts val="0"/>
              </a:spcAft>
              <a:buClr>
                <a:schemeClr val="lt1"/>
              </a:buClr>
              <a:buSzPts val="6000"/>
              <a:buNone/>
              <a:defRPr b="1" sz="6000">
                <a:solidFill>
                  <a:schemeClr val="lt1"/>
                </a:solidFill>
              </a:defRPr>
            </a:lvl9pPr>
          </a:lstStyle>
          <a:p>
            <a:r>
              <a:t>xx%</a:t>
            </a:r>
          </a:p>
        </p:txBody>
      </p:sp>
      <p:sp>
        <p:nvSpPr>
          <p:cNvPr id="502" name="Google Shape;502;p14"/>
          <p:cNvSpPr txBox="1"/>
          <p:nvPr>
            <p:ph idx="5" type="subTitle"/>
          </p:nvPr>
        </p:nvSpPr>
        <p:spPr>
          <a:xfrm>
            <a:off x="5081463" y="3507304"/>
            <a:ext cx="3035700" cy="598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Clr>
                <a:schemeClr val="dk1"/>
              </a:buClr>
              <a:buSzPts val="1200"/>
              <a:buNone/>
              <a:defRPr b="1" sz="1400">
                <a:solidFill>
                  <a:schemeClr val="dk1"/>
                </a:solidFill>
              </a:defRPr>
            </a:lvl1pPr>
            <a:lvl2pPr lvl="1" rtl="0" algn="ctr">
              <a:lnSpc>
                <a:spcPct val="100000"/>
              </a:lnSpc>
              <a:spcBef>
                <a:spcPts val="0"/>
              </a:spcBef>
              <a:spcAft>
                <a:spcPts val="0"/>
              </a:spcAft>
              <a:buClr>
                <a:schemeClr val="dk1"/>
              </a:buClr>
              <a:buSzPts val="1200"/>
              <a:buNone/>
              <a:defRPr>
                <a:solidFill>
                  <a:schemeClr val="dk1"/>
                </a:solidFill>
              </a:defRPr>
            </a:lvl2pPr>
            <a:lvl3pPr lvl="2" rtl="0" algn="ctr">
              <a:lnSpc>
                <a:spcPct val="100000"/>
              </a:lnSpc>
              <a:spcBef>
                <a:spcPts val="0"/>
              </a:spcBef>
              <a:spcAft>
                <a:spcPts val="0"/>
              </a:spcAft>
              <a:buClr>
                <a:schemeClr val="dk1"/>
              </a:buClr>
              <a:buSzPts val="1200"/>
              <a:buNone/>
              <a:defRPr>
                <a:solidFill>
                  <a:schemeClr val="dk1"/>
                </a:solidFill>
              </a:defRPr>
            </a:lvl3pPr>
            <a:lvl4pPr lvl="3" rtl="0" algn="ctr">
              <a:lnSpc>
                <a:spcPct val="100000"/>
              </a:lnSpc>
              <a:spcBef>
                <a:spcPts val="0"/>
              </a:spcBef>
              <a:spcAft>
                <a:spcPts val="0"/>
              </a:spcAft>
              <a:buClr>
                <a:schemeClr val="dk1"/>
              </a:buClr>
              <a:buSzPts val="1200"/>
              <a:buNone/>
              <a:defRPr>
                <a:solidFill>
                  <a:schemeClr val="dk1"/>
                </a:solidFill>
              </a:defRPr>
            </a:lvl4pPr>
            <a:lvl5pPr lvl="4" rtl="0" algn="ctr">
              <a:lnSpc>
                <a:spcPct val="100000"/>
              </a:lnSpc>
              <a:spcBef>
                <a:spcPts val="0"/>
              </a:spcBef>
              <a:spcAft>
                <a:spcPts val="0"/>
              </a:spcAft>
              <a:buClr>
                <a:schemeClr val="dk1"/>
              </a:buClr>
              <a:buSzPts val="1200"/>
              <a:buNone/>
              <a:defRPr>
                <a:solidFill>
                  <a:schemeClr val="dk1"/>
                </a:solidFill>
              </a:defRPr>
            </a:lvl5pPr>
            <a:lvl6pPr lvl="5" rtl="0" algn="ctr">
              <a:lnSpc>
                <a:spcPct val="100000"/>
              </a:lnSpc>
              <a:spcBef>
                <a:spcPts val="0"/>
              </a:spcBef>
              <a:spcAft>
                <a:spcPts val="0"/>
              </a:spcAft>
              <a:buClr>
                <a:schemeClr val="dk1"/>
              </a:buClr>
              <a:buSzPts val="1200"/>
              <a:buNone/>
              <a:defRPr>
                <a:solidFill>
                  <a:schemeClr val="dk1"/>
                </a:solidFill>
              </a:defRPr>
            </a:lvl6pPr>
            <a:lvl7pPr lvl="6" rtl="0" algn="ctr">
              <a:lnSpc>
                <a:spcPct val="100000"/>
              </a:lnSpc>
              <a:spcBef>
                <a:spcPts val="0"/>
              </a:spcBef>
              <a:spcAft>
                <a:spcPts val="0"/>
              </a:spcAft>
              <a:buClr>
                <a:schemeClr val="dk1"/>
              </a:buClr>
              <a:buSzPts val="1200"/>
              <a:buNone/>
              <a:defRPr>
                <a:solidFill>
                  <a:schemeClr val="dk1"/>
                </a:solidFill>
              </a:defRPr>
            </a:lvl7pPr>
            <a:lvl8pPr lvl="7" rtl="0" algn="ctr">
              <a:lnSpc>
                <a:spcPct val="100000"/>
              </a:lnSpc>
              <a:spcBef>
                <a:spcPts val="0"/>
              </a:spcBef>
              <a:spcAft>
                <a:spcPts val="0"/>
              </a:spcAft>
              <a:buClr>
                <a:schemeClr val="dk1"/>
              </a:buClr>
              <a:buSzPts val="1200"/>
              <a:buNone/>
              <a:defRPr>
                <a:solidFill>
                  <a:schemeClr val="dk1"/>
                </a:solidFill>
              </a:defRPr>
            </a:lvl8pPr>
            <a:lvl9pPr lvl="8" rtl="0" algn="ctr">
              <a:lnSpc>
                <a:spcPct val="100000"/>
              </a:lnSpc>
              <a:spcBef>
                <a:spcPts val="0"/>
              </a:spcBef>
              <a:spcAft>
                <a:spcPts val="0"/>
              </a:spcAft>
              <a:buClr>
                <a:schemeClr val="dk1"/>
              </a:buClr>
              <a:buSzPts val="1200"/>
              <a:buNone/>
              <a:defRPr>
                <a:solidFill>
                  <a:schemeClr val="dk1"/>
                </a:solidFill>
              </a:defRPr>
            </a:lvl9pPr>
          </a:lstStyle>
          <a:p/>
        </p:txBody>
      </p:sp>
      <p:grpSp>
        <p:nvGrpSpPr>
          <p:cNvPr id="503" name="Google Shape;503;p14"/>
          <p:cNvGrpSpPr/>
          <p:nvPr/>
        </p:nvGrpSpPr>
        <p:grpSpPr>
          <a:xfrm>
            <a:off x="8343010" y="4084789"/>
            <a:ext cx="1105788" cy="1058857"/>
            <a:chOff x="4252810" y="2035226"/>
            <a:chExt cx="624951" cy="598394"/>
          </a:xfrm>
        </p:grpSpPr>
        <p:sp>
          <p:nvSpPr>
            <p:cNvPr id="504" name="Google Shape;504;p14"/>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14"/>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14"/>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p14"/>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14"/>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14"/>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14"/>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14"/>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14"/>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14"/>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14"/>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14"/>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14"/>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14"/>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14"/>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14"/>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14"/>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14"/>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14"/>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14"/>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14"/>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14"/>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14"/>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14"/>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14"/>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14"/>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14"/>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14"/>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14"/>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14"/>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14"/>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14"/>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14"/>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14"/>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14"/>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14"/>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14"/>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14"/>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14"/>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14"/>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14"/>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14"/>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46" name="Google Shape;546;p14"/>
          <p:cNvSpPr/>
          <p:nvPr/>
        </p:nvSpPr>
        <p:spPr>
          <a:xfrm>
            <a:off x="8212075" y="2075550"/>
            <a:ext cx="1901100" cy="30219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CUSTOM_4_1">
    <p:spTree>
      <p:nvGrpSpPr>
        <p:cNvPr id="547" name="Shape 547"/>
        <p:cNvGrpSpPr/>
        <p:nvPr/>
      </p:nvGrpSpPr>
      <p:grpSpPr>
        <a:xfrm>
          <a:off x="0" y="0"/>
          <a:ext cx="0" cy="0"/>
          <a:chOff x="0" y="0"/>
          <a:chExt cx="0" cy="0"/>
        </a:xfrm>
      </p:grpSpPr>
      <p:grpSp>
        <p:nvGrpSpPr>
          <p:cNvPr id="548" name="Google Shape;548;p15"/>
          <p:cNvGrpSpPr/>
          <p:nvPr/>
        </p:nvGrpSpPr>
        <p:grpSpPr>
          <a:xfrm>
            <a:off x="6811511" y="-1089762"/>
            <a:ext cx="1617386" cy="1624770"/>
            <a:chOff x="3992334" y="189904"/>
            <a:chExt cx="1116902" cy="1122001"/>
          </a:xfrm>
        </p:grpSpPr>
        <p:sp>
          <p:nvSpPr>
            <p:cNvPr id="549" name="Google Shape;549;p15"/>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15"/>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15"/>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15"/>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 name="Google Shape;553;p15"/>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15"/>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15"/>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 name="Google Shape;556;p15"/>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15"/>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15"/>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p15"/>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60" name="Google Shape;560;p15"/>
          <p:cNvGrpSpPr/>
          <p:nvPr/>
        </p:nvGrpSpPr>
        <p:grpSpPr>
          <a:xfrm rot="5400000">
            <a:off x="7958137" y="3445097"/>
            <a:ext cx="2337963" cy="1058857"/>
            <a:chOff x="867497" y="4760889"/>
            <a:chExt cx="2337963" cy="1058857"/>
          </a:xfrm>
        </p:grpSpPr>
        <p:grpSp>
          <p:nvGrpSpPr>
            <p:cNvPr id="561" name="Google Shape;561;p15"/>
            <p:cNvGrpSpPr/>
            <p:nvPr/>
          </p:nvGrpSpPr>
          <p:grpSpPr>
            <a:xfrm>
              <a:off x="2099672" y="4760889"/>
              <a:ext cx="1105788" cy="1058857"/>
              <a:chOff x="4252810" y="2035226"/>
              <a:chExt cx="624951" cy="598394"/>
            </a:xfrm>
          </p:grpSpPr>
          <p:sp>
            <p:nvSpPr>
              <p:cNvPr id="562" name="Google Shape;562;p15"/>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15"/>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15"/>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15"/>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15"/>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15"/>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15"/>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15"/>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15"/>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15"/>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15"/>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15"/>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p15"/>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15"/>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15"/>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 name="Google Shape;577;p15"/>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 name="Google Shape;578;p15"/>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15"/>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15"/>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15"/>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15"/>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15"/>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15"/>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15"/>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15"/>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15"/>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15"/>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15"/>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15"/>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15"/>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 name="Google Shape;592;p15"/>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 name="Google Shape;593;p15"/>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15"/>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15"/>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15"/>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15"/>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15"/>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 name="Google Shape;599;p15"/>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15"/>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15"/>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15"/>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15"/>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04" name="Google Shape;604;p15"/>
            <p:cNvGrpSpPr/>
            <p:nvPr/>
          </p:nvGrpSpPr>
          <p:grpSpPr>
            <a:xfrm>
              <a:off x="867497" y="4760889"/>
              <a:ext cx="1105788" cy="1058857"/>
              <a:chOff x="4252810" y="2035226"/>
              <a:chExt cx="624951" cy="598394"/>
            </a:xfrm>
          </p:grpSpPr>
          <p:sp>
            <p:nvSpPr>
              <p:cNvPr id="605" name="Google Shape;605;p15"/>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15"/>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15"/>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15"/>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15"/>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15"/>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15"/>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15"/>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15"/>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15"/>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15"/>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15"/>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15"/>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15"/>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15"/>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15"/>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15"/>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15"/>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 name="Google Shape;623;p15"/>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15"/>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15"/>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15"/>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15"/>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15"/>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15"/>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15"/>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 name="Google Shape;631;p15"/>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15"/>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15"/>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15"/>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15"/>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 name="Google Shape;636;p15"/>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15"/>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15"/>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15"/>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15"/>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 name="Google Shape;641;p15"/>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15"/>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15"/>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15"/>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15"/>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15"/>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647" name="Google Shape;647;p15"/>
          <p:cNvSpPr txBox="1"/>
          <p:nvPr>
            <p:ph type="title"/>
          </p:nvPr>
        </p:nvSpPr>
        <p:spPr>
          <a:xfrm>
            <a:off x="5305000" y="780350"/>
            <a:ext cx="3123900" cy="647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648" name="Google Shape;648;p15"/>
          <p:cNvSpPr txBox="1"/>
          <p:nvPr>
            <p:ph idx="1" type="subTitle"/>
          </p:nvPr>
        </p:nvSpPr>
        <p:spPr>
          <a:xfrm>
            <a:off x="5305000" y="1483750"/>
            <a:ext cx="3123900" cy="895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649" name="Google Shape;649;p15"/>
          <p:cNvSpPr/>
          <p:nvPr>
            <p:ph idx="2" type="pic"/>
          </p:nvPr>
        </p:nvSpPr>
        <p:spPr>
          <a:xfrm>
            <a:off x="715100" y="535000"/>
            <a:ext cx="2216700" cy="4104000"/>
          </a:xfrm>
          <a:prstGeom prst="rect">
            <a:avLst/>
          </a:prstGeom>
          <a:noFill/>
          <a:ln>
            <a:noFill/>
          </a:ln>
        </p:spPr>
      </p:sp>
      <p:sp>
        <p:nvSpPr>
          <p:cNvPr id="650" name="Google Shape;650;p15"/>
          <p:cNvSpPr/>
          <p:nvPr>
            <p:ph idx="3" type="pic"/>
          </p:nvPr>
        </p:nvSpPr>
        <p:spPr>
          <a:xfrm>
            <a:off x="3033300" y="535000"/>
            <a:ext cx="1894500" cy="2064000"/>
          </a:xfrm>
          <a:prstGeom prst="rect">
            <a:avLst/>
          </a:prstGeom>
          <a:noFill/>
          <a:ln>
            <a:noFill/>
          </a:ln>
        </p:spPr>
      </p:sp>
      <p:sp>
        <p:nvSpPr>
          <p:cNvPr id="651" name="Google Shape;651;p15"/>
          <p:cNvSpPr/>
          <p:nvPr>
            <p:ph idx="4" type="pic"/>
          </p:nvPr>
        </p:nvSpPr>
        <p:spPr>
          <a:xfrm>
            <a:off x="3033300" y="2701900"/>
            <a:ext cx="2775900" cy="1937100"/>
          </a:xfrm>
          <a:prstGeom prst="rect">
            <a:avLst/>
          </a:prstGeom>
          <a:noFill/>
          <a:ln>
            <a:noFill/>
          </a:ln>
        </p:spPr>
      </p:sp>
      <p:sp>
        <p:nvSpPr>
          <p:cNvPr id="652" name="Google Shape;652;p15"/>
          <p:cNvSpPr/>
          <p:nvPr>
            <p:ph idx="5" type="pic"/>
          </p:nvPr>
        </p:nvSpPr>
        <p:spPr>
          <a:xfrm>
            <a:off x="5910700" y="2714500"/>
            <a:ext cx="2518200" cy="1937100"/>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4_1_1">
    <p:spTree>
      <p:nvGrpSpPr>
        <p:cNvPr id="653" name="Shape 653"/>
        <p:cNvGrpSpPr/>
        <p:nvPr/>
      </p:nvGrpSpPr>
      <p:grpSpPr>
        <a:xfrm>
          <a:off x="0" y="0"/>
          <a:ext cx="0" cy="0"/>
          <a:chOff x="0" y="0"/>
          <a:chExt cx="0" cy="0"/>
        </a:xfrm>
      </p:grpSpPr>
      <p:sp>
        <p:nvSpPr>
          <p:cNvPr id="654" name="Google Shape;654;p16"/>
          <p:cNvSpPr txBox="1"/>
          <p:nvPr>
            <p:ph type="title"/>
          </p:nvPr>
        </p:nvSpPr>
        <p:spPr>
          <a:xfrm>
            <a:off x="720000" y="1098525"/>
            <a:ext cx="3123900" cy="16368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655" name="Google Shape;655;p16"/>
          <p:cNvSpPr txBox="1"/>
          <p:nvPr>
            <p:ph idx="1" type="subTitle"/>
          </p:nvPr>
        </p:nvSpPr>
        <p:spPr>
          <a:xfrm>
            <a:off x="720000" y="2790975"/>
            <a:ext cx="3123900" cy="1254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656" name="Google Shape;656;p16"/>
          <p:cNvSpPr/>
          <p:nvPr>
            <p:ph idx="2" type="pic"/>
          </p:nvPr>
        </p:nvSpPr>
        <p:spPr>
          <a:xfrm>
            <a:off x="5063025" y="535000"/>
            <a:ext cx="3366000" cy="4073400"/>
          </a:xfrm>
          <a:prstGeom prst="round2SameRect">
            <a:avLst>
              <a:gd fmla="val 16667" name="adj1"/>
              <a:gd fmla="val 0" name="adj2"/>
            </a:avLst>
          </a:prstGeom>
          <a:noFill/>
          <a:ln>
            <a:noFill/>
          </a:ln>
        </p:spPr>
      </p:sp>
      <p:grpSp>
        <p:nvGrpSpPr>
          <p:cNvPr id="657" name="Google Shape;657;p16"/>
          <p:cNvGrpSpPr/>
          <p:nvPr/>
        </p:nvGrpSpPr>
        <p:grpSpPr>
          <a:xfrm>
            <a:off x="8576772" y="3549639"/>
            <a:ext cx="1105788" cy="1058857"/>
            <a:chOff x="4252810" y="2035226"/>
            <a:chExt cx="624951" cy="598394"/>
          </a:xfrm>
        </p:grpSpPr>
        <p:sp>
          <p:nvSpPr>
            <p:cNvPr id="658" name="Google Shape;658;p16"/>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16"/>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16"/>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16"/>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16"/>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 name="Google Shape;663;p16"/>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16"/>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16"/>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16"/>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16"/>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16"/>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 name="Google Shape;669;p16"/>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 name="Google Shape;670;p16"/>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 name="Google Shape;671;p16"/>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 name="Google Shape;672;p16"/>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 name="Google Shape;673;p16"/>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 name="Google Shape;674;p16"/>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 name="Google Shape;675;p16"/>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16"/>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 name="Google Shape;677;p16"/>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16"/>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16"/>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16"/>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16"/>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16"/>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16"/>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16"/>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 name="Google Shape;685;p16"/>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 name="Google Shape;686;p16"/>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6"/>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16"/>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16"/>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16"/>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 name="Google Shape;691;p16"/>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 name="Google Shape;692;p16"/>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16"/>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16"/>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16"/>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16"/>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16"/>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 name="Google Shape;698;p16"/>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16"/>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8">
    <p:spTree>
      <p:nvGrpSpPr>
        <p:cNvPr id="700" name="Shape 700"/>
        <p:cNvGrpSpPr/>
        <p:nvPr/>
      </p:nvGrpSpPr>
      <p:grpSpPr>
        <a:xfrm>
          <a:off x="0" y="0"/>
          <a:ext cx="0" cy="0"/>
          <a:chOff x="0" y="0"/>
          <a:chExt cx="0" cy="0"/>
        </a:xfrm>
      </p:grpSpPr>
      <p:grpSp>
        <p:nvGrpSpPr>
          <p:cNvPr id="701" name="Google Shape;701;p17"/>
          <p:cNvGrpSpPr/>
          <p:nvPr/>
        </p:nvGrpSpPr>
        <p:grpSpPr>
          <a:xfrm>
            <a:off x="5599111" y="-1089774"/>
            <a:ext cx="1617386" cy="1624770"/>
            <a:chOff x="3992334" y="189904"/>
            <a:chExt cx="1116902" cy="1122001"/>
          </a:xfrm>
        </p:grpSpPr>
        <p:sp>
          <p:nvSpPr>
            <p:cNvPr id="702" name="Google Shape;702;p17"/>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7"/>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17"/>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17"/>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7"/>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7"/>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 name="Google Shape;708;p17"/>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7"/>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p17"/>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 name="Google Shape;711;p17"/>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17"/>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13" name="Google Shape;713;p17"/>
          <p:cNvSpPr txBox="1"/>
          <p:nvPr>
            <p:ph type="title"/>
          </p:nvPr>
        </p:nvSpPr>
        <p:spPr>
          <a:xfrm>
            <a:off x="718843" y="445025"/>
            <a:ext cx="58848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714" name="Google Shape;714;p17"/>
          <p:cNvSpPr txBox="1"/>
          <p:nvPr>
            <p:ph idx="1" type="subTitle"/>
          </p:nvPr>
        </p:nvSpPr>
        <p:spPr>
          <a:xfrm>
            <a:off x="715100" y="1137548"/>
            <a:ext cx="5884800" cy="997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Char char="●"/>
              <a:defRPr b="1"/>
            </a:lvl1pPr>
            <a:lvl2pPr lvl="1" rtl="0" algn="ctr">
              <a:lnSpc>
                <a:spcPct val="100000"/>
              </a:lnSpc>
              <a:spcBef>
                <a:spcPts val="0"/>
              </a:spcBef>
              <a:spcAft>
                <a:spcPts val="0"/>
              </a:spcAft>
              <a:buSzPts val="1200"/>
              <a:buChar char="○"/>
              <a:defRPr/>
            </a:lvl2pPr>
            <a:lvl3pPr lvl="2" rtl="0" algn="ctr">
              <a:lnSpc>
                <a:spcPct val="100000"/>
              </a:lnSpc>
              <a:spcBef>
                <a:spcPts val="0"/>
              </a:spcBef>
              <a:spcAft>
                <a:spcPts val="0"/>
              </a:spcAft>
              <a:buSzPts val="1200"/>
              <a:buChar char="■"/>
              <a:defRPr/>
            </a:lvl3pPr>
            <a:lvl4pPr lvl="3" rtl="0" algn="ctr">
              <a:lnSpc>
                <a:spcPct val="100000"/>
              </a:lnSpc>
              <a:spcBef>
                <a:spcPts val="0"/>
              </a:spcBef>
              <a:spcAft>
                <a:spcPts val="0"/>
              </a:spcAft>
              <a:buSzPts val="1200"/>
              <a:buChar char="●"/>
              <a:defRPr/>
            </a:lvl4pPr>
            <a:lvl5pPr lvl="4" rtl="0" algn="ctr">
              <a:lnSpc>
                <a:spcPct val="100000"/>
              </a:lnSpc>
              <a:spcBef>
                <a:spcPts val="0"/>
              </a:spcBef>
              <a:spcAft>
                <a:spcPts val="0"/>
              </a:spcAft>
              <a:buSzPts val="1200"/>
              <a:buChar char="○"/>
              <a:defRPr/>
            </a:lvl5pPr>
            <a:lvl6pPr lvl="5" rtl="0" algn="ctr">
              <a:lnSpc>
                <a:spcPct val="100000"/>
              </a:lnSpc>
              <a:spcBef>
                <a:spcPts val="0"/>
              </a:spcBef>
              <a:spcAft>
                <a:spcPts val="0"/>
              </a:spcAft>
              <a:buSzPts val="1200"/>
              <a:buChar char="■"/>
              <a:defRPr/>
            </a:lvl6pPr>
            <a:lvl7pPr lvl="6" rtl="0" algn="ctr">
              <a:lnSpc>
                <a:spcPct val="100000"/>
              </a:lnSpc>
              <a:spcBef>
                <a:spcPts val="0"/>
              </a:spcBef>
              <a:spcAft>
                <a:spcPts val="0"/>
              </a:spcAft>
              <a:buSzPts val="1200"/>
              <a:buChar char="●"/>
              <a:defRPr/>
            </a:lvl7pPr>
            <a:lvl8pPr lvl="7" rtl="0" algn="ctr">
              <a:lnSpc>
                <a:spcPct val="100000"/>
              </a:lnSpc>
              <a:spcBef>
                <a:spcPts val="0"/>
              </a:spcBef>
              <a:spcAft>
                <a:spcPts val="0"/>
              </a:spcAft>
              <a:buSzPts val="1200"/>
              <a:buChar char="○"/>
              <a:defRPr/>
            </a:lvl8pPr>
            <a:lvl9pPr lvl="8" rtl="0" algn="ctr">
              <a:lnSpc>
                <a:spcPct val="100000"/>
              </a:lnSpc>
              <a:spcBef>
                <a:spcPts val="0"/>
              </a:spcBef>
              <a:spcAft>
                <a:spcPts val="0"/>
              </a:spcAft>
              <a:buSzPts val="1200"/>
              <a:buChar char="■"/>
              <a:defRPr/>
            </a:lvl9pPr>
          </a:lstStyle>
          <a:p/>
        </p:txBody>
      </p:sp>
      <p:sp>
        <p:nvSpPr>
          <p:cNvPr id="715" name="Google Shape;715;p17"/>
          <p:cNvSpPr txBox="1"/>
          <p:nvPr>
            <p:ph idx="2" type="subTitle"/>
          </p:nvPr>
        </p:nvSpPr>
        <p:spPr>
          <a:xfrm>
            <a:off x="715100" y="2135045"/>
            <a:ext cx="5884800" cy="1476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Char char="●"/>
              <a:defRPr b="1"/>
            </a:lvl1pPr>
            <a:lvl2pPr lvl="1" rtl="0" algn="ctr">
              <a:lnSpc>
                <a:spcPct val="100000"/>
              </a:lnSpc>
              <a:spcBef>
                <a:spcPts val="0"/>
              </a:spcBef>
              <a:spcAft>
                <a:spcPts val="0"/>
              </a:spcAft>
              <a:buSzPts val="1200"/>
              <a:buChar char="○"/>
              <a:defRPr/>
            </a:lvl2pPr>
            <a:lvl3pPr lvl="2" rtl="0" algn="ctr">
              <a:lnSpc>
                <a:spcPct val="100000"/>
              </a:lnSpc>
              <a:spcBef>
                <a:spcPts val="0"/>
              </a:spcBef>
              <a:spcAft>
                <a:spcPts val="0"/>
              </a:spcAft>
              <a:buSzPts val="1200"/>
              <a:buChar char="■"/>
              <a:defRPr/>
            </a:lvl3pPr>
            <a:lvl4pPr lvl="3" rtl="0" algn="ctr">
              <a:lnSpc>
                <a:spcPct val="100000"/>
              </a:lnSpc>
              <a:spcBef>
                <a:spcPts val="0"/>
              </a:spcBef>
              <a:spcAft>
                <a:spcPts val="0"/>
              </a:spcAft>
              <a:buSzPts val="1200"/>
              <a:buChar char="●"/>
              <a:defRPr/>
            </a:lvl4pPr>
            <a:lvl5pPr lvl="4" rtl="0" algn="ctr">
              <a:lnSpc>
                <a:spcPct val="100000"/>
              </a:lnSpc>
              <a:spcBef>
                <a:spcPts val="0"/>
              </a:spcBef>
              <a:spcAft>
                <a:spcPts val="0"/>
              </a:spcAft>
              <a:buSzPts val="1200"/>
              <a:buChar char="○"/>
              <a:defRPr/>
            </a:lvl5pPr>
            <a:lvl6pPr lvl="5" rtl="0" algn="ctr">
              <a:lnSpc>
                <a:spcPct val="100000"/>
              </a:lnSpc>
              <a:spcBef>
                <a:spcPts val="0"/>
              </a:spcBef>
              <a:spcAft>
                <a:spcPts val="0"/>
              </a:spcAft>
              <a:buSzPts val="1200"/>
              <a:buChar char="■"/>
              <a:defRPr/>
            </a:lvl6pPr>
            <a:lvl7pPr lvl="6" rtl="0" algn="ctr">
              <a:lnSpc>
                <a:spcPct val="100000"/>
              </a:lnSpc>
              <a:spcBef>
                <a:spcPts val="0"/>
              </a:spcBef>
              <a:spcAft>
                <a:spcPts val="0"/>
              </a:spcAft>
              <a:buSzPts val="1200"/>
              <a:buChar char="●"/>
              <a:defRPr/>
            </a:lvl7pPr>
            <a:lvl8pPr lvl="7" rtl="0" algn="ctr">
              <a:lnSpc>
                <a:spcPct val="100000"/>
              </a:lnSpc>
              <a:spcBef>
                <a:spcPts val="0"/>
              </a:spcBef>
              <a:spcAft>
                <a:spcPts val="0"/>
              </a:spcAft>
              <a:buSzPts val="1200"/>
              <a:buChar char="○"/>
              <a:defRPr/>
            </a:lvl8pPr>
            <a:lvl9pPr lvl="8" rtl="0" algn="ctr">
              <a:lnSpc>
                <a:spcPct val="100000"/>
              </a:lnSpc>
              <a:spcBef>
                <a:spcPts val="0"/>
              </a:spcBef>
              <a:spcAft>
                <a:spcPts val="0"/>
              </a:spcAft>
              <a:buSzPts val="1200"/>
              <a:buChar char="■"/>
              <a:defRPr/>
            </a:lvl9pPr>
          </a:lstStyle>
          <a:p/>
        </p:txBody>
      </p:sp>
      <p:sp>
        <p:nvSpPr>
          <p:cNvPr id="716" name="Google Shape;716;p17"/>
          <p:cNvSpPr txBox="1"/>
          <p:nvPr>
            <p:ph idx="3" type="subTitle"/>
          </p:nvPr>
        </p:nvSpPr>
        <p:spPr>
          <a:xfrm>
            <a:off x="715100" y="3611150"/>
            <a:ext cx="5884800" cy="997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Char char="●"/>
              <a:defRPr b="1"/>
            </a:lvl1pPr>
            <a:lvl2pPr lvl="1" rtl="0" algn="ctr">
              <a:lnSpc>
                <a:spcPct val="100000"/>
              </a:lnSpc>
              <a:spcBef>
                <a:spcPts val="0"/>
              </a:spcBef>
              <a:spcAft>
                <a:spcPts val="0"/>
              </a:spcAft>
              <a:buSzPts val="1200"/>
              <a:buChar char="○"/>
              <a:defRPr/>
            </a:lvl2pPr>
            <a:lvl3pPr lvl="2" rtl="0" algn="ctr">
              <a:lnSpc>
                <a:spcPct val="100000"/>
              </a:lnSpc>
              <a:spcBef>
                <a:spcPts val="0"/>
              </a:spcBef>
              <a:spcAft>
                <a:spcPts val="0"/>
              </a:spcAft>
              <a:buSzPts val="1200"/>
              <a:buChar char="■"/>
              <a:defRPr/>
            </a:lvl3pPr>
            <a:lvl4pPr lvl="3" rtl="0" algn="ctr">
              <a:lnSpc>
                <a:spcPct val="100000"/>
              </a:lnSpc>
              <a:spcBef>
                <a:spcPts val="0"/>
              </a:spcBef>
              <a:spcAft>
                <a:spcPts val="0"/>
              </a:spcAft>
              <a:buSzPts val="1200"/>
              <a:buChar char="●"/>
              <a:defRPr/>
            </a:lvl4pPr>
            <a:lvl5pPr lvl="4" rtl="0" algn="ctr">
              <a:lnSpc>
                <a:spcPct val="100000"/>
              </a:lnSpc>
              <a:spcBef>
                <a:spcPts val="0"/>
              </a:spcBef>
              <a:spcAft>
                <a:spcPts val="0"/>
              </a:spcAft>
              <a:buSzPts val="1200"/>
              <a:buChar char="○"/>
              <a:defRPr/>
            </a:lvl5pPr>
            <a:lvl6pPr lvl="5" rtl="0" algn="ctr">
              <a:lnSpc>
                <a:spcPct val="100000"/>
              </a:lnSpc>
              <a:spcBef>
                <a:spcPts val="0"/>
              </a:spcBef>
              <a:spcAft>
                <a:spcPts val="0"/>
              </a:spcAft>
              <a:buSzPts val="1200"/>
              <a:buChar char="■"/>
              <a:defRPr/>
            </a:lvl6pPr>
            <a:lvl7pPr lvl="6" rtl="0" algn="ctr">
              <a:lnSpc>
                <a:spcPct val="100000"/>
              </a:lnSpc>
              <a:spcBef>
                <a:spcPts val="0"/>
              </a:spcBef>
              <a:spcAft>
                <a:spcPts val="0"/>
              </a:spcAft>
              <a:buSzPts val="1200"/>
              <a:buChar char="●"/>
              <a:defRPr/>
            </a:lvl7pPr>
            <a:lvl8pPr lvl="7" rtl="0" algn="ctr">
              <a:lnSpc>
                <a:spcPct val="100000"/>
              </a:lnSpc>
              <a:spcBef>
                <a:spcPts val="0"/>
              </a:spcBef>
              <a:spcAft>
                <a:spcPts val="0"/>
              </a:spcAft>
              <a:buSzPts val="1200"/>
              <a:buChar char="○"/>
              <a:defRPr/>
            </a:lvl8pPr>
            <a:lvl9pPr lvl="8" rtl="0" algn="ctr">
              <a:lnSpc>
                <a:spcPct val="100000"/>
              </a:lnSpc>
              <a:spcBef>
                <a:spcPts val="0"/>
              </a:spcBef>
              <a:spcAft>
                <a:spcPts val="0"/>
              </a:spcAft>
              <a:buSzPts val="12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1">
  <p:cSld name="CUSTOM_6">
    <p:spTree>
      <p:nvGrpSpPr>
        <p:cNvPr id="717" name="Shape 717"/>
        <p:cNvGrpSpPr/>
        <p:nvPr/>
      </p:nvGrpSpPr>
      <p:grpSpPr>
        <a:xfrm>
          <a:off x="0" y="0"/>
          <a:ext cx="0" cy="0"/>
          <a:chOff x="0" y="0"/>
          <a:chExt cx="0" cy="0"/>
        </a:xfrm>
      </p:grpSpPr>
      <p:grpSp>
        <p:nvGrpSpPr>
          <p:cNvPr id="718" name="Google Shape;718;p18"/>
          <p:cNvGrpSpPr/>
          <p:nvPr/>
        </p:nvGrpSpPr>
        <p:grpSpPr>
          <a:xfrm>
            <a:off x="715097" y="4608489"/>
            <a:ext cx="1105788" cy="1058857"/>
            <a:chOff x="4252810" y="2035226"/>
            <a:chExt cx="624951" cy="598394"/>
          </a:xfrm>
        </p:grpSpPr>
        <p:sp>
          <p:nvSpPr>
            <p:cNvPr id="719" name="Google Shape;719;p18"/>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 name="Google Shape;720;p18"/>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18"/>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18"/>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8"/>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8"/>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8"/>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p18"/>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p18"/>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18"/>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 name="Google Shape;729;p18"/>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 name="Google Shape;730;p18"/>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18"/>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18"/>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18"/>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18"/>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p18"/>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18"/>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18"/>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18"/>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18"/>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18"/>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18"/>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 name="Google Shape;742;p18"/>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 name="Google Shape;743;p18"/>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18"/>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18"/>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 name="Google Shape;746;p18"/>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18"/>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8"/>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8"/>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18"/>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8"/>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p18"/>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18"/>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18"/>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18"/>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18"/>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18"/>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 name="Google Shape;758;p18"/>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 name="Google Shape;759;p18"/>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p18"/>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61" name="Google Shape;761;p18"/>
          <p:cNvSpPr/>
          <p:nvPr/>
        </p:nvSpPr>
        <p:spPr>
          <a:xfrm rot="10800000">
            <a:off x="-1186000" y="-1089775"/>
            <a:ext cx="1901100" cy="30219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762" name="Google Shape;762;p18"/>
          <p:cNvGrpSpPr/>
          <p:nvPr/>
        </p:nvGrpSpPr>
        <p:grpSpPr>
          <a:xfrm>
            <a:off x="7428836" y="-1089774"/>
            <a:ext cx="1617386" cy="1624770"/>
            <a:chOff x="3992334" y="189904"/>
            <a:chExt cx="1116902" cy="1122001"/>
          </a:xfrm>
        </p:grpSpPr>
        <p:sp>
          <p:nvSpPr>
            <p:cNvPr id="763" name="Google Shape;763;p18"/>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 name="Google Shape;764;p18"/>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18"/>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 name="Google Shape;766;p18"/>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 name="Google Shape;767;p18"/>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 name="Google Shape;768;p18"/>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18"/>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 name="Google Shape;770;p18"/>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 name="Google Shape;771;p18"/>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 name="Google Shape;772;p18"/>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18"/>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74" name="Google Shape;774;p18"/>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775" name="Google Shape;775;p18"/>
          <p:cNvSpPr txBox="1"/>
          <p:nvPr>
            <p:ph idx="1" type="subTitle"/>
          </p:nvPr>
        </p:nvSpPr>
        <p:spPr>
          <a:xfrm>
            <a:off x="720000" y="2497328"/>
            <a:ext cx="2306100" cy="1581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776" name="Google Shape;776;p18"/>
          <p:cNvSpPr txBox="1"/>
          <p:nvPr>
            <p:ph idx="2" type="subTitle"/>
          </p:nvPr>
        </p:nvSpPr>
        <p:spPr>
          <a:xfrm>
            <a:off x="3419248" y="2497325"/>
            <a:ext cx="2302500" cy="1581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777" name="Google Shape;777;p18"/>
          <p:cNvSpPr txBox="1"/>
          <p:nvPr>
            <p:ph idx="3" type="subTitle"/>
          </p:nvPr>
        </p:nvSpPr>
        <p:spPr>
          <a:xfrm>
            <a:off x="6117899" y="2497325"/>
            <a:ext cx="2305500" cy="1581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778" name="Google Shape;778;p18"/>
          <p:cNvSpPr txBox="1"/>
          <p:nvPr>
            <p:ph idx="4" type="subTitle"/>
          </p:nvPr>
        </p:nvSpPr>
        <p:spPr>
          <a:xfrm>
            <a:off x="720000" y="1924276"/>
            <a:ext cx="2302500" cy="5577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779" name="Google Shape;779;p18"/>
          <p:cNvSpPr txBox="1"/>
          <p:nvPr>
            <p:ph idx="5" type="subTitle"/>
          </p:nvPr>
        </p:nvSpPr>
        <p:spPr>
          <a:xfrm>
            <a:off x="3419252" y="1924276"/>
            <a:ext cx="2305500" cy="5577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780" name="Google Shape;780;p18"/>
          <p:cNvSpPr txBox="1"/>
          <p:nvPr>
            <p:ph idx="6" type="subTitle"/>
          </p:nvPr>
        </p:nvSpPr>
        <p:spPr>
          <a:xfrm>
            <a:off x="6117899" y="1924275"/>
            <a:ext cx="2306100" cy="5577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BLANK_1_1_1_1">
    <p:spTree>
      <p:nvGrpSpPr>
        <p:cNvPr id="781" name="Shape 781"/>
        <p:cNvGrpSpPr/>
        <p:nvPr/>
      </p:nvGrpSpPr>
      <p:grpSpPr>
        <a:xfrm>
          <a:off x="0" y="0"/>
          <a:ext cx="0" cy="0"/>
          <a:chOff x="0" y="0"/>
          <a:chExt cx="0" cy="0"/>
        </a:xfrm>
      </p:grpSpPr>
      <p:sp>
        <p:nvSpPr>
          <p:cNvPr id="782" name="Google Shape;782;p19"/>
          <p:cNvSpPr/>
          <p:nvPr/>
        </p:nvSpPr>
        <p:spPr>
          <a:xfrm rot="-5400000">
            <a:off x="7712100" y="-896900"/>
            <a:ext cx="1105800" cy="1758000"/>
          </a:xfrm>
          <a:prstGeom prst="round2SameRect">
            <a:avLst>
              <a:gd fmla="val 50000"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783" name="Google Shape;783;p19"/>
          <p:cNvGrpSpPr/>
          <p:nvPr/>
        </p:nvGrpSpPr>
        <p:grpSpPr>
          <a:xfrm>
            <a:off x="-258605" y="3766327"/>
            <a:ext cx="973715" cy="978161"/>
            <a:chOff x="3992334" y="189904"/>
            <a:chExt cx="1116902" cy="1122001"/>
          </a:xfrm>
        </p:grpSpPr>
        <p:sp>
          <p:nvSpPr>
            <p:cNvPr id="784" name="Google Shape;784;p19"/>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p19"/>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19"/>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19"/>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 name="Google Shape;788;p19"/>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19"/>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 name="Google Shape;790;p19"/>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 name="Google Shape;791;p19"/>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19"/>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 name="Google Shape;793;p19"/>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 name="Google Shape;794;p19"/>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95" name="Google Shape;795;p1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796" name="Google Shape;796;p19"/>
          <p:cNvSpPr txBox="1"/>
          <p:nvPr>
            <p:ph idx="1" type="subTitle"/>
          </p:nvPr>
        </p:nvSpPr>
        <p:spPr>
          <a:xfrm>
            <a:off x="1149022" y="1148895"/>
            <a:ext cx="2967000" cy="557700"/>
          </a:xfrm>
          <a:prstGeom prst="rect">
            <a:avLst/>
          </a:prstGeom>
          <a:ln>
            <a:noFill/>
          </a:ln>
        </p:spPr>
        <p:txBody>
          <a:bodyPr anchorCtr="0" anchor="b" bIns="91425" lIns="91425" spcFirstLastPara="1" rIns="91425" wrap="square" tIns="91425">
            <a:noAutofit/>
          </a:bodyPr>
          <a:lstStyle>
            <a:lvl1pPr lvl="0" rtl="0">
              <a:lnSpc>
                <a:spcPct val="100000"/>
              </a:lnSpc>
              <a:spcBef>
                <a:spcPts val="0"/>
              </a:spcBef>
              <a:spcAft>
                <a:spcPts val="0"/>
              </a:spcAft>
              <a:buClr>
                <a:schemeClr val="dk1"/>
              </a:buClr>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p:txBody>
      </p:sp>
      <p:sp>
        <p:nvSpPr>
          <p:cNvPr id="797" name="Google Shape;797;p19"/>
          <p:cNvSpPr txBox="1"/>
          <p:nvPr>
            <p:ph idx="2" type="subTitle"/>
          </p:nvPr>
        </p:nvSpPr>
        <p:spPr>
          <a:xfrm>
            <a:off x="1149024" y="1690895"/>
            <a:ext cx="2967000" cy="1027800"/>
          </a:xfrm>
          <a:prstGeom prst="rect">
            <a:avLst/>
          </a:prstGeom>
          <a:ln>
            <a:noFill/>
          </a:ln>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798" name="Google Shape;798;p19"/>
          <p:cNvSpPr txBox="1"/>
          <p:nvPr>
            <p:ph idx="3" type="subTitle"/>
          </p:nvPr>
        </p:nvSpPr>
        <p:spPr>
          <a:xfrm>
            <a:off x="5457000" y="1690895"/>
            <a:ext cx="2967000" cy="1027800"/>
          </a:xfrm>
          <a:prstGeom prst="rect">
            <a:avLst/>
          </a:prstGeom>
          <a:ln>
            <a:noFill/>
          </a:ln>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799" name="Google Shape;799;p19"/>
          <p:cNvSpPr txBox="1"/>
          <p:nvPr>
            <p:ph idx="4" type="subTitle"/>
          </p:nvPr>
        </p:nvSpPr>
        <p:spPr>
          <a:xfrm>
            <a:off x="1149024" y="3489505"/>
            <a:ext cx="2967000" cy="1027800"/>
          </a:xfrm>
          <a:prstGeom prst="rect">
            <a:avLst/>
          </a:prstGeom>
          <a:ln>
            <a:noFill/>
          </a:ln>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800" name="Google Shape;800;p19"/>
          <p:cNvSpPr txBox="1"/>
          <p:nvPr>
            <p:ph idx="5" type="subTitle"/>
          </p:nvPr>
        </p:nvSpPr>
        <p:spPr>
          <a:xfrm>
            <a:off x="5457000" y="3489505"/>
            <a:ext cx="2967000" cy="1027800"/>
          </a:xfrm>
          <a:prstGeom prst="rect">
            <a:avLst/>
          </a:prstGeom>
          <a:ln>
            <a:noFill/>
          </a:ln>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801" name="Google Shape;801;p19"/>
          <p:cNvSpPr txBox="1"/>
          <p:nvPr>
            <p:ph idx="6" type="subTitle"/>
          </p:nvPr>
        </p:nvSpPr>
        <p:spPr>
          <a:xfrm>
            <a:off x="1149022" y="2942180"/>
            <a:ext cx="2967000" cy="557700"/>
          </a:xfrm>
          <a:prstGeom prst="rect">
            <a:avLst/>
          </a:prstGeom>
          <a:ln>
            <a:noFill/>
          </a:ln>
        </p:spPr>
        <p:txBody>
          <a:bodyPr anchorCtr="0" anchor="b" bIns="91425" lIns="91425" spcFirstLastPara="1" rIns="91425" wrap="square" tIns="91425">
            <a:noAutofit/>
          </a:bodyPr>
          <a:lstStyle>
            <a:lvl1pPr lvl="0" rtl="0">
              <a:lnSpc>
                <a:spcPct val="100000"/>
              </a:lnSpc>
              <a:spcBef>
                <a:spcPts val="0"/>
              </a:spcBef>
              <a:spcAft>
                <a:spcPts val="0"/>
              </a:spcAft>
              <a:buClr>
                <a:schemeClr val="dk1"/>
              </a:buClr>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p:txBody>
      </p:sp>
      <p:sp>
        <p:nvSpPr>
          <p:cNvPr id="802" name="Google Shape;802;p19"/>
          <p:cNvSpPr txBox="1"/>
          <p:nvPr>
            <p:ph idx="7" type="subTitle"/>
          </p:nvPr>
        </p:nvSpPr>
        <p:spPr>
          <a:xfrm>
            <a:off x="5456998" y="1157758"/>
            <a:ext cx="2967000" cy="525900"/>
          </a:xfrm>
          <a:prstGeom prst="rect">
            <a:avLst/>
          </a:prstGeom>
          <a:ln>
            <a:noFill/>
          </a:ln>
        </p:spPr>
        <p:txBody>
          <a:bodyPr anchorCtr="0" anchor="b" bIns="91425" lIns="91425" spcFirstLastPara="1" rIns="91425" wrap="square" tIns="91425">
            <a:noAutofit/>
          </a:bodyPr>
          <a:lstStyle>
            <a:lvl1pPr lvl="0" rtl="0">
              <a:lnSpc>
                <a:spcPct val="100000"/>
              </a:lnSpc>
              <a:spcBef>
                <a:spcPts val="0"/>
              </a:spcBef>
              <a:spcAft>
                <a:spcPts val="0"/>
              </a:spcAft>
              <a:buClr>
                <a:schemeClr val="dk1"/>
              </a:buClr>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p:txBody>
      </p:sp>
      <p:sp>
        <p:nvSpPr>
          <p:cNvPr id="803" name="Google Shape;803;p19"/>
          <p:cNvSpPr txBox="1"/>
          <p:nvPr>
            <p:ph idx="8" type="subTitle"/>
          </p:nvPr>
        </p:nvSpPr>
        <p:spPr>
          <a:xfrm>
            <a:off x="5456998" y="2942180"/>
            <a:ext cx="2967000" cy="557700"/>
          </a:xfrm>
          <a:prstGeom prst="rect">
            <a:avLst/>
          </a:prstGeom>
          <a:ln>
            <a:noFill/>
          </a:ln>
        </p:spPr>
        <p:txBody>
          <a:bodyPr anchorCtr="0" anchor="b" bIns="91425" lIns="91425" spcFirstLastPara="1" rIns="91425" wrap="square" tIns="91425">
            <a:noAutofit/>
          </a:bodyPr>
          <a:lstStyle>
            <a:lvl1pPr lvl="0" rtl="0">
              <a:lnSpc>
                <a:spcPct val="100000"/>
              </a:lnSpc>
              <a:spcBef>
                <a:spcPts val="0"/>
              </a:spcBef>
              <a:spcAft>
                <a:spcPts val="0"/>
              </a:spcAft>
              <a:buClr>
                <a:schemeClr val="dk1"/>
              </a:buClr>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2pPr>
            <a:lvl3pPr lvl="2"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3pPr>
            <a:lvl4pPr lvl="3"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4pPr>
            <a:lvl5pPr lvl="4"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5pPr>
            <a:lvl6pPr lvl="5"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6pPr>
            <a:lvl7pPr lvl="6"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7pPr>
            <a:lvl8pPr lvl="7"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8pPr>
            <a:lvl9pPr lvl="8" rtl="0" algn="ctr">
              <a:lnSpc>
                <a:spcPct val="100000"/>
              </a:lnSpc>
              <a:spcBef>
                <a:spcPts val="0"/>
              </a:spcBef>
              <a:spcAft>
                <a:spcPts val="0"/>
              </a:spcAft>
              <a:buClr>
                <a:schemeClr val="dk1"/>
              </a:buClr>
              <a:buSzPts val="2400"/>
              <a:buFont typeface="Raleway"/>
              <a:buNone/>
              <a:defRPr sz="2400">
                <a:solidFill>
                  <a:schemeClr val="dk1"/>
                </a:solidFill>
                <a:latin typeface="Raleway"/>
                <a:ea typeface="Raleway"/>
                <a:cs typeface="Raleway"/>
                <a:sym typeface="Raleway"/>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7">
    <p:spTree>
      <p:nvGrpSpPr>
        <p:cNvPr id="804" name="Shape 804"/>
        <p:cNvGrpSpPr/>
        <p:nvPr/>
      </p:nvGrpSpPr>
      <p:grpSpPr>
        <a:xfrm>
          <a:off x="0" y="0"/>
          <a:ext cx="0" cy="0"/>
          <a:chOff x="0" y="0"/>
          <a:chExt cx="0" cy="0"/>
        </a:xfrm>
      </p:grpSpPr>
      <p:grpSp>
        <p:nvGrpSpPr>
          <p:cNvPr id="805" name="Google Shape;805;p20"/>
          <p:cNvGrpSpPr/>
          <p:nvPr/>
        </p:nvGrpSpPr>
        <p:grpSpPr>
          <a:xfrm>
            <a:off x="6081647" y="-523861"/>
            <a:ext cx="2337963" cy="1058857"/>
            <a:chOff x="867497" y="4760889"/>
            <a:chExt cx="2337963" cy="1058857"/>
          </a:xfrm>
        </p:grpSpPr>
        <p:grpSp>
          <p:nvGrpSpPr>
            <p:cNvPr id="806" name="Google Shape;806;p20"/>
            <p:cNvGrpSpPr/>
            <p:nvPr/>
          </p:nvGrpSpPr>
          <p:grpSpPr>
            <a:xfrm>
              <a:off x="2099672" y="4760889"/>
              <a:ext cx="1105788" cy="1058857"/>
              <a:chOff x="4252810" y="2035226"/>
              <a:chExt cx="624951" cy="598394"/>
            </a:xfrm>
          </p:grpSpPr>
          <p:sp>
            <p:nvSpPr>
              <p:cNvPr id="807" name="Google Shape;807;p20"/>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20"/>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 name="Google Shape;809;p20"/>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20"/>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20"/>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20"/>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 name="Google Shape;813;p20"/>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20"/>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20"/>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 name="Google Shape;816;p20"/>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 name="Google Shape;817;p20"/>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20"/>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20"/>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 name="Google Shape;820;p20"/>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p20"/>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20"/>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20"/>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 name="Google Shape;824;p20"/>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20"/>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20"/>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20"/>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 name="Google Shape;828;p20"/>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 name="Google Shape;829;p20"/>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20"/>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20"/>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 name="Google Shape;832;p20"/>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 name="Google Shape;833;p20"/>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 name="Google Shape;834;p20"/>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 name="Google Shape;835;p20"/>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20"/>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20"/>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 name="Google Shape;838;p20"/>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20"/>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20"/>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20"/>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20"/>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 name="Google Shape;843;p20"/>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 name="Google Shape;844;p20"/>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20"/>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 name="Google Shape;846;p20"/>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20"/>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 name="Google Shape;848;p20"/>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49" name="Google Shape;849;p20"/>
            <p:cNvGrpSpPr/>
            <p:nvPr/>
          </p:nvGrpSpPr>
          <p:grpSpPr>
            <a:xfrm>
              <a:off x="867497" y="4760889"/>
              <a:ext cx="1105788" cy="1058857"/>
              <a:chOff x="4252810" y="2035226"/>
              <a:chExt cx="624951" cy="598394"/>
            </a:xfrm>
          </p:grpSpPr>
          <p:sp>
            <p:nvSpPr>
              <p:cNvPr id="850" name="Google Shape;850;p20"/>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20"/>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20"/>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20"/>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 name="Google Shape;854;p20"/>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20"/>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20"/>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 name="Google Shape;857;p20"/>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 name="Google Shape;858;p20"/>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20"/>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20"/>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20"/>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 name="Google Shape;862;p20"/>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20"/>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 name="Google Shape;864;p20"/>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 name="Google Shape;865;p20"/>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20"/>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20"/>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20"/>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20"/>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20"/>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 name="Google Shape;871;p20"/>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20"/>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20"/>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 name="Google Shape;874;p20"/>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20"/>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20"/>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20"/>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20"/>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 name="Google Shape;879;p20"/>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p20"/>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 name="Google Shape;881;p20"/>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 name="Google Shape;882;p20"/>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20"/>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 name="Google Shape;884;p20"/>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 name="Google Shape;885;p20"/>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20"/>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20"/>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20"/>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20"/>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20"/>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 name="Google Shape;891;p20"/>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92" name="Google Shape;892;p20"/>
          <p:cNvGrpSpPr/>
          <p:nvPr/>
        </p:nvGrpSpPr>
        <p:grpSpPr>
          <a:xfrm>
            <a:off x="8419611" y="3357988"/>
            <a:ext cx="1617386" cy="1624770"/>
            <a:chOff x="3992334" y="189904"/>
            <a:chExt cx="1116902" cy="1122001"/>
          </a:xfrm>
        </p:grpSpPr>
        <p:sp>
          <p:nvSpPr>
            <p:cNvPr id="893" name="Google Shape;893;p20"/>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20"/>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 name="Google Shape;895;p20"/>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 name="Google Shape;896;p20"/>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p20"/>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 name="Google Shape;898;p20"/>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 name="Google Shape;899;p20"/>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20"/>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 name="Google Shape;901;p20"/>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 name="Google Shape;902;p20"/>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 name="Google Shape;903;p20"/>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04" name="Google Shape;904;p20"/>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905" name="Google Shape;905;p20"/>
          <p:cNvSpPr txBox="1"/>
          <p:nvPr>
            <p:ph idx="1" type="subTitle"/>
          </p:nvPr>
        </p:nvSpPr>
        <p:spPr>
          <a:xfrm>
            <a:off x="1101000" y="1746910"/>
            <a:ext cx="2084700" cy="1024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906" name="Google Shape;906;p20"/>
          <p:cNvSpPr txBox="1"/>
          <p:nvPr>
            <p:ph idx="2" type="subTitle"/>
          </p:nvPr>
        </p:nvSpPr>
        <p:spPr>
          <a:xfrm>
            <a:off x="3717949" y="1746910"/>
            <a:ext cx="2084700" cy="1024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907" name="Google Shape;907;p20"/>
          <p:cNvSpPr txBox="1"/>
          <p:nvPr>
            <p:ph idx="3" type="subTitle"/>
          </p:nvPr>
        </p:nvSpPr>
        <p:spPr>
          <a:xfrm>
            <a:off x="1101000" y="3584302"/>
            <a:ext cx="2085900" cy="1024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908" name="Google Shape;908;p20"/>
          <p:cNvSpPr txBox="1"/>
          <p:nvPr>
            <p:ph idx="4" type="subTitle"/>
          </p:nvPr>
        </p:nvSpPr>
        <p:spPr>
          <a:xfrm>
            <a:off x="3717949" y="3584302"/>
            <a:ext cx="2085900" cy="1024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909" name="Google Shape;909;p20"/>
          <p:cNvSpPr txBox="1"/>
          <p:nvPr>
            <p:ph idx="5" type="subTitle"/>
          </p:nvPr>
        </p:nvSpPr>
        <p:spPr>
          <a:xfrm>
            <a:off x="6334911" y="1746910"/>
            <a:ext cx="2084700" cy="1024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910" name="Google Shape;910;p20"/>
          <p:cNvSpPr txBox="1"/>
          <p:nvPr>
            <p:ph idx="6" type="subTitle"/>
          </p:nvPr>
        </p:nvSpPr>
        <p:spPr>
          <a:xfrm>
            <a:off x="6334911" y="3584302"/>
            <a:ext cx="2084700" cy="1024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b="1"/>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911" name="Google Shape;911;p20"/>
          <p:cNvSpPr txBox="1"/>
          <p:nvPr>
            <p:ph idx="7" type="subTitle"/>
          </p:nvPr>
        </p:nvSpPr>
        <p:spPr>
          <a:xfrm>
            <a:off x="1101000" y="1373025"/>
            <a:ext cx="2085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912" name="Google Shape;912;p20"/>
          <p:cNvSpPr txBox="1"/>
          <p:nvPr>
            <p:ph idx="8" type="subTitle"/>
          </p:nvPr>
        </p:nvSpPr>
        <p:spPr>
          <a:xfrm>
            <a:off x="3717956" y="1373025"/>
            <a:ext cx="2085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913" name="Google Shape;913;p20"/>
          <p:cNvSpPr txBox="1"/>
          <p:nvPr>
            <p:ph idx="9" type="subTitle"/>
          </p:nvPr>
        </p:nvSpPr>
        <p:spPr>
          <a:xfrm>
            <a:off x="6334911" y="1373025"/>
            <a:ext cx="2085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914" name="Google Shape;914;p20"/>
          <p:cNvSpPr txBox="1"/>
          <p:nvPr>
            <p:ph idx="13" type="subTitle"/>
          </p:nvPr>
        </p:nvSpPr>
        <p:spPr>
          <a:xfrm>
            <a:off x="1101000" y="3207204"/>
            <a:ext cx="2085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915" name="Google Shape;915;p20"/>
          <p:cNvSpPr txBox="1"/>
          <p:nvPr>
            <p:ph idx="14" type="subTitle"/>
          </p:nvPr>
        </p:nvSpPr>
        <p:spPr>
          <a:xfrm>
            <a:off x="3717949" y="3207204"/>
            <a:ext cx="2085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
        <p:nvSpPr>
          <p:cNvPr id="916" name="Google Shape;916;p20"/>
          <p:cNvSpPr txBox="1"/>
          <p:nvPr>
            <p:ph idx="15" type="subTitle"/>
          </p:nvPr>
        </p:nvSpPr>
        <p:spPr>
          <a:xfrm>
            <a:off x="6334911" y="3207204"/>
            <a:ext cx="20859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b="1" sz="1800">
                <a:solidFill>
                  <a:schemeClr val="dk1"/>
                </a:solidFill>
                <a:latin typeface="Raleway"/>
                <a:ea typeface="Raleway"/>
                <a:cs typeface="Raleway"/>
                <a:sym typeface="Raleway"/>
              </a:defRPr>
            </a:lvl1pPr>
            <a:lvl2pPr lvl="1" rtl="0" algn="ctr">
              <a:lnSpc>
                <a:spcPct val="100000"/>
              </a:lnSpc>
              <a:spcBef>
                <a:spcPts val="0"/>
              </a:spcBef>
              <a:spcAft>
                <a:spcPts val="0"/>
              </a:spcAft>
              <a:buSzPts val="2400"/>
              <a:buFont typeface="Raleway"/>
              <a:buNone/>
              <a:defRPr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sz="2400">
                <a:latin typeface="Raleway"/>
                <a:ea typeface="Raleway"/>
                <a:cs typeface="Raleway"/>
                <a:sym typeface="Raleway"/>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CUSTOM_9">
    <p:spTree>
      <p:nvGrpSpPr>
        <p:cNvPr id="917" name="Shape 917"/>
        <p:cNvGrpSpPr/>
        <p:nvPr/>
      </p:nvGrpSpPr>
      <p:grpSpPr>
        <a:xfrm>
          <a:off x="0" y="0"/>
          <a:ext cx="0" cy="0"/>
          <a:chOff x="0" y="0"/>
          <a:chExt cx="0" cy="0"/>
        </a:xfrm>
      </p:grpSpPr>
      <p:sp>
        <p:nvSpPr>
          <p:cNvPr id="918" name="Google Shape;918;p2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919" name="Google Shape;919;p21"/>
          <p:cNvSpPr/>
          <p:nvPr/>
        </p:nvSpPr>
        <p:spPr>
          <a:xfrm rot="5400000">
            <a:off x="141300" y="4200500"/>
            <a:ext cx="1901100" cy="3021900"/>
          </a:xfrm>
          <a:prstGeom prst="round2SameRect">
            <a:avLst>
              <a:gd fmla="val 50000" name="adj1"/>
              <a:gd fmla="val 0" name="adj2"/>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920" name="Google Shape;920;p21"/>
          <p:cNvGrpSpPr/>
          <p:nvPr/>
        </p:nvGrpSpPr>
        <p:grpSpPr>
          <a:xfrm>
            <a:off x="7565823" y="-1089762"/>
            <a:ext cx="1617386" cy="1624770"/>
            <a:chOff x="3992334" y="189904"/>
            <a:chExt cx="1116902" cy="1122001"/>
          </a:xfrm>
        </p:grpSpPr>
        <p:sp>
          <p:nvSpPr>
            <p:cNvPr id="921" name="Google Shape;921;p21"/>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21"/>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 name="Google Shape;923;p21"/>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21"/>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 name="Google Shape;925;p21"/>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21"/>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 name="Google Shape;927;p21"/>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21"/>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21"/>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 name="Google Shape;930;p21"/>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 name="Google Shape;931;p21"/>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BLANK_1_1_1_1_1_1_2">
    <p:spTree>
      <p:nvGrpSpPr>
        <p:cNvPr id="932" name="Shape 932"/>
        <p:cNvGrpSpPr/>
        <p:nvPr/>
      </p:nvGrpSpPr>
      <p:grpSpPr>
        <a:xfrm>
          <a:off x="0" y="0"/>
          <a:ext cx="0" cy="0"/>
          <a:chOff x="0" y="0"/>
          <a:chExt cx="0" cy="0"/>
        </a:xfrm>
      </p:grpSpPr>
      <p:sp>
        <p:nvSpPr>
          <p:cNvPr id="933" name="Google Shape;933;p22"/>
          <p:cNvSpPr txBox="1"/>
          <p:nvPr>
            <p:ph type="ctrTitle"/>
          </p:nvPr>
        </p:nvSpPr>
        <p:spPr>
          <a:xfrm>
            <a:off x="2682900" y="535000"/>
            <a:ext cx="3778200" cy="9978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934" name="Google Shape;934;p22"/>
          <p:cNvSpPr txBox="1"/>
          <p:nvPr>
            <p:ph idx="1" type="subTitle"/>
          </p:nvPr>
        </p:nvSpPr>
        <p:spPr>
          <a:xfrm>
            <a:off x="2682900" y="1493525"/>
            <a:ext cx="3778200" cy="9978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200"/>
              <a:buNone/>
              <a:defRPr b="1" sz="1600"/>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sp>
        <p:nvSpPr>
          <p:cNvPr id="935" name="Google Shape;935;p22"/>
          <p:cNvSpPr txBox="1"/>
          <p:nvPr/>
        </p:nvSpPr>
        <p:spPr>
          <a:xfrm>
            <a:off x="2471250" y="3496925"/>
            <a:ext cx="4201500" cy="6156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b="1" lang="en" sz="1000">
                <a:solidFill>
                  <a:schemeClr val="dk1"/>
                </a:solidFill>
                <a:latin typeface="Nanum Gothic"/>
                <a:ea typeface="Nanum Gothic"/>
                <a:cs typeface="Nanum Gothic"/>
                <a:sym typeface="Nanum Gothic"/>
              </a:rPr>
              <a:t>CREDITS: This presentation template was created by </a:t>
            </a:r>
            <a:r>
              <a:rPr b="1" lang="en" sz="1000" u="sng">
                <a:solidFill>
                  <a:schemeClr val="dk1"/>
                </a:solidFill>
                <a:latin typeface="Nanum Gothic"/>
                <a:ea typeface="Nanum Gothic"/>
                <a:cs typeface="Nanum Gothic"/>
                <a:sym typeface="Nanum Gothic"/>
                <a:hlinkClick r:id="rId2">
                  <a:extLst>
                    <a:ext uri="{A12FA001-AC4F-418D-AE19-62706E023703}">
                      <ahyp:hlinkClr val="tx"/>
                    </a:ext>
                  </a:extLst>
                </a:hlinkClick>
              </a:rPr>
              <a:t>Slidesgo</a:t>
            </a:r>
            <a:r>
              <a:rPr b="1" lang="en" sz="1000" u="sng">
                <a:solidFill>
                  <a:schemeClr val="dk1"/>
                </a:solidFill>
                <a:latin typeface="Nanum Gothic"/>
                <a:ea typeface="Nanum Gothic"/>
                <a:cs typeface="Nanum Gothic"/>
                <a:sym typeface="Nanum Gothic"/>
              </a:rPr>
              <a:t>,</a:t>
            </a:r>
            <a:r>
              <a:rPr b="1" lang="en" sz="1000">
                <a:solidFill>
                  <a:schemeClr val="dk1"/>
                </a:solidFill>
                <a:latin typeface="Nanum Gothic"/>
                <a:ea typeface="Nanum Gothic"/>
                <a:cs typeface="Nanum Gothic"/>
                <a:sym typeface="Nanum Gothic"/>
              </a:rPr>
              <a:t> </a:t>
            </a:r>
            <a:r>
              <a:rPr b="1" lang="en" sz="1000">
                <a:solidFill>
                  <a:schemeClr val="dk1"/>
                </a:solidFill>
                <a:latin typeface="Nanum Gothic"/>
                <a:ea typeface="Nanum Gothic"/>
                <a:cs typeface="Nanum Gothic"/>
                <a:sym typeface="Nanum Gothic"/>
              </a:rPr>
              <a:t>and includes </a:t>
            </a:r>
            <a:r>
              <a:rPr b="1" lang="en" sz="1000">
                <a:solidFill>
                  <a:schemeClr val="dk1"/>
                </a:solidFill>
                <a:latin typeface="Nanum Gothic"/>
                <a:ea typeface="Nanum Gothic"/>
                <a:cs typeface="Nanum Gothic"/>
                <a:sym typeface="Nanum Gothic"/>
              </a:rPr>
              <a:t>icons by </a:t>
            </a:r>
            <a:r>
              <a:rPr b="1" lang="en" sz="1000" u="sng">
                <a:solidFill>
                  <a:schemeClr val="dk1"/>
                </a:solidFill>
                <a:latin typeface="Nanum Gothic"/>
                <a:ea typeface="Nanum Gothic"/>
                <a:cs typeface="Nanum Gothic"/>
                <a:sym typeface="Nanum Gothic"/>
                <a:hlinkClick r:id="rId3">
                  <a:extLst>
                    <a:ext uri="{A12FA001-AC4F-418D-AE19-62706E023703}">
                      <ahyp:hlinkClr val="tx"/>
                    </a:ext>
                  </a:extLst>
                </a:hlinkClick>
              </a:rPr>
              <a:t>Flaticon</a:t>
            </a:r>
            <a:r>
              <a:rPr b="1" lang="en" sz="1000">
                <a:solidFill>
                  <a:schemeClr val="dk1"/>
                </a:solidFill>
                <a:latin typeface="Nanum Gothic"/>
                <a:ea typeface="Nanum Gothic"/>
                <a:cs typeface="Nanum Gothic"/>
                <a:sym typeface="Nanum Gothic"/>
              </a:rPr>
              <a:t> and infographics &amp; images by </a:t>
            </a:r>
            <a:r>
              <a:rPr b="1" lang="en" sz="1000" u="sng">
                <a:solidFill>
                  <a:schemeClr val="dk1"/>
                </a:solidFill>
                <a:latin typeface="Nanum Gothic"/>
                <a:ea typeface="Nanum Gothic"/>
                <a:cs typeface="Nanum Gothic"/>
                <a:sym typeface="Nanum Gothic"/>
                <a:hlinkClick r:id="rId4">
                  <a:extLst>
                    <a:ext uri="{A12FA001-AC4F-418D-AE19-62706E023703}">
                      <ahyp:hlinkClr val="tx"/>
                    </a:ext>
                  </a:extLst>
                </a:hlinkClick>
              </a:rPr>
              <a:t>Freepik</a:t>
            </a:r>
            <a:endParaRPr b="1" sz="1000" u="sng">
              <a:solidFill>
                <a:schemeClr val="dk1"/>
              </a:solidFill>
              <a:highlight>
                <a:srgbClr val="DFDEFC"/>
              </a:highlight>
              <a:latin typeface="Nanum Gothic"/>
              <a:ea typeface="Nanum Gothic"/>
              <a:cs typeface="Nanum Gothic"/>
              <a:sym typeface="Nanum Gothic"/>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BLANK_1_1_1_1_1_1_1">
    <p:spTree>
      <p:nvGrpSpPr>
        <p:cNvPr id="936" name="Shape 936"/>
        <p:cNvGrpSpPr/>
        <p:nvPr/>
      </p:nvGrpSpPr>
      <p:grpSpPr>
        <a:xfrm>
          <a:off x="0" y="0"/>
          <a:ext cx="0" cy="0"/>
          <a:chOff x="0" y="0"/>
          <a:chExt cx="0" cy="0"/>
        </a:xfrm>
      </p:grpSpPr>
      <p:sp>
        <p:nvSpPr>
          <p:cNvPr id="937" name="Google Shape;937;p23"/>
          <p:cNvSpPr/>
          <p:nvPr/>
        </p:nvSpPr>
        <p:spPr>
          <a:xfrm rot="5400000">
            <a:off x="320000" y="-1440525"/>
            <a:ext cx="1727100" cy="2745600"/>
          </a:xfrm>
          <a:prstGeom prst="round2SameRect">
            <a:avLst>
              <a:gd fmla="val 50000"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sp>
        <p:nvSpPr>
          <p:cNvPr id="938" name="Google Shape;938;p23"/>
          <p:cNvSpPr/>
          <p:nvPr/>
        </p:nvSpPr>
        <p:spPr>
          <a:xfrm rot="10800000">
            <a:off x="8603150" y="0"/>
            <a:ext cx="1105800" cy="17580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939" name="Google Shape;939;p23"/>
          <p:cNvGrpSpPr/>
          <p:nvPr/>
        </p:nvGrpSpPr>
        <p:grpSpPr>
          <a:xfrm>
            <a:off x="7858386" y="4140601"/>
            <a:ext cx="1617386" cy="1624770"/>
            <a:chOff x="3992334" y="189904"/>
            <a:chExt cx="1116902" cy="1122001"/>
          </a:xfrm>
        </p:grpSpPr>
        <p:sp>
          <p:nvSpPr>
            <p:cNvPr id="940" name="Google Shape;940;p23"/>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23"/>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23"/>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 name="Google Shape;943;p23"/>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23"/>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23"/>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23"/>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 name="Google Shape;947;p23"/>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23"/>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 name="Google Shape;949;p23"/>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23"/>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1" name="Google Shape;951;p23"/>
          <p:cNvGrpSpPr/>
          <p:nvPr/>
        </p:nvGrpSpPr>
        <p:grpSpPr>
          <a:xfrm>
            <a:off x="-45478" y="4162264"/>
            <a:ext cx="1105788" cy="1058857"/>
            <a:chOff x="4252810" y="2035226"/>
            <a:chExt cx="624951" cy="598394"/>
          </a:xfrm>
        </p:grpSpPr>
        <p:sp>
          <p:nvSpPr>
            <p:cNvPr id="952" name="Google Shape;952;p23"/>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 name="Google Shape;953;p23"/>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23"/>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23"/>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23"/>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23"/>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 name="Google Shape;958;p23"/>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 name="Google Shape;959;p23"/>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23"/>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 name="Google Shape;961;p23"/>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23"/>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23"/>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23"/>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23"/>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23"/>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 name="Google Shape;967;p23"/>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23"/>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23"/>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 name="Google Shape;970;p23"/>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23"/>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23"/>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p23"/>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 name="Google Shape;974;p23"/>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 name="Google Shape;975;p23"/>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23"/>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23"/>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23"/>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23"/>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 name="Google Shape;980;p23"/>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 name="Google Shape;981;p23"/>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 name="Google Shape;982;p23"/>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23"/>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23"/>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 name="Google Shape;985;p23"/>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 name="Google Shape;986;p23"/>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23"/>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23"/>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23"/>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23"/>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 name="Google Shape;991;p23"/>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 name="Google Shape;992;p23"/>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23"/>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4" name="Google Shape;994;p23"/>
          <p:cNvGrpSpPr/>
          <p:nvPr/>
        </p:nvGrpSpPr>
        <p:grpSpPr>
          <a:xfrm>
            <a:off x="8864897" y="97489"/>
            <a:ext cx="1105788" cy="1058857"/>
            <a:chOff x="4252810" y="2035226"/>
            <a:chExt cx="624951" cy="598394"/>
          </a:xfrm>
        </p:grpSpPr>
        <p:sp>
          <p:nvSpPr>
            <p:cNvPr id="995" name="Google Shape;995;p23"/>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23"/>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 name="Google Shape;997;p23"/>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 name="Google Shape;998;p23"/>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23"/>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 name="Google Shape;1000;p23"/>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 name="Google Shape;1001;p23"/>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p23"/>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 name="Google Shape;1003;p23"/>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 name="Google Shape;1004;p23"/>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23"/>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23"/>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 name="Google Shape;1007;p23"/>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23"/>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 name="Google Shape;1009;p23"/>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23"/>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23"/>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 name="Google Shape;1012;p23"/>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p23"/>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23"/>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23"/>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23"/>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23"/>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23"/>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 name="Google Shape;1019;p23"/>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 name="Google Shape;1020;p23"/>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 name="Google Shape;1021;p23"/>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23"/>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 name="Google Shape;1023;p23"/>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 name="Google Shape;1024;p23"/>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 name="Google Shape;1025;p23"/>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 name="Google Shape;1026;p23"/>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23"/>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23"/>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 name="Google Shape;1029;p23"/>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23"/>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23"/>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23"/>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23"/>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23"/>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23"/>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 name="Google Shape;1036;p23"/>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BLANK_1_1_1_1_1_1_1_1">
    <p:spTree>
      <p:nvGrpSpPr>
        <p:cNvPr id="1037" name="Shape 1037"/>
        <p:cNvGrpSpPr/>
        <p:nvPr/>
      </p:nvGrpSpPr>
      <p:grpSpPr>
        <a:xfrm>
          <a:off x="0" y="0"/>
          <a:ext cx="0" cy="0"/>
          <a:chOff x="0" y="0"/>
          <a:chExt cx="0" cy="0"/>
        </a:xfrm>
      </p:grpSpPr>
      <p:grpSp>
        <p:nvGrpSpPr>
          <p:cNvPr id="1038" name="Google Shape;1038;p24"/>
          <p:cNvGrpSpPr/>
          <p:nvPr/>
        </p:nvGrpSpPr>
        <p:grpSpPr>
          <a:xfrm>
            <a:off x="715097" y="4608489"/>
            <a:ext cx="1105788" cy="1058857"/>
            <a:chOff x="4252810" y="2035226"/>
            <a:chExt cx="624951" cy="598394"/>
          </a:xfrm>
        </p:grpSpPr>
        <p:sp>
          <p:nvSpPr>
            <p:cNvPr id="1039" name="Google Shape;1039;p24"/>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24"/>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p24"/>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24"/>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24"/>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24"/>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 name="Google Shape;1045;p24"/>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 name="Google Shape;1046;p24"/>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24"/>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 name="Google Shape;1048;p24"/>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 name="Google Shape;1049;p24"/>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24"/>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24"/>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24"/>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p24"/>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 name="Google Shape;1054;p24"/>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 name="Google Shape;1055;p24"/>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24"/>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 name="Google Shape;1057;p24"/>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24"/>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 name="Google Shape;1059;p24"/>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24"/>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 name="Google Shape;1061;p24"/>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24"/>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 name="Google Shape;1063;p24"/>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24"/>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 name="Google Shape;1065;p24"/>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24"/>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24"/>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24"/>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p24"/>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 name="Google Shape;1070;p24"/>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 name="Google Shape;1071;p24"/>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24"/>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24"/>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24"/>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24"/>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 name="Google Shape;1076;p24"/>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24"/>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24"/>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24"/>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 name="Google Shape;1080;p24"/>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81" name="Google Shape;1081;p24"/>
          <p:cNvSpPr/>
          <p:nvPr/>
        </p:nvSpPr>
        <p:spPr>
          <a:xfrm rot="10800000">
            <a:off x="-1186000" y="-1089775"/>
            <a:ext cx="1901100" cy="30219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grpSp>
        <p:nvGrpSpPr>
          <p:cNvPr id="1082" name="Google Shape;1082;p24"/>
          <p:cNvGrpSpPr/>
          <p:nvPr/>
        </p:nvGrpSpPr>
        <p:grpSpPr>
          <a:xfrm>
            <a:off x="7428836" y="-1089774"/>
            <a:ext cx="1617386" cy="1624770"/>
            <a:chOff x="3992334" y="189904"/>
            <a:chExt cx="1116902" cy="1122001"/>
          </a:xfrm>
        </p:grpSpPr>
        <p:sp>
          <p:nvSpPr>
            <p:cNvPr id="1083" name="Google Shape;1083;p24"/>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24"/>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 name="Google Shape;1085;p24"/>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 name="Google Shape;1086;p24"/>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24"/>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24"/>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24"/>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24"/>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 name="Google Shape;1091;p24"/>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24"/>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 name="Google Shape;1093;p24"/>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097" name="Shape 1097"/>
        <p:cNvGrpSpPr/>
        <p:nvPr/>
      </p:nvGrpSpPr>
      <p:grpSpPr>
        <a:xfrm>
          <a:off x="0" y="0"/>
          <a:ext cx="0" cy="0"/>
          <a:chOff x="0" y="0"/>
          <a:chExt cx="0" cy="0"/>
        </a:xfrm>
      </p:grpSpPr>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CUSTOM">
    <p:spTree>
      <p:nvGrpSpPr>
        <p:cNvPr id="1098" name="Shape 1098"/>
        <p:cNvGrpSpPr/>
        <p:nvPr/>
      </p:nvGrpSpPr>
      <p:grpSpPr>
        <a:xfrm>
          <a:off x="0" y="0"/>
          <a:ext cx="0" cy="0"/>
          <a:chOff x="0" y="0"/>
          <a:chExt cx="0" cy="0"/>
        </a:xfrm>
      </p:grpSpPr>
      <p:sp>
        <p:nvSpPr>
          <p:cNvPr id="1099" name="Google Shape;1099;p27"/>
          <p:cNvSpPr txBox="1"/>
          <p:nvPr>
            <p:ph type="title"/>
          </p:nvPr>
        </p:nvSpPr>
        <p:spPr>
          <a:xfrm>
            <a:off x="723450" y="511025"/>
            <a:ext cx="7697100" cy="4824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Font typeface="Arial"/>
              <a:buNone/>
              <a:defRPr>
                <a:solidFill>
                  <a:schemeClr val="lt1"/>
                </a:solidFill>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slideLayout" Target="../slideLayouts/slideLayout25.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5100" y="445025"/>
            <a:ext cx="7713900" cy="5727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chemeClr val="dk1"/>
              </a:buClr>
              <a:buSzPts val="3000"/>
              <a:buFont typeface="Cabin"/>
              <a:buNone/>
              <a:defRPr b="1" sz="3000">
                <a:solidFill>
                  <a:schemeClr val="dk1"/>
                </a:solidFill>
                <a:latin typeface="Cabin"/>
                <a:ea typeface="Cabin"/>
                <a:cs typeface="Cabin"/>
                <a:sym typeface="Cabin"/>
              </a:defRPr>
            </a:lvl1pPr>
            <a:lvl2pPr lvl="1"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2pPr>
            <a:lvl3pPr lvl="2"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3pPr>
            <a:lvl4pPr lvl="3"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4pPr>
            <a:lvl5pPr lvl="4"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5pPr>
            <a:lvl6pPr lvl="5"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6pPr>
            <a:lvl7pPr lvl="6"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7pPr>
            <a:lvl8pPr lvl="7"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8pPr>
            <a:lvl9pPr lvl="8" rtl="0">
              <a:spcBef>
                <a:spcPts val="0"/>
              </a:spcBef>
              <a:spcAft>
                <a:spcPts val="0"/>
              </a:spcAft>
              <a:buClr>
                <a:schemeClr val="dk1"/>
              </a:buClr>
              <a:buSzPts val="3500"/>
              <a:buFont typeface="Raleway"/>
              <a:buNone/>
              <a:defRPr sz="3500">
                <a:solidFill>
                  <a:schemeClr val="dk1"/>
                </a:solidFill>
                <a:latin typeface="Raleway"/>
                <a:ea typeface="Raleway"/>
                <a:cs typeface="Raleway"/>
                <a:sym typeface="Raleway"/>
              </a:defRPr>
            </a:lvl9pPr>
          </a:lstStyle>
          <a:p/>
        </p:txBody>
      </p:sp>
      <p:sp>
        <p:nvSpPr>
          <p:cNvPr id="7" name="Google Shape;7;p1"/>
          <p:cNvSpPr txBox="1"/>
          <p:nvPr>
            <p:ph idx="1" type="body"/>
          </p:nvPr>
        </p:nvSpPr>
        <p:spPr>
          <a:xfrm>
            <a:off x="715100" y="1152475"/>
            <a:ext cx="7713900" cy="3416400"/>
          </a:xfrm>
          <a:prstGeom prst="rect">
            <a:avLst/>
          </a:prstGeom>
          <a:noFill/>
          <a:ln>
            <a:noFill/>
          </a:ln>
        </p:spPr>
        <p:txBody>
          <a:bodyPr anchorCtr="0" anchor="t" bIns="91425" lIns="91425" spcFirstLastPara="1" rIns="91425" wrap="square" tIns="91425">
            <a:noAutofit/>
          </a:bodyPr>
          <a:lstStyle>
            <a:lvl1pPr indent="-304800" lvl="0" marL="4572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1pPr>
            <a:lvl2pPr indent="-304800" lvl="1" marL="9144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2pPr>
            <a:lvl3pPr indent="-304800" lvl="2" marL="13716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3pPr>
            <a:lvl4pPr indent="-304800" lvl="3" marL="18288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4pPr>
            <a:lvl5pPr indent="-304800" lvl="4" marL="22860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5pPr>
            <a:lvl6pPr indent="-304800" lvl="5" marL="27432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6pPr>
            <a:lvl7pPr indent="-304800" lvl="6" marL="32004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7pPr>
            <a:lvl8pPr indent="-304800" lvl="7" marL="36576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8pPr>
            <a:lvl9pPr indent="-304800" lvl="8" marL="4114800">
              <a:lnSpc>
                <a:spcPct val="100000"/>
              </a:lnSpc>
              <a:spcBef>
                <a:spcPts val="0"/>
              </a:spcBef>
              <a:spcAft>
                <a:spcPts val="0"/>
              </a:spcAft>
              <a:buClr>
                <a:schemeClr val="dk1"/>
              </a:buClr>
              <a:buSzPts val="1200"/>
              <a:buFont typeface="Nanum Gothic"/>
              <a:buChar char="■"/>
              <a:defRPr sz="1200">
                <a:solidFill>
                  <a:schemeClr val="dk1"/>
                </a:solidFill>
                <a:latin typeface="Nanum Gothic"/>
                <a:ea typeface="Nanum Gothic"/>
                <a:cs typeface="Nanum Gothic"/>
                <a:sym typeface="Nanum Gothic"/>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0E2A47"/>
        </a:solidFill>
      </p:bgPr>
    </p:bg>
    <p:spTree>
      <p:nvGrpSpPr>
        <p:cNvPr id="1094" name="Shape 1094"/>
        <p:cNvGrpSpPr/>
        <p:nvPr/>
      </p:nvGrpSpPr>
      <p:grpSpPr>
        <a:xfrm>
          <a:off x="0" y="0"/>
          <a:ext cx="0" cy="0"/>
          <a:chOff x="0" y="0"/>
          <a:chExt cx="0" cy="0"/>
        </a:xfrm>
      </p:grpSpPr>
      <p:sp>
        <p:nvSpPr>
          <p:cNvPr id="1095" name="Google Shape;1095;p25"/>
          <p:cNvSpPr txBox="1"/>
          <p:nvPr>
            <p:ph type="title"/>
          </p:nvPr>
        </p:nvSpPr>
        <p:spPr>
          <a:xfrm>
            <a:off x="1068100" y="933450"/>
            <a:ext cx="7047300" cy="482400"/>
          </a:xfrm>
          <a:prstGeom prst="rect">
            <a:avLst/>
          </a:prstGeom>
          <a:noFill/>
          <a:ln>
            <a:noFill/>
          </a:ln>
        </p:spPr>
        <p:txBody>
          <a:bodyPr anchorCtr="0" anchor="t" bIns="91425" lIns="91425" spcFirstLastPara="1" rIns="91425" wrap="square" tIns="91425">
            <a:noAutofit/>
          </a:bodyPr>
          <a:lstStyle>
            <a:lvl1pPr lvl="0"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rtl="0"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p:txBody>
      </p:sp>
      <p:sp>
        <p:nvSpPr>
          <p:cNvPr id="1096" name="Google Shape;1096;p25"/>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indent="-298450" lvl="1" marL="914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indent="-298450" lvl="2" marL="1371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indent="-298450" lvl="3" marL="1828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indent="-298450" lvl="4" marL="22860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indent="-298450" lvl="5" marL="27432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indent="-298450" lvl="6" marL="32004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indent="-298450" lvl="7" marL="36576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indent="-298450" lvl="8" marL="411480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p:txBody>
      </p:sp>
    </p:spTree>
  </p:cSld>
  <p:clrMap accent1="accent1" accent2="accent2" accent3="accent3" accent4="accent4" accent5="accent5" accent6="accent6" bg1="lt1" bg2="dk2" tx1="dk1" tx2="lt2" folHlink="folHlink" hlink="hlink"/>
  <p:sldLayoutIdLst>
    <p:sldLayoutId id="2147483671" r:id="rId1"/>
    <p:sldLayoutId id="2147483672" r:id="rId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1188720" y="1280160"/>
            <a:ext cx="6766560" cy="1463040"/>
          </a:xfrm>
        </p:spPr>
        <p:txBody>
          <a:bodyPr/>
          <a:lstStyle/>
          <a:p>
            <a:pPr marL="0" indent="0">
              <a:buNone/>
            </a:pPr>
            <a:r>
              <a:rPr sz="3200"/>
              <a:t>Detecting Cardiovascular Disease from a Routine Check-up</a:t>
            </a:r>
          </a:p>
        </p:txBody>
      </p:sp>
      <p:sp>
        <p:nvSpPr>
          <p:cNvPr id="3" name="Subtitle 2"/>
          <p:cNvSpPr>
            <a:spLocks noGrp="1"/>
          </p:cNvSpPr>
          <p:nvPr>
            <p:ph type="subTitle" idx="1"/>
          </p:nvPr>
        </p:nvSpPr>
        <p:spPr>
          <a:xfrm>
            <a:off x="1371600" y="2788920"/>
            <a:ext cx="6400800" cy="411480"/>
          </a:xfrm>
        </p:spPr>
        <p:txBody>
          <a:bodyPr/>
          <a:lstStyle/>
          <a:p>
            <a:pPr marL="0" indent="0">
              <a:buNone/>
            </a:pPr>
            <a:r>
              <a:rPr sz="1300"/>
              <a:t>Patient's Sickness Prediction · 70,000 medical examinations</a:t>
            </a:r>
          </a:p>
        </p:txBody>
      </p:sp>
      <p:pic>
        <p:nvPicPr>
          <p:cNvPr id="4" name="!!logo" descr="lu-logo-plate.png"/>
          <p:cNvPicPr>
            <a:picLocks noChangeAspect="1"/>
          </p:cNvPicPr>
          <p:nvPr/>
        </p:nvPicPr>
        <p:blipFill>
          <a:blip r:embed="rId2"/>
          <a:stretch>
            <a:fillRect/>
          </a:stretch>
        </p:blipFill>
        <p:spPr>
          <a:xfrm>
            <a:off x="4190134" y="164592"/>
            <a:ext cx="763731" cy="960120"/>
          </a:xfrm>
          <a:prstGeom prst="rect">
            <a:avLst/>
          </a:prstGeom>
        </p:spPr>
      </p:pic>
      <p:sp>
        <p:nvSpPr>
          <p:cNvPr id="5" name="!!byline"/>
          <p:cNvSpPr txBox="1"/>
          <p:nvPr/>
        </p:nvSpPr>
        <p:spPr>
          <a:xfrm>
            <a:off x="1828800" y="3520440"/>
            <a:ext cx="5486400" cy="731520"/>
          </a:xfrm>
          <a:prstGeom prst="rect">
            <a:avLst/>
          </a:prstGeom>
          <a:noFill/>
        </p:spPr>
        <p:txBody>
          <a:bodyPr wrap="square" anchor="t" lIns="0" rIns="0" tIns="0" bIns="0">
            <a:spAutoFit/>
          </a:bodyPr>
          <a:lstStyle/>
          <a:p>
            <a:pPr algn="ctr"/>
            <a:r>
              <a:rPr sz="1700" b="1" i="0">
                <a:solidFill>
                  <a:srgbClr val="0D3C4C"/>
                </a:solidFill>
                <a:latin typeface="Cabin"/>
              </a:rPr>
              <a:t>Hadi Ghazi</a:t>
            </a:r>
          </a:p>
          <a:p>
            <a:pPr algn="ctr">
              <a:spcBef>
                <a:spcPts val="300"/>
              </a:spcBef>
            </a:pPr>
            <a:r>
              <a:rPr sz="1250" b="1" i="0">
                <a:solidFill>
                  <a:srgbClr val="B23A2E"/>
                </a:solidFill>
                <a:latin typeface="Nanum Gothic"/>
              </a:rPr>
              <a:t>Lebanese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Why this matters</a:t>
            </a:r>
          </a:p>
        </p:txBody>
      </p:sp>
      <p:sp>
        <p:nvSpPr>
          <p:cNvPr id="3" name="Rounded Rectangle 2"/>
          <p:cNvSpPr/>
          <p:nvPr/>
        </p:nvSpPr>
        <p:spPr>
          <a:xfrm>
            <a:off x="722376" y="1234440"/>
            <a:ext cx="2971800" cy="342900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4" name="Oval 3"/>
          <p:cNvSpPr/>
          <p:nvPr/>
        </p:nvSpPr>
        <p:spPr>
          <a:xfrm>
            <a:off x="950976" y="1463040"/>
            <a:ext cx="640080" cy="640080"/>
          </a:xfrm>
          <a:prstGeom prst="ellipse">
            <a:avLst/>
          </a:prstGeom>
          <a:solidFill>
            <a:srgbClr val="E05A4F"/>
          </a:solidFill>
          <a:ln>
            <a:noFill/>
          </a:ln>
        </p:spPr>
        <p:txBody>
          <a:bodyPr rtlCol="0" anchor="ctr" lIns="73152" rIns="73152" tIns="27432" bIns="27432"/>
          <a:lstStyle/>
          <a:p>
            <a:pPr algn="ctr"/>
          </a:p>
        </p:txBody>
      </p:sp>
      <p:grpSp>
        <p:nvGrpSpPr>
          <p:cNvPr id="5" name="icon heart"/>
          <p:cNvGrpSpPr/>
          <p:nvPr/>
        </p:nvGrpSpPr>
        <p:grpSpPr>
          <a:xfrm>
            <a:off x="1091793" y="1627510"/>
            <a:ext cx="358444" cy="311138"/>
            <a:chOff x="-28462125" y="3199700"/>
            <a:chExt cx="298550" cy="259150"/>
          </a:xfrm>
        </p:grpSpPr>
        <p:sp>
          <p:nvSpPr>
            <p:cNvPr id="6" name="Google Shape;6328;p61"/>
            <p:cNvSpPr/>
            <p:nvPr/>
          </p:nvSpPr>
          <p:spPr>
            <a:xfrm>
              <a:off x="-28459750" y="3284775"/>
              <a:ext cx="296175" cy="104775"/>
            </a:xfrm>
            <a:custGeom>
              <a:rect b="b" l="l" r="r" t="t"/>
              <a:pathLst>
                <a:path extrusionOk="0" h="4191" w="11847">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 name="Google Shape;6329;p61"/>
            <p:cNvSpPr/>
            <p:nvPr/>
          </p:nvSpPr>
          <p:spPr>
            <a:xfrm>
              <a:off x="-28462125" y="3199700"/>
              <a:ext cx="295400" cy="125275"/>
            </a:xfrm>
            <a:custGeom>
              <a:rect b="b" l="l" r="r" t="t"/>
              <a:pathLst>
                <a:path extrusionOk="0" h="5011" w="11816">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 name="Google Shape;6330;p61"/>
            <p:cNvSpPr/>
            <p:nvPr/>
          </p:nvSpPr>
          <p:spPr>
            <a:xfrm>
              <a:off x="-28405400" y="3360375"/>
              <a:ext cx="186675" cy="98475"/>
            </a:xfrm>
            <a:custGeom>
              <a:rect b="b" l="l" r="r" t="t"/>
              <a:pathLst>
                <a:path extrusionOk="0" h="3939" w="7467">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 name="TextBox 8"/>
          <p:cNvSpPr txBox="1"/>
          <p:nvPr/>
        </p:nvSpPr>
        <p:spPr>
          <a:xfrm>
            <a:off x="950976" y="2286000"/>
            <a:ext cx="2560320" cy="548640"/>
          </a:xfrm>
          <a:prstGeom prst="rect">
            <a:avLst/>
          </a:prstGeom>
          <a:noFill/>
        </p:spPr>
        <p:txBody>
          <a:bodyPr wrap="square" anchor="t" lIns="0" rIns="0" tIns="0" bIns="0">
            <a:spAutoFit/>
          </a:bodyPr>
          <a:lstStyle/>
          <a:p>
            <a:pPr algn="l"/>
            <a:r>
              <a:rPr sz="3000" b="1" i="0">
                <a:solidFill>
                  <a:srgbClr val="B23A2E"/>
                </a:solidFill>
                <a:latin typeface="Cabin"/>
              </a:rPr>
              <a:t>19.8 million</a:t>
            </a:r>
          </a:p>
        </p:txBody>
      </p:sp>
      <p:sp>
        <p:nvSpPr>
          <p:cNvPr id="10" name="TextBox 9"/>
          <p:cNvSpPr txBox="1"/>
          <p:nvPr/>
        </p:nvSpPr>
        <p:spPr>
          <a:xfrm>
            <a:off x="950976" y="2852928"/>
            <a:ext cx="2560320" cy="822960"/>
          </a:xfrm>
          <a:prstGeom prst="rect">
            <a:avLst/>
          </a:prstGeom>
          <a:noFill/>
        </p:spPr>
        <p:txBody>
          <a:bodyPr wrap="square" anchor="t" lIns="0" rIns="0" tIns="0" bIns="0">
            <a:spAutoFit/>
          </a:bodyPr>
          <a:lstStyle/>
          <a:p>
            <a:pPr algn="l"/>
            <a:r>
              <a:rPr sz="1250" b="0" i="0">
                <a:solidFill>
                  <a:srgbClr val="0D3C4C"/>
                </a:solidFill>
                <a:latin typeface="Nanum Gothic"/>
              </a:rPr>
              <a:t>deaths from cardiovascular disease in 2022, about a third of all deaths (WHO)</a:t>
            </a:r>
          </a:p>
        </p:txBody>
      </p:sp>
      <p:sp>
        <p:nvSpPr>
          <p:cNvPr id="11" name="TextBox 10"/>
          <p:cNvSpPr txBox="1"/>
          <p:nvPr/>
        </p:nvSpPr>
        <p:spPr>
          <a:xfrm>
            <a:off x="950976" y="3767328"/>
            <a:ext cx="2560320" cy="731520"/>
          </a:xfrm>
          <a:prstGeom prst="rect">
            <a:avLst/>
          </a:prstGeom>
          <a:noFill/>
        </p:spPr>
        <p:txBody>
          <a:bodyPr wrap="square" anchor="t" lIns="0" rIns="0" tIns="0" bIns="0">
            <a:spAutoFit/>
          </a:bodyPr>
          <a:lstStyle/>
          <a:p>
            <a:pPr algn="l"/>
            <a:r>
              <a:rPr sz="1200" b="0" i="0">
                <a:solidFill>
                  <a:srgbClr val="4F6A73"/>
                </a:solidFill>
                <a:latin typeface="Nanum Gothic"/>
              </a:rPr>
              <a:t>Many could be delayed if patients at risk were found early, at an ordinary check-up.</a:t>
            </a:r>
          </a:p>
        </p:txBody>
      </p:sp>
      <p:sp>
        <p:nvSpPr>
          <p:cNvPr id="12" name="TextBox 11"/>
          <p:cNvSpPr txBox="1"/>
          <p:nvPr/>
        </p:nvSpPr>
        <p:spPr>
          <a:xfrm>
            <a:off x="4069080" y="1234440"/>
            <a:ext cx="4343400" cy="274320"/>
          </a:xfrm>
          <a:prstGeom prst="rect">
            <a:avLst/>
          </a:prstGeom>
          <a:noFill/>
        </p:spPr>
        <p:txBody>
          <a:bodyPr wrap="square" anchor="t" lIns="0" rIns="0" tIns="0" bIns="0">
            <a:spAutoFit/>
          </a:bodyPr>
          <a:lstStyle/>
          <a:p>
            <a:pPr algn="l"/>
            <a:r>
              <a:rPr sz="1050" b="1" i="0">
                <a:solidFill>
                  <a:srgbClr val="B23A2E"/>
                </a:solidFill>
                <a:latin typeface="Nanum Gothic"/>
              </a:rPr>
              <a:t>OBJECTIVE</a:t>
            </a:r>
          </a:p>
        </p:txBody>
      </p:sp>
      <p:sp>
        <p:nvSpPr>
          <p:cNvPr id="13" name="TextBox 12"/>
          <p:cNvSpPr txBox="1"/>
          <p:nvPr/>
        </p:nvSpPr>
        <p:spPr>
          <a:xfrm>
            <a:off x="4069080" y="1481328"/>
            <a:ext cx="4343400" cy="685800"/>
          </a:xfrm>
          <a:prstGeom prst="rect">
            <a:avLst/>
          </a:prstGeom>
          <a:noFill/>
        </p:spPr>
        <p:txBody>
          <a:bodyPr wrap="square" anchor="t" lIns="0" rIns="0" tIns="0" bIns="0">
            <a:spAutoFit/>
          </a:bodyPr>
          <a:lstStyle/>
          <a:p>
            <a:pPr algn="l"/>
            <a:r>
              <a:rPr sz="1450" b="1" i="0">
                <a:solidFill>
                  <a:srgbClr val="0D3C4C"/>
                </a:solidFill>
                <a:latin typeface="Cabin"/>
              </a:rPr>
              <a:t>Build a model that detects cardiovascular disease from one examination, and measure honestly how good it is</a:t>
            </a:r>
          </a:p>
        </p:txBody>
      </p:sp>
      <p:sp>
        <p:nvSpPr>
          <p:cNvPr id="14" name="!!q0"/>
          <p:cNvSpPr/>
          <p:nvPr/>
        </p:nvSpPr>
        <p:spPr>
          <a:xfrm>
            <a:off x="4069080" y="2377440"/>
            <a:ext cx="530352" cy="530352"/>
          </a:xfrm>
          <a:prstGeom prst="ellipse">
            <a:avLst/>
          </a:prstGeom>
          <a:solidFill>
            <a:srgbClr val="0D3C4C"/>
          </a:solidFill>
          <a:ln>
            <a:noFill/>
          </a:ln>
        </p:spPr>
        <p:txBody>
          <a:bodyPr rtlCol="0" anchor="ctr" lIns="73152" rIns="73152" tIns="27432" bIns="27432"/>
          <a:lstStyle/>
          <a:p>
            <a:pPr algn="ctr"/>
          </a:p>
        </p:txBody>
      </p:sp>
      <p:grpSp>
        <p:nvGrpSpPr>
          <p:cNvPr id="15" name="icon bars"/>
          <p:cNvGrpSpPr/>
          <p:nvPr/>
        </p:nvGrpSpPr>
        <p:grpSpPr>
          <a:xfrm>
            <a:off x="4185757" y="2494852"/>
            <a:ext cx="296997" cy="295527"/>
            <a:chOff x="-62151950" y="4111775"/>
            <a:chExt cx="318225" cy="316650"/>
          </a:xfrm>
        </p:grpSpPr>
        <p:sp>
          <p:nvSpPr>
            <p:cNvPr id="16" name="Google Shape;6669;p62"/>
            <p:cNvSpPr/>
            <p:nvPr/>
          </p:nvSpPr>
          <p:spPr>
            <a:xfrm>
              <a:off x="-62151950" y="4407925"/>
              <a:ext cx="318225" cy="20500"/>
            </a:xfrm>
            <a:custGeom>
              <a:rect b="b" l="l" r="r" t="t"/>
              <a:pathLst>
                <a:path extrusionOk="0" h="820" w="12729">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6670;p62"/>
            <p:cNvSpPr/>
            <p:nvPr/>
          </p:nvSpPr>
          <p:spPr>
            <a:xfrm>
              <a:off x="-62151950" y="4283475"/>
              <a:ext cx="84300" cy="104000"/>
            </a:xfrm>
            <a:custGeom>
              <a:rect b="b" l="l" r="r" t="t"/>
              <a:pathLst>
                <a:path extrusionOk="0" h="4160" w="3372">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6671;p62"/>
            <p:cNvSpPr/>
            <p:nvPr/>
          </p:nvSpPr>
          <p:spPr>
            <a:xfrm>
              <a:off x="-62033800" y="4111775"/>
              <a:ext cx="82725" cy="275700"/>
            </a:xfrm>
            <a:custGeom>
              <a:rect b="b" l="l" r="r" t="t"/>
              <a:pathLst>
                <a:path extrusionOk="0" h="11028" w="3309">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6672;p62"/>
            <p:cNvSpPr/>
            <p:nvPr/>
          </p:nvSpPr>
          <p:spPr>
            <a:xfrm>
              <a:off x="-61916450" y="4200775"/>
              <a:ext cx="82725" cy="186700"/>
            </a:xfrm>
            <a:custGeom>
              <a:rect b="b" l="l" r="r" t="t"/>
              <a:pathLst>
                <a:path extrusionOk="0" h="7468" w="3309">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 name="TextBox 19"/>
          <p:cNvSpPr txBox="1"/>
          <p:nvPr/>
        </p:nvSpPr>
        <p:spPr>
          <a:xfrm>
            <a:off x="4754880" y="2359152"/>
            <a:ext cx="3657600" cy="274320"/>
          </a:xfrm>
          <a:prstGeom prst="rect">
            <a:avLst/>
          </a:prstGeom>
          <a:noFill/>
        </p:spPr>
        <p:txBody>
          <a:bodyPr wrap="square" anchor="t" lIns="0" rIns="0" tIns="0" bIns="0">
            <a:spAutoFit/>
          </a:bodyPr>
          <a:lstStyle/>
          <a:p>
            <a:pPr algn="l"/>
            <a:r>
              <a:rPr sz="1350" b="1" i="0">
                <a:solidFill>
                  <a:srgbClr val="0D3C4C"/>
                </a:solidFill>
                <a:latin typeface="Cabin"/>
              </a:rPr>
              <a:t>Q1 · What does machine learning add?</a:t>
            </a:r>
          </a:p>
        </p:txBody>
      </p:sp>
      <p:sp>
        <p:nvSpPr>
          <p:cNvPr id="21" name="TextBox 20"/>
          <p:cNvSpPr txBox="1"/>
          <p:nvPr/>
        </p:nvSpPr>
        <p:spPr>
          <a:xfrm>
            <a:off x="4754880" y="2642616"/>
            <a:ext cx="3657600" cy="274320"/>
          </a:xfrm>
          <a:prstGeom prst="rect">
            <a:avLst/>
          </a:prstGeom>
          <a:noFill/>
        </p:spPr>
        <p:txBody>
          <a:bodyPr wrap="square" anchor="t" lIns="0" rIns="0" tIns="0" bIns="0">
            <a:spAutoFit/>
          </a:bodyPr>
          <a:lstStyle/>
          <a:p>
            <a:pPr algn="l"/>
            <a:r>
              <a:rPr sz="1150" b="0" i="0">
                <a:solidFill>
                  <a:srgbClr val="4F6A73"/>
                </a:solidFill>
                <a:latin typeface="Nanum Gothic"/>
              </a:rPr>
              <a:t>Compared with a blood-pressure rule and a standard risk score</a:t>
            </a:r>
          </a:p>
        </p:txBody>
      </p:sp>
      <p:sp>
        <p:nvSpPr>
          <p:cNvPr id="22" name="!!q1"/>
          <p:cNvSpPr/>
          <p:nvPr/>
        </p:nvSpPr>
        <p:spPr>
          <a:xfrm>
            <a:off x="4069080" y="3136392"/>
            <a:ext cx="530352" cy="530352"/>
          </a:xfrm>
          <a:prstGeom prst="ellipse">
            <a:avLst/>
          </a:prstGeom>
          <a:solidFill>
            <a:srgbClr val="0D3C4C"/>
          </a:solidFill>
          <a:ln>
            <a:noFill/>
          </a:ln>
        </p:spPr>
        <p:txBody>
          <a:bodyPr rtlCol="0" anchor="ctr" lIns="73152" rIns="73152" tIns="27432" bIns="27432"/>
          <a:lstStyle/>
          <a:p>
            <a:pPr algn="ctr"/>
          </a:p>
        </p:txBody>
      </p:sp>
      <p:grpSp>
        <p:nvGrpSpPr>
          <p:cNvPr id="23" name="icon database"/>
          <p:cNvGrpSpPr/>
          <p:nvPr/>
        </p:nvGrpSpPr>
        <p:grpSpPr>
          <a:xfrm>
            <a:off x="4186126" y="3253069"/>
            <a:ext cx="296259" cy="296997"/>
            <a:chOff x="-3771675" y="3971775"/>
            <a:chExt cx="291300" cy="292025"/>
          </a:xfrm>
        </p:grpSpPr>
        <p:sp>
          <p:nvSpPr>
            <p:cNvPr id="24" name="Google Shape;8740;p66"/>
            <p:cNvSpPr/>
            <p:nvPr/>
          </p:nvSpPr>
          <p:spPr>
            <a:xfrm>
              <a:off x="-3770100" y="3971775"/>
              <a:ext cx="218975" cy="66775"/>
            </a:xfrm>
            <a:custGeom>
              <a:rect b="b" l="l" r="r" t="t"/>
              <a:pathLst>
                <a:path extrusionOk="0" h="2671" w="8759">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8741;p66"/>
            <p:cNvSpPr/>
            <p:nvPr/>
          </p:nvSpPr>
          <p:spPr>
            <a:xfrm>
              <a:off x="-3771675" y="4030650"/>
              <a:ext cx="222125" cy="78000"/>
            </a:xfrm>
            <a:custGeom>
              <a:rect b="b" l="l" r="r" t="t"/>
              <a:pathLst>
                <a:path extrusionOk="0" h="3120" w="8885">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8742;p66"/>
            <p:cNvSpPr/>
            <p:nvPr/>
          </p:nvSpPr>
          <p:spPr>
            <a:xfrm>
              <a:off x="-3669425" y="4074750"/>
              <a:ext cx="189050" cy="189050"/>
            </a:xfrm>
            <a:custGeom>
              <a:rect b="b" l="l" r="r" t="t"/>
              <a:pathLst>
                <a:path extrusionOk="0" h="7562" w="7562">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8743;p66"/>
            <p:cNvSpPr/>
            <p:nvPr/>
          </p:nvSpPr>
          <p:spPr>
            <a:xfrm>
              <a:off x="-3771675" y="4099950"/>
              <a:ext cx="94525" cy="76425"/>
            </a:xfrm>
            <a:custGeom>
              <a:rect b="b" l="l" r="r" t="t"/>
              <a:pathLst>
                <a:path extrusionOk="0" h="3057" w="3781">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8744;p66"/>
            <p:cNvSpPr/>
            <p:nvPr/>
          </p:nvSpPr>
          <p:spPr>
            <a:xfrm>
              <a:off x="-3771675" y="4167700"/>
              <a:ext cx="135500" cy="95325"/>
            </a:xfrm>
            <a:custGeom>
              <a:rect b="b" l="l" r="r" t="t"/>
              <a:pathLst>
                <a:path extrusionOk="0" h="3813" w="542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9" name="TextBox 28"/>
          <p:cNvSpPr txBox="1"/>
          <p:nvPr/>
        </p:nvSpPr>
        <p:spPr>
          <a:xfrm>
            <a:off x="4754880" y="3118104"/>
            <a:ext cx="3657600" cy="274320"/>
          </a:xfrm>
          <a:prstGeom prst="rect">
            <a:avLst/>
          </a:prstGeom>
          <a:noFill/>
        </p:spPr>
        <p:txBody>
          <a:bodyPr wrap="square" anchor="t" lIns="0" rIns="0" tIns="0" bIns="0">
            <a:spAutoFit/>
          </a:bodyPr>
          <a:lstStyle/>
          <a:p>
            <a:pPr algn="l"/>
            <a:r>
              <a:rPr sz="1350" b="1" i="0">
                <a:solidFill>
                  <a:srgbClr val="0D3C4C"/>
                </a:solidFill>
                <a:latin typeface="Cabin"/>
              </a:rPr>
              <a:t>Q2 · How much does data handling matter?</a:t>
            </a:r>
          </a:p>
        </p:txBody>
      </p:sp>
      <p:sp>
        <p:nvSpPr>
          <p:cNvPr id="30" name="TextBox 29"/>
          <p:cNvSpPr txBox="1"/>
          <p:nvPr/>
        </p:nvSpPr>
        <p:spPr>
          <a:xfrm>
            <a:off x="4754880" y="3401568"/>
            <a:ext cx="3657600" cy="274320"/>
          </a:xfrm>
          <a:prstGeom prst="rect">
            <a:avLst/>
          </a:prstGeom>
          <a:noFill/>
        </p:spPr>
        <p:txBody>
          <a:bodyPr wrap="square" anchor="t" lIns="0" rIns="0" tIns="0" bIns="0">
            <a:spAutoFit/>
          </a:bodyPr>
          <a:lstStyle/>
          <a:p>
            <a:pPr algn="l"/>
            <a:r>
              <a:rPr sz="1150" b="0" i="0">
                <a:solidFill>
                  <a:srgbClr val="4F6A73"/>
                </a:solidFill>
                <a:latin typeface="Nanum Gothic"/>
              </a:rPr>
              <a:t>Cleaning, and the mistakes that inflate accuracy</a:t>
            </a:r>
          </a:p>
        </p:txBody>
      </p:sp>
      <p:sp>
        <p:nvSpPr>
          <p:cNvPr id="31" name="!!q2"/>
          <p:cNvSpPr/>
          <p:nvPr/>
        </p:nvSpPr>
        <p:spPr>
          <a:xfrm>
            <a:off x="4069080" y="3895344"/>
            <a:ext cx="530352" cy="530352"/>
          </a:xfrm>
          <a:prstGeom prst="ellipse">
            <a:avLst/>
          </a:prstGeom>
          <a:solidFill>
            <a:srgbClr val="0D3C4C"/>
          </a:solidFill>
          <a:ln>
            <a:noFill/>
          </a:ln>
        </p:spPr>
        <p:txBody>
          <a:bodyPr rtlCol="0" anchor="ctr" lIns="73152" rIns="73152" tIns="27432" bIns="27432"/>
          <a:lstStyle/>
          <a:p>
            <a:pPr algn="ctr"/>
          </a:p>
        </p:txBody>
      </p:sp>
      <p:grpSp>
        <p:nvGrpSpPr>
          <p:cNvPr id="32" name="icon stethoscope"/>
          <p:cNvGrpSpPr/>
          <p:nvPr/>
        </p:nvGrpSpPr>
        <p:grpSpPr>
          <a:xfrm>
            <a:off x="4207928" y="4012021"/>
            <a:ext cx="252655" cy="296997"/>
            <a:chOff x="-27691025" y="3175300"/>
            <a:chExt cx="251275" cy="295375"/>
          </a:xfrm>
        </p:grpSpPr>
        <p:sp>
          <p:nvSpPr>
            <p:cNvPr id="33" name="Google Shape;6404;p61"/>
            <p:cNvSpPr/>
            <p:nvPr/>
          </p:nvSpPr>
          <p:spPr>
            <a:xfrm>
              <a:off x="-27492550" y="3298150"/>
              <a:ext cx="18125" cy="18150"/>
            </a:xfrm>
            <a:custGeom>
              <a:rect b="b" l="l" r="r" t="t"/>
              <a:pathLst>
                <a:path extrusionOk="0" h="726" w="725">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6405;p61"/>
            <p:cNvSpPr/>
            <p:nvPr/>
          </p:nvSpPr>
          <p:spPr>
            <a:xfrm>
              <a:off x="-27613050" y="3175300"/>
              <a:ext cx="60650" cy="105550"/>
            </a:xfrm>
            <a:custGeom>
              <a:rect b="b" l="l" r="r" t="t"/>
              <a:pathLst>
                <a:path extrusionOk="0" h="4222" w="2426">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6406;p61"/>
            <p:cNvSpPr/>
            <p:nvPr/>
          </p:nvSpPr>
          <p:spPr>
            <a:xfrm>
              <a:off x="-27691025" y="3175300"/>
              <a:ext cx="60650" cy="105550"/>
            </a:xfrm>
            <a:custGeom>
              <a:rect b="b" l="l" r="r" t="t"/>
              <a:pathLst>
                <a:path extrusionOk="0" h="4222" w="2426">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6407;p61"/>
            <p:cNvSpPr/>
            <p:nvPr/>
          </p:nvSpPr>
          <p:spPr>
            <a:xfrm>
              <a:off x="-27691025" y="3263500"/>
              <a:ext cx="251275" cy="207175"/>
            </a:xfrm>
            <a:custGeom>
              <a:rect b="b" l="l" r="r" t="t"/>
              <a:pathLst>
                <a:path extrusionOk="0" h="8287" w="10051">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7" name="TextBox 36"/>
          <p:cNvSpPr txBox="1"/>
          <p:nvPr/>
        </p:nvSpPr>
        <p:spPr>
          <a:xfrm>
            <a:off x="4754880" y="3877056"/>
            <a:ext cx="3657600" cy="274320"/>
          </a:xfrm>
          <a:prstGeom prst="rect">
            <a:avLst/>
          </a:prstGeom>
          <a:noFill/>
        </p:spPr>
        <p:txBody>
          <a:bodyPr wrap="square" anchor="t" lIns="0" rIns="0" tIns="0" bIns="0">
            <a:spAutoFit/>
          </a:bodyPr>
          <a:lstStyle/>
          <a:p>
            <a:pPr algn="l"/>
            <a:r>
              <a:rPr sz="1350" b="1" i="0">
                <a:solidFill>
                  <a:srgbClr val="0D3C4C"/>
                </a:solidFill>
                <a:latin typeface="Cabin"/>
              </a:rPr>
              <a:t>Q3 · Can the predictions be trusted?</a:t>
            </a:r>
          </a:p>
        </p:txBody>
      </p:sp>
      <p:sp>
        <p:nvSpPr>
          <p:cNvPr id="38" name="TextBox 37"/>
          <p:cNvSpPr txBox="1"/>
          <p:nvPr/>
        </p:nvSpPr>
        <p:spPr>
          <a:xfrm>
            <a:off x="4754880" y="4160520"/>
            <a:ext cx="3657600" cy="274320"/>
          </a:xfrm>
          <a:prstGeom prst="rect">
            <a:avLst/>
          </a:prstGeom>
          <a:noFill/>
        </p:spPr>
        <p:txBody>
          <a:bodyPr wrap="square" anchor="t" lIns="0" rIns="0" tIns="0" bIns="0">
            <a:spAutoFit/>
          </a:bodyPr>
          <a:lstStyle/>
          <a:p>
            <a:pPr algn="l"/>
            <a:r>
              <a:rPr sz="1150" b="0" i="0">
                <a:solidFill>
                  <a:srgbClr val="4F6A73"/>
                </a:solidFill>
                <a:latin typeface="Nanum Gothic"/>
              </a:rPr>
              <a:t>Calibration, explanations, every kind of patient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The data: 70,000 check-ups</a:t>
            </a:r>
          </a:p>
        </p:txBody>
      </p:sp>
      <p:sp>
        <p:nvSpPr>
          <p:cNvPr id="3" name="Rounded Rectangle 2"/>
          <p:cNvSpPr/>
          <p:nvPr/>
        </p:nvSpPr>
        <p:spPr>
          <a:xfrm>
            <a:off x="722376" y="1188720"/>
            <a:ext cx="2377440" cy="105156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4" name="TextBox 3"/>
          <p:cNvSpPr txBox="1"/>
          <p:nvPr/>
        </p:nvSpPr>
        <p:spPr>
          <a:xfrm>
            <a:off x="722376" y="1261872"/>
            <a:ext cx="2377440" cy="548640"/>
          </a:xfrm>
          <a:prstGeom prst="rect">
            <a:avLst/>
          </a:prstGeom>
          <a:noFill/>
        </p:spPr>
        <p:txBody>
          <a:bodyPr wrap="square" anchor="t" lIns="0" rIns="0" tIns="0" bIns="0">
            <a:spAutoFit/>
          </a:bodyPr>
          <a:lstStyle/>
          <a:p>
            <a:pPr algn="ctr"/>
            <a:r>
              <a:rPr sz="2800" b="1" i="0">
                <a:solidFill>
                  <a:srgbClr val="B23A2E"/>
                </a:solidFill>
                <a:latin typeface="Cabin"/>
              </a:rPr>
              <a:t>70,000</a:t>
            </a:r>
          </a:p>
        </p:txBody>
      </p:sp>
      <p:sp>
        <p:nvSpPr>
          <p:cNvPr id="5" name="TextBox 4"/>
          <p:cNvSpPr txBox="1"/>
          <p:nvPr/>
        </p:nvSpPr>
        <p:spPr>
          <a:xfrm>
            <a:off x="722376" y="1810512"/>
            <a:ext cx="2377440" cy="320040"/>
          </a:xfrm>
          <a:prstGeom prst="rect">
            <a:avLst/>
          </a:prstGeom>
          <a:noFill/>
        </p:spPr>
        <p:txBody>
          <a:bodyPr wrap="square" anchor="t" lIns="0" rIns="0" tIns="0" bIns="0">
            <a:spAutoFit/>
          </a:bodyPr>
          <a:lstStyle/>
          <a:p>
            <a:pPr algn="ctr"/>
            <a:r>
              <a:rPr sz="1200" b="0" i="0">
                <a:solidFill>
                  <a:srgbClr val="4F6A73"/>
                </a:solidFill>
                <a:latin typeface="Nanum Gothic"/>
              </a:rPr>
              <a:t>patients</a:t>
            </a:r>
          </a:p>
        </p:txBody>
      </p:sp>
      <p:sp>
        <p:nvSpPr>
          <p:cNvPr id="6" name="Rounded Rectangle 5"/>
          <p:cNvSpPr/>
          <p:nvPr/>
        </p:nvSpPr>
        <p:spPr>
          <a:xfrm>
            <a:off x="3355848" y="1188720"/>
            <a:ext cx="2377440" cy="105156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7" name="TextBox 6"/>
          <p:cNvSpPr txBox="1"/>
          <p:nvPr/>
        </p:nvSpPr>
        <p:spPr>
          <a:xfrm>
            <a:off x="3355848" y="1261872"/>
            <a:ext cx="2377440" cy="548640"/>
          </a:xfrm>
          <a:prstGeom prst="rect">
            <a:avLst/>
          </a:prstGeom>
          <a:noFill/>
        </p:spPr>
        <p:txBody>
          <a:bodyPr wrap="square" anchor="t" lIns="0" rIns="0" tIns="0" bIns="0">
            <a:spAutoFit/>
          </a:bodyPr>
          <a:lstStyle/>
          <a:p>
            <a:pPr algn="ctr"/>
            <a:r>
              <a:rPr sz="2800" b="1" i="0">
                <a:solidFill>
                  <a:srgbClr val="B23A2E"/>
                </a:solidFill>
                <a:latin typeface="Cabin"/>
              </a:rPr>
              <a:t>11</a:t>
            </a:r>
          </a:p>
        </p:txBody>
      </p:sp>
      <p:sp>
        <p:nvSpPr>
          <p:cNvPr id="8" name="TextBox 7"/>
          <p:cNvSpPr txBox="1"/>
          <p:nvPr/>
        </p:nvSpPr>
        <p:spPr>
          <a:xfrm>
            <a:off x="3355848" y="1810512"/>
            <a:ext cx="2377440" cy="320040"/>
          </a:xfrm>
          <a:prstGeom prst="rect">
            <a:avLst/>
          </a:prstGeom>
          <a:noFill/>
        </p:spPr>
        <p:txBody>
          <a:bodyPr wrap="square" anchor="t" lIns="0" rIns="0" tIns="0" bIns="0">
            <a:spAutoFit/>
          </a:bodyPr>
          <a:lstStyle/>
          <a:p>
            <a:pPr algn="ctr"/>
            <a:r>
              <a:rPr sz="1200" b="0" i="0">
                <a:solidFill>
                  <a:srgbClr val="4F6A73"/>
                </a:solidFill>
                <a:latin typeface="Nanum Gothic"/>
              </a:rPr>
              <a:t>values per examination</a:t>
            </a:r>
          </a:p>
        </p:txBody>
      </p:sp>
      <p:sp>
        <p:nvSpPr>
          <p:cNvPr id="9" name="Rounded Rectangle 8"/>
          <p:cNvSpPr/>
          <p:nvPr/>
        </p:nvSpPr>
        <p:spPr>
          <a:xfrm>
            <a:off x="5989320" y="1188720"/>
            <a:ext cx="2377440" cy="105156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0" name="TextBox 9"/>
          <p:cNvSpPr txBox="1"/>
          <p:nvPr/>
        </p:nvSpPr>
        <p:spPr>
          <a:xfrm>
            <a:off x="5989320" y="1261872"/>
            <a:ext cx="2377440" cy="548640"/>
          </a:xfrm>
          <a:prstGeom prst="rect">
            <a:avLst/>
          </a:prstGeom>
          <a:noFill/>
        </p:spPr>
        <p:txBody>
          <a:bodyPr wrap="square" anchor="t" lIns="0" rIns="0" tIns="0" bIns="0">
            <a:spAutoFit/>
          </a:bodyPr>
          <a:lstStyle/>
          <a:p>
            <a:pPr algn="ctr"/>
            <a:r>
              <a:rPr sz="2800" b="1" i="0">
                <a:solidFill>
                  <a:srgbClr val="B23A2E"/>
                </a:solidFill>
                <a:latin typeface="Cabin"/>
              </a:rPr>
              <a:t>50 / 50</a:t>
            </a:r>
          </a:p>
        </p:txBody>
      </p:sp>
      <p:sp>
        <p:nvSpPr>
          <p:cNvPr id="11" name="TextBox 10"/>
          <p:cNvSpPr txBox="1"/>
          <p:nvPr/>
        </p:nvSpPr>
        <p:spPr>
          <a:xfrm>
            <a:off x="5989320" y="1810512"/>
            <a:ext cx="2377440" cy="320040"/>
          </a:xfrm>
          <a:prstGeom prst="rect">
            <a:avLst/>
          </a:prstGeom>
          <a:noFill/>
        </p:spPr>
        <p:txBody>
          <a:bodyPr wrap="square" anchor="t" lIns="0" rIns="0" tIns="0" bIns="0">
            <a:spAutoFit/>
          </a:bodyPr>
          <a:lstStyle/>
          <a:p>
            <a:pPr algn="ctr"/>
            <a:r>
              <a:rPr sz="1200" b="0" i="0">
                <a:solidFill>
                  <a:srgbClr val="4F6A73"/>
                </a:solidFill>
                <a:latin typeface="Nanum Gothic"/>
              </a:rPr>
              <a:t>with and without CVD</a:t>
            </a:r>
          </a:p>
        </p:txBody>
      </p:sp>
      <p:sp>
        <p:nvSpPr>
          <p:cNvPr id="12" name="Oval 11"/>
          <p:cNvSpPr/>
          <p:nvPr/>
        </p:nvSpPr>
        <p:spPr>
          <a:xfrm>
            <a:off x="722376" y="2487168"/>
            <a:ext cx="457200" cy="457200"/>
          </a:xfrm>
          <a:prstGeom prst="ellipse">
            <a:avLst/>
          </a:prstGeom>
          <a:solidFill>
            <a:srgbClr val="0D3C4C"/>
          </a:solidFill>
          <a:ln>
            <a:noFill/>
          </a:ln>
        </p:spPr>
        <p:txBody>
          <a:bodyPr rtlCol="0" anchor="ctr" lIns="73152" rIns="73152" tIns="27432" bIns="27432"/>
          <a:lstStyle/>
          <a:p>
            <a:pPr algn="ctr"/>
          </a:p>
        </p:txBody>
      </p:sp>
      <p:grpSp>
        <p:nvGrpSpPr>
          <p:cNvPr id="13" name="icon stethoscope"/>
          <p:cNvGrpSpPr/>
          <p:nvPr/>
        </p:nvGrpSpPr>
        <p:grpSpPr>
          <a:xfrm>
            <a:off x="842073" y="2587752"/>
            <a:ext cx="217806" cy="256032"/>
            <a:chOff x="-27691025" y="3175300"/>
            <a:chExt cx="251275" cy="295375"/>
          </a:xfrm>
        </p:grpSpPr>
        <p:sp>
          <p:nvSpPr>
            <p:cNvPr id="14" name="Google Shape;6404;p61"/>
            <p:cNvSpPr/>
            <p:nvPr/>
          </p:nvSpPr>
          <p:spPr>
            <a:xfrm>
              <a:off x="-27492550" y="3298150"/>
              <a:ext cx="18125" cy="18150"/>
            </a:xfrm>
            <a:custGeom>
              <a:rect b="b" l="l" r="r" t="t"/>
              <a:pathLst>
                <a:path extrusionOk="0" h="726" w="725">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6405;p61"/>
            <p:cNvSpPr/>
            <p:nvPr/>
          </p:nvSpPr>
          <p:spPr>
            <a:xfrm>
              <a:off x="-27613050" y="3175300"/>
              <a:ext cx="60650" cy="105550"/>
            </a:xfrm>
            <a:custGeom>
              <a:rect b="b" l="l" r="r" t="t"/>
              <a:pathLst>
                <a:path extrusionOk="0" h="4222" w="2426">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6406;p61"/>
            <p:cNvSpPr/>
            <p:nvPr/>
          </p:nvSpPr>
          <p:spPr>
            <a:xfrm>
              <a:off x="-27691025" y="3175300"/>
              <a:ext cx="60650" cy="105550"/>
            </a:xfrm>
            <a:custGeom>
              <a:rect b="b" l="l" r="r" t="t"/>
              <a:pathLst>
                <a:path extrusionOk="0" h="4222" w="2426">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6407;p61"/>
            <p:cNvSpPr/>
            <p:nvPr/>
          </p:nvSpPr>
          <p:spPr>
            <a:xfrm>
              <a:off x="-27691025" y="3263500"/>
              <a:ext cx="251275" cy="207175"/>
            </a:xfrm>
            <a:custGeom>
              <a:rect b="b" l="l" r="r" t="t"/>
              <a:pathLst>
                <a:path extrusionOk="0" h="8287" w="10051">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 name="TextBox 17"/>
          <p:cNvSpPr txBox="1"/>
          <p:nvPr/>
        </p:nvSpPr>
        <p:spPr>
          <a:xfrm>
            <a:off x="1289304" y="2551176"/>
            <a:ext cx="1828800" cy="320040"/>
          </a:xfrm>
          <a:prstGeom prst="rect">
            <a:avLst/>
          </a:prstGeom>
          <a:noFill/>
        </p:spPr>
        <p:txBody>
          <a:bodyPr wrap="square" anchor="t" lIns="0" rIns="0" tIns="0" bIns="0">
            <a:spAutoFit/>
          </a:bodyPr>
          <a:lstStyle/>
          <a:p>
            <a:pPr algn="l"/>
            <a:r>
              <a:rPr sz="1300" b="1" i="0">
                <a:solidFill>
                  <a:srgbClr val="0D3C4C"/>
                </a:solidFill>
                <a:latin typeface="Cabin"/>
              </a:rPr>
              <a:t>Measured</a:t>
            </a:r>
          </a:p>
        </p:txBody>
      </p:sp>
      <p:sp>
        <p:nvSpPr>
          <p:cNvPr id="19" name="Rounded Rectangle 18"/>
          <p:cNvSpPr/>
          <p:nvPr/>
        </p:nvSpPr>
        <p:spPr>
          <a:xfrm>
            <a:off x="722376" y="3090672"/>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age</a:t>
            </a:r>
          </a:p>
        </p:txBody>
      </p:sp>
      <p:sp>
        <p:nvSpPr>
          <p:cNvPr id="20" name="Rounded Rectangle 19"/>
          <p:cNvSpPr/>
          <p:nvPr/>
        </p:nvSpPr>
        <p:spPr>
          <a:xfrm>
            <a:off x="1929384" y="3090672"/>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sex</a:t>
            </a:r>
          </a:p>
        </p:txBody>
      </p:sp>
      <p:sp>
        <p:nvSpPr>
          <p:cNvPr id="21" name="Rounded Rectangle 20"/>
          <p:cNvSpPr/>
          <p:nvPr/>
        </p:nvSpPr>
        <p:spPr>
          <a:xfrm>
            <a:off x="722376" y="3520439"/>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height</a:t>
            </a:r>
          </a:p>
        </p:txBody>
      </p:sp>
      <p:sp>
        <p:nvSpPr>
          <p:cNvPr id="22" name="Rounded Rectangle 21"/>
          <p:cNvSpPr/>
          <p:nvPr/>
        </p:nvSpPr>
        <p:spPr>
          <a:xfrm>
            <a:off x="1929384" y="3520439"/>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weight</a:t>
            </a:r>
          </a:p>
        </p:txBody>
      </p:sp>
      <p:sp>
        <p:nvSpPr>
          <p:cNvPr id="23" name="Rounded Rectangle 22"/>
          <p:cNvSpPr/>
          <p:nvPr/>
        </p:nvSpPr>
        <p:spPr>
          <a:xfrm>
            <a:off x="722376" y="3950208"/>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systolic pressure</a:t>
            </a:r>
          </a:p>
        </p:txBody>
      </p:sp>
      <p:sp>
        <p:nvSpPr>
          <p:cNvPr id="24" name="Rounded Rectangle 23"/>
          <p:cNvSpPr/>
          <p:nvPr/>
        </p:nvSpPr>
        <p:spPr>
          <a:xfrm>
            <a:off x="1929384" y="3950208"/>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diastolic pressure</a:t>
            </a:r>
          </a:p>
        </p:txBody>
      </p:sp>
      <p:sp>
        <p:nvSpPr>
          <p:cNvPr id="25" name="Oval 24"/>
          <p:cNvSpPr/>
          <p:nvPr/>
        </p:nvSpPr>
        <p:spPr>
          <a:xfrm>
            <a:off x="3355848" y="2487168"/>
            <a:ext cx="457200" cy="457200"/>
          </a:xfrm>
          <a:prstGeom prst="ellipse">
            <a:avLst/>
          </a:prstGeom>
          <a:solidFill>
            <a:srgbClr val="0D3C4C"/>
          </a:solidFill>
          <a:ln>
            <a:noFill/>
          </a:ln>
        </p:spPr>
        <p:txBody>
          <a:bodyPr rtlCol="0" anchor="ctr" lIns="73152" rIns="73152" tIns="27432" bIns="27432"/>
          <a:lstStyle/>
          <a:p>
            <a:pPr algn="ctr"/>
          </a:p>
        </p:txBody>
      </p:sp>
      <p:grpSp>
        <p:nvGrpSpPr>
          <p:cNvPr id="26" name="icon flask"/>
          <p:cNvGrpSpPr/>
          <p:nvPr/>
        </p:nvGrpSpPr>
        <p:grpSpPr>
          <a:xfrm>
            <a:off x="3501484" y="2587752"/>
            <a:ext cx="165928" cy="256032"/>
            <a:chOff x="-28032075" y="3916450"/>
            <a:chExt cx="191425" cy="295375"/>
          </a:xfrm>
        </p:grpSpPr>
        <p:sp>
          <p:nvSpPr>
            <p:cNvPr id="27" name="Google Shape;6381;p61"/>
            <p:cNvSpPr/>
            <p:nvPr/>
          </p:nvSpPr>
          <p:spPr>
            <a:xfrm>
              <a:off x="-27996625" y="3916450"/>
              <a:ext cx="120525" cy="51225"/>
            </a:xfrm>
            <a:custGeom>
              <a:rect b="b" l="l" r="r" t="t"/>
              <a:pathLst>
                <a:path extrusionOk="0" h="2049" w="4821">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6382;p61"/>
            <p:cNvSpPr/>
            <p:nvPr/>
          </p:nvSpPr>
          <p:spPr>
            <a:xfrm>
              <a:off x="-28032075" y="4089975"/>
              <a:ext cx="191425" cy="121850"/>
            </a:xfrm>
            <a:custGeom>
              <a:rect b="b" l="l" r="r" t="t"/>
              <a:pathLst>
                <a:path extrusionOk="0" h="4874" w="7657">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6383;p61"/>
            <p:cNvSpPr/>
            <p:nvPr/>
          </p:nvSpPr>
          <p:spPr>
            <a:xfrm>
              <a:off x="-28024975" y="3985750"/>
              <a:ext cx="181950" cy="121975"/>
            </a:xfrm>
            <a:custGeom>
              <a:rect b="b" l="l" r="r" t="t"/>
              <a:pathLst>
                <a:path extrusionOk="0" h="4879" w="7278">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0" name="TextBox 29"/>
          <p:cNvSpPr txBox="1"/>
          <p:nvPr/>
        </p:nvSpPr>
        <p:spPr>
          <a:xfrm>
            <a:off x="3922776" y="2551176"/>
            <a:ext cx="1828800" cy="320040"/>
          </a:xfrm>
          <a:prstGeom prst="rect">
            <a:avLst/>
          </a:prstGeom>
          <a:noFill/>
        </p:spPr>
        <p:txBody>
          <a:bodyPr wrap="square" anchor="t" lIns="0" rIns="0" tIns="0" bIns="0">
            <a:spAutoFit/>
          </a:bodyPr>
          <a:lstStyle/>
          <a:p>
            <a:pPr algn="l"/>
            <a:r>
              <a:rPr sz="1300" b="1" i="0">
                <a:solidFill>
                  <a:srgbClr val="0D3C4C"/>
                </a:solidFill>
                <a:latin typeface="Cabin"/>
              </a:rPr>
              <a:t>Lab result, 3 levels</a:t>
            </a:r>
          </a:p>
        </p:txBody>
      </p:sp>
      <p:sp>
        <p:nvSpPr>
          <p:cNvPr id="31" name="Rounded Rectangle 30"/>
          <p:cNvSpPr/>
          <p:nvPr/>
        </p:nvSpPr>
        <p:spPr>
          <a:xfrm>
            <a:off x="3355848" y="3090672"/>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cholesterol</a:t>
            </a:r>
          </a:p>
        </p:txBody>
      </p:sp>
      <p:sp>
        <p:nvSpPr>
          <p:cNvPr id="32" name="Rounded Rectangle 31"/>
          <p:cNvSpPr/>
          <p:nvPr/>
        </p:nvSpPr>
        <p:spPr>
          <a:xfrm>
            <a:off x="4562856" y="3090672"/>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glucose</a:t>
            </a:r>
          </a:p>
        </p:txBody>
      </p:sp>
      <p:sp>
        <p:nvSpPr>
          <p:cNvPr id="33" name="Oval 32"/>
          <p:cNvSpPr/>
          <p:nvPr/>
        </p:nvSpPr>
        <p:spPr>
          <a:xfrm>
            <a:off x="5989320" y="2487168"/>
            <a:ext cx="457200" cy="457200"/>
          </a:xfrm>
          <a:prstGeom prst="ellipse">
            <a:avLst/>
          </a:prstGeom>
          <a:solidFill>
            <a:srgbClr val="0D3C4C"/>
          </a:solidFill>
          <a:ln>
            <a:noFill/>
          </a:ln>
        </p:spPr>
        <p:txBody>
          <a:bodyPr rtlCol="0" anchor="ctr" lIns="73152" rIns="73152" tIns="27432" bIns="27432"/>
          <a:lstStyle/>
          <a:p>
            <a:pPr algn="ctr"/>
          </a:p>
        </p:txBody>
      </p:sp>
      <p:sp>
        <p:nvSpPr>
          <p:cNvPr id="34" name="icon clipboard"/>
          <p:cNvSpPr/>
          <p:nvPr/>
        </p:nvSpPr>
        <p:spPr>
          <a:xfrm>
            <a:off x="6108693" y="2587752"/>
            <a:ext cx="218453" cy="256032"/>
          </a:xfrm>
          <a:custGeom>
            <a:rect b="b" l="l" r="r" t="t"/>
            <a:pathLst>
              <a:path extrusionOk="0" h="12666" w="10807">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TextBox 34"/>
          <p:cNvSpPr txBox="1"/>
          <p:nvPr/>
        </p:nvSpPr>
        <p:spPr>
          <a:xfrm>
            <a:off x="6556248" y="2551176"/>
            <a:ext cx="1828800" cy="320040"/>
          </a:xfrm>
          <a:prstGeom prst="rect">
            <a:avLst/>
          </a:prstGeom>
          <a:noFill/>
        </p:spPr>
        <p:txBody>
          <a:bodyPr wrap="square" anchor="t" lIns="0" rIns="0" tIns="0" bIns="0">
            <a:spAutoFit/>
          </a:bodyPr>
          <a:lstStyle/>
          <a:p>
            <a:pPr algn="l"/>
            <a:r>
              <a:rPr sz="1300" b="1" i="0">
                <a:solidFill>
                  <a:srgbClr val="0D3C4C"/>
                </a:solidFill>
                <a:latin typeface="Cabin"/>
              </a:rPr>
              <a:t>Self-reported, yes / no</a:t>
            </a:r>
          </a:p>
        </p:txBody>
      </p:sp>
      <p:sp>
        <p:nvSpPr>
          <p:cNvPr id="36" name="Rounded Rectangle 35"/>
          <p:cNvSpPr/>
          <p:nvPr/>
        </p:nvSpPr>
        <p:spPr>
          <a:xfrm>
            <a:off x="5989320" y="3090672"/>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smoking</a:t>
            </a:r>
          </a:p>
        </p:txBody>
      </p:sp>
      <p:sp>
        <p:nvSpPr>
          <p:cNvPr id="37" name="Rounded Rectangle 36"/>
          <p:cNvSpPr/>
          <p:nvPr/>
        </p:nvSpPr>
        <p:spPr>
          <a:xfrm>
            <a:off x="7196328" y="3090672"/>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alcohol</a:t>
            </a:r>
          </a:p>
        </p:txBody>
      </p:sp>
      <p:sp>
        <p:nvSpPr>
          <p:cNvPr id="38" name="Rounded Rectangle 37"/>
          <p:cNvSpPr/>
          <p:nvPr/>
        </p:nvSpPr>
        <p:spPr>
          <a:xfrm>
            <a:off x="5989320" y="3520439"/>
            <a:ext cx="1143000" cy="338328"/>
          </a:xfrm>
          <a:prstGeom prst="roundRect">
            <a:avLst>
              <a:gd name="adj" fmla="val 30000"/>
            </a:avLst>
          </a:prstGeom>
          <a:solidFill>
            <a:srgbClr val="EEF6F9"/>
          </a:solidFill>
          <a:ln>
            <a:noFill/>
          </a:ln>
        </p:spPr>
        <p:txBody>
          <a:bodyPr rtlCol="0" anchor="ctr" lIns="73152" rIns="73152" tIns="27432" bIns="27432" wrap="square"/>
          <a:lstStyle/>
          <a:p>
            <a:pPr algn="ctr"/>
            <a:r>
              <a:rPr sz="1050" b="0" i="0">
                <a:solidFill>
                  <a:srgbClr val="0D3C4C"/>
                </a:solidFill>
                <a:latin typeface="Nanum Gothic"/>
              </a:rPr>
              <a:t>physical activity</a:t>
            </a:r>
          </a:p>
        </p:txBody>
      </p:sp>
      <p:sp>
        <p:nvSpPr>
          <p:cNvPr id="39" name="TextBox 38"/>
          <p:cNvSpPr txBox="1"/>
          <p:nvPr/>
        </p:nvSpPr>
        <p:spPr>
          <a:xfrm>
            <a:off x="722376" y="4434840"/>
            <a:ext cx="7680960" cy="274320"/>
          </a:xfrm>
          <a:prstGeom prst="rect">
            <a:avLst/>
          </a:prstGeom>
          <a:noFill/>
        </p:spPr>
        <p:txBody>
          <a:bodyPr wrap="square" anchor="t" lIns="0" rIns="0" tIns="0" bIns="0">
            <a:spAutoFit/>
          </a:bodyPr>
          <a:lstStyle/>
          <a:p>
            <a:pPr algn="l"/>
            <a:r>
              <a:rPr sz="1050" b="0" i="0">
                <a:solidFill>
                  <a:srgbClr val="4F6A73"/>
                </a:solidFill>
                <a:latin typeface="Nanum Gothic"/>
              </a:rPr>
              <a:t>Kaggle cardiovascular disease dataset (Ulianova, 2019). Its source and the definition of "disease" are not documented.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2% of the records are impossible</a:t>
            </a:r>
          </a:p>
        </p:txBody>
      </p:sp>
      <p:pic>
        <p:nvPicPr>
          <p:cNvPr id="3" name="Picture 2" descr="crop_fig1_blood_pressure_cleaning.png"/>
          <p:cNvPicPr>
            <a:picLocks noChangeAspect="1"/>
          </p:cNvPicPr>
          <p:nvPr/>
        </p:nvPicPr>
        <p:blipFill>
          <a:blip r:embed="rId2"/>
          <a:stretch>
            <a:fillRect/>
          </a:stretch>
        </p:blipFill>
        <p:spPr>
          <a:xfrm>
            <a:off x="566928" y="1170432"/>
            <a:ext cx="5074920" cy="1840788"/>
          </a:xfrm>
          <a:prstGeom prst="rect">
            <a:avLst/>
          </a:prstGeom>
        </p:spPr>
      </p:pic>
      <p:sp>
        <p:nvSpPr>
          <p:cNvPr id="4" name="TextBox 3"/>
          <p:cNvSpPr txBox="1"/>
          <p:nvPr/>
        </p:nvSpPr>
        <p:spPr>
          <a:xfrm>
            <a:off x="5897880" y="1188720"/>
            <a:ext cx="2560320" cy="274320"/>
          </a:xfrm>
          <a:prstGeom prst="rect">
            <a:avLst/>
          </a:prstGeom>
          <a:noFill/>
        </p:spPr>
        <p:txBody>
          <a:bodyPr wrap="square" anchor="t" lIns="0" rIns="0" tIns="0" bIns="0">
            <a:spAutoFit/>
          </a:bodyPr>
          <a:lstStyle/>
          <a:p>
            <a:pPr algn="l"/>
            <a:r>
              <a:rPr sz="1050" b="1" i="0">
                <a:solidFill>
                  <a:srgbClr val="B23A2E"/>
                </a:solidFill>
                <a:latin typeface="Nanum Gothic"/>
              </a:rPr>
              <a:t>TYPING ERRORS WITH A PATTERN</a:t>
            </a:r>
          </a:p>
        </p:txBody>
      </p:sp>
      <p:sp>
        <p:nvSpPr>
          <p:cNvPr id="5" name="Rounded Rectangle 4"/>
          <p:cNvSpPr/>
          <p:nvPr/>
        </p:nvSpPr>
        <p:spPr>
          <a:xfrm>
            <a:off x="5897880" y="1508760"/>
            <a:ext cx="1417320" cy="384048"/>
          </a:xfrm>
          <a:prstGeom prst="roundRect">
            <a:avLst>
              <a:gd name="adj" fmla="val 30000"/>
            </a:avLst>
          </a:prstGeom>
          <a:solidFill>
            <a:srgbClr val="0D3C4C"/>
          </a:solidFill>
          <a:ln>
            <a:noFill/>
          </a:ln>
        </p:spPr>
        <p:txBody>
          <a:bodyPr rtlCol="0" anchor="ctr" lIns="73152" rIns="73152" tIns="27432" bIns="27432" wrap="square"/>
          <a:lstStyle/>
          <a:p>
            <a:pPr algn="ctr"/>
            <a:r>
              <a:rPr sz="1150" b="1" i="0">
                <a:solidFill>
                  <a:srgbClr val="FFFFFF"/>
                </a:solidFill>
                <a:latin typeface="Cabin"/>
              </a:rPr>
              <a:t>1000 → 100</a:t>
            </a:r>
          </a:p>
        </p:txBody>
      </p:sp>
      <p:sp>
        <p:nvSpPr>
          <p:cNvPr id="6" name="TextBox 5"/>
          <p:cNvSpPr txBox="1"/>
          <p:nvPr/>
        </p:nvSpPr>
        <p:spPr>
          <a:xfrm>
            <a:off x="7406640" y="1508760"/>
            <a:ext cx="1051560" cy="384048"/>
          </a:xfrm>
          <a:prstGeom prst="rect">
            <a:avLst/>
          </a:prstGeom>
          <a:noFill/>
        </p:spPr>
        <p:txBody>
          <a:bodyPr wrap="square" anchor="ctr" lIns="0" rIns="0" tIns="0" bIns="0">
            <a:spAutoFit/>
          </a:bodyPr>
          <a:lstStyle/>
          <a:p>
            <a:pPr algn="l"/>
            <a:r>
              <a:rPr sz="1050" b="0" i="0">
                <a:solidFill>
                  <a:srgbClr val="0D3C4C"/>
                </a:solidFill>
                <a:latin typeface="Nanum Gothic"/>
              </a:rPr>
              <a:t>an extra zero</a:t>
            </a:r>
          </a:p>
        </p:txBody>
      </p:sp>
      <p:sp>
        <p:nvSpPr>
          <p:cNvPr id="7" name="Rounded Rectangle 6"/>
          <p:cNvSpPr/>
          <p:nvPr/>
        </p:nvSpPr>
        <p:spPr>
          <a:xfrm>
            <a:off x="5897880" y="2057400"/>
            <a:ext cx="1417320" cy="384048"/>
          </a:xfrm>
          <a:prstGeom prst="roundRect">
            <a:avLst>
              <a:gd name="adj" fmla="val 30000"/>
            </a:avLst>
          </a:prstGeom>
          <a:solidFill>
            <a:srgbClr val="0D3C4C"/>
          </a:solidFill>
          <a:ln>
            <a:noFill/>
          </a:ln>
        </p:spPr>
        <p:txBody>
          <a:bodyPr rtlCol="0" anchor="ctr" lIns="73152" rIns="73152" tIns="27432" bIns="27432" wrap="square"/>
          <a:lstStyle/>
          <a:p>
            <a:pPr algn="ctr"/>
            <a:r>
              <a:rPr sz="1150" b="1" i="0">
                <a:solidFill>
                  <a:srgbClr val="FFFFFF"/>
                </a:solidFill>
                <a:latin typeface="Cabin"/>
              </a:rPr>
              <a:t>12 → 120</a:t>
            </a:r>
          </a:p>
        </p:txBody>
      </p:sp>
      <p:sp>
        <p:nvSpPr>
          <p:cNvPr id="8" name="TextBox 7"/>
          <p:cNvSpPr txBox="1"/>
          <p:nvPr/>
        </p:nvSpPr>
        <p:spPr>
          <a:xfrm>
            <a:off x="7406640" y="2057400"/>
            <a:ext cx="1051560" cy="384048"/>
          </a:xfrm>
          <a:prstGeom prst="rect">
            <a:avLst/>
          </a:prstGeom>
          <a:noFill/>
        </p:spPr>
        <p:txBody>
          <a:bodyPr wrap="square" anchor="ctr" lIns="0" rIns="0" tIns="0" bIns="0">
            <a:spAutoFit/>
          </a:bodyPr>
          <a:lstStyle/>
          <a:p>
            <a:pPr algn="l"/>
            <a:r>
              <a:rPr sz="1050" b="0" i="0">
                <a:solidFill>
                  <a:srgbClr val="0D3C4C"/>
                </a:solidFill>
                <a:latin typeface="Nanum Gothic"/>
              </a:rPr>
              <a:t>cmHg instead of mmHg</a:t>
            </a:r>
          </a:p>
        </p:txBody>
      </p:sp>
      <p:sp>
        <p:nvSpPr>
          <p:cNvPr id="9" name="Rounded Rectangle 8"/>
          <p:cNvSpPr/>
          <p:nvPr/>
        </p:nvSpPr>
        <p:spPr>
          <a:xfrm>
            <a:off x="5897880" y="2606039"/>
            <a:ext cx="1417320" cy="384048"/>
          </a:xfrm>
          <a:prstGeom prst="roundRect">
            <a:avLst>
              <a:gd name="adj" fmla="val 30000"/>
            </a:avLst>
          </a:prstGeom>
          <a:solidFill>
            <a:srgbClr val="0D3C4C"/>
          </a:solidFill>
          <a:ln>
            <a:noFill/>
          </a:ln>
        </p:spPr>
        <p:txBody>
          <a:bodyPr rtlCol="0" anchor="ctr" lIns="73152" rIns="73152" tIns="27432" bIns="27432" wrap="square"/>
          <a:lstStyle/>
          <a:p>
            <a:pPr algn="ctr"/>
            <a:r>
              <a:rPr sz="1150" b="1" i="0">
                <a:solidFill>
                  <a:srgbClr val="FFFFFF"/>
                </a:solidFill>
                <a:latin typeface="Cabin"/>
              </a:rPr>
              <a:t>−120 → 120</a:t>
            </a:r>
          </a:p>
        </p:txBody>
      </p:sp>
      <p:sp>
        <p:nvSpPr>
          <p:cNvPr id="10" name="TextBox 9"/>
          <p:cNvSpPr txBox="1"/>
          <p:nvPr/>
        </p:nvSpPr>
        <p:spPr>
          <a:xfrm>
            <a:off x="7406640" y="2606039"/>
            <a:ext cx="1051560" cy="384048"/>
          </a:xfrm>
          <a:prstGeom prst="rect">
            <a:avLst/>
          </a:prstGeom>
          <a:noFill/>
        </p:spPr>
        <p:txBody>
          <a:bodyPr wrap="square" anchor="ctr" lIns="0" rIns="0" tIns="0" bIns="0">
            <a:spAutoFit/>
          </a:bodyPr>
          <a:lstStyle/>
          <a:p>
            <a:pPr algn="l"/>
            <a:r>
              <a:rPr sz="1050" b="0" i="0">
                <a:solidFill>
                  <a:srgbClr val="0D3C4C"/>
                </a:solidFill>
                <a:latin typeface="Nanum Gothic"/>
              </a:rPr>
              <a:t>a stray minus sign</a:t>
            </a:r>
          </a:p>
        </p:txBody>
      </p:sp>
      <p:sp>
        <p:nvSpPr>
          <p:cNvPr id="11" name="Rounded Rectangle 10"/>
          <p:cNvSpPr/>
          <p:nvPr/>
        </p:nvSpPr>
        <p:spPr>
          <a:xfrm>
            <a:off x="5897880" y="3154679"/>
            <a:ext cx="1417320" cy="384048"/>
          </a:xfrm>
          <a:prstGeom prst="roundRect">
            <a:avLst>
              <a:gd name="adj" fmla="val 30000"/>
            </a:avLst>
          </a:prstGeom>
          <a:solidFill>
            <a:srgbClr val="0D3C4C"/>
          </a:solidFill>
          <a:ln>
            <a:noFill/>
          </a:ln>
        </p:spPr>
        <p:txBody>
          <a:bodyPr rtlCol="0" anchor="ctr" lIns="73152" rIns="73152" tIns="27432" bIns="27432" wrap="square"/>
          <a:lstStyle/>
          <a:p>
            <a:pPr algn="ctr"/>
            <a:r>
              <a:rPr sz="1150" b="1" i="0">
                <a:solidFill>
                  <a:srgbClr val="FFFFFF"/>
                </a:solidFill>
                <a:latin typeface="Cabin"/>
              </a:rPr>
              <a:t>80/120 → 120/80</a:t>
            </a:r>
          </a:p>
        </p:txBody>
      </p:sp>
      <p:sp>
        <p:nvSpPr>
          <p:cNvPr id="12" name="TextBox 11"/>
          <p:cNvSpPr txBox="1"/>
          <p:nvPr/>
        </p:nvSpPr>
        <p:spPr>
          <a:xfrm>
            <a:off x="7406640" y="3154679"/>
            <a:ext cx="1051560" cy="384048"/>
          </a:xfrm>
          <a:prstGeom prst="rect">
            <a:avLst/>
          </a:prstGeom>
          <a:noFill/>
        </p:spPr>
        <p:txBody>
          <a:bodyPr wrap="square" anchor="ctr" lIns="0" rIns="0" tIns="0" bIns="0">
            <a:spAutoFit/>
          </a:bodyPr>
          <a:lstStyle/>
          <a:p>
            <a:pPr algn="l"/>
            <a:r>
              <a:rPr sz="1050" b="0" i="0">
                <a:solidFill>
                  <a:srgbClr val="0D3C4C"/>
                </a:solidFill>
                <a:latin typeface="Nanum Gothic"/>
              </a:rPr>
              <a:t>the two readings swapped</a:t>
            </a:r>
          </a:p>
        </p:txBody>
      </p:sp>
      <p:sp>
        <p:nvSpPr>
          <p:cNvPr id="13" name="Rounded Rectangle 12"/>
          <p:cNvSpPr/>
          <p:nvPr/>
        </p:nvSpPr>
        <p:spPr>
          <a:xfrm>
            <a:off x="722376" y="3611880"/>
            <a:ext cx="7708392" cy="100584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4" name="!!r_raw"/>
          <p:cNvSpPr txBox="1"/>
          <p:nvPr/>
        </p:nvSpPr>
        <p:spPr>
          <a:xfrm>
            <a:off x="914400" y="3703320"/>
            <a:ext cx="2194560" cy="822960"/>
          </a:xfrm>
          <a:prstGeom prst="rect">
            <a:avLst/>
          </a:prstGeom>
          <a:noFill/>
        </p:spPr>
        <p:txBody>
          <a:bodyPr wrap="square" anchor="ctr" lIns="0" rIns="0" tIns="0" bIns="0">
            <a:spAutoFit/>
          </a:bodyPr>
          <a:lstStyle/>
          <a:p>
            <a:pPr algn="l"/>
            <a:r>
              <a:rPr sz="3000" b="1" i="0">
                <a:solidFill>
                  <a:srgbClr val="4F6A73"/>
                </a:solidFill>
                <a:latin typeface="Cabin"/>
              </a:rPr>
              <a:t>r = 0.05</a:t>
            </a:r>
          </a:p>
        </p:txBody>
      </p:sp>
      <p:sp>
        <p:nvSpPr>
          <p:cNvPr id="15" name="Right Arrow 14"/>
          <p:cNvSpPr/>
          <p:nvPr/>
        </p:nvSpPr>
        <p:spPr>
          <a:xfrm>
            <a:off x="2926080" y="4005072"/>
            <a:ext cx="384048" cy="237744"/>
          </a:xfrm>
          <a:prstGeom prst="rightArrow">
            <a:avLst/>
          </a:prstGeom>
          <a:solidFill>
            <a:srgbClr val="E05A4F"/>
          </a:solidFill>
          <a:ln>
            <a:noFill/>
          </a:ln>
        </p:spPr>
        <p:txBody>
          <a:bodyPr rtlCol="0" anchor="ctr" lIns="73152" rIns="73152" tIns="27432" bIns="27432"/>
          <a:lstStyle/>
          <a:p>
            <a:pPr algn="ctr"/>
          </a:p>
        </p:txBody>
      </p:sp>
      <p:sp>
        <p:nvSpPr>
          <p:cNvPr id="16" name="!!r_clean"/>
          <p:cNvSpPr txBox="1"/>
          <p:nvPr/>
        </p:nvSpPr>
        <p:spPr>
          <a:xfrm>
            <a:off x="3520440" y="3703320"/>
            <a:ext cx="2194560" cy="822960"/>
          </a:xfrm>
          <a:prstGeom prst="rect">
            <a:avLst/>
          </a:prstGeom>
          <a:noFill/>
        </p:spPr>
        <p:txBody>
          <a:bodyPr wrap="square" anchor="ctr" lIns="0" rIns="0" tIns="0" bIns="0">
            <a:spAutoFit/>
          </a:bodyPr>
          <a:lstStyle/>
          <a:p>
            <a:pPr algn="l"/>
            <a:r>
              <a:rPr sz="3000" b="1" i="0">
                <a:solidFill>
                  <a:srgbClr val="B23A2E"/>
                </a:solidFill>
                <a:latin typeface="Cabin"/>
              </a:rPr>
              <a:t>r = 0.43</a:t>
            </a:r>
          </a:p>
        </p:txBody>
      </p:sp>
      <p:sp>
        <p:nvSpPr>
          <p:cNvPr id="17" name="TextBox 16"/>
          <p:cNvSpPr txBox="1"/>
          <p:nvPr/>
        </p:nvSpPr>
        <p:spPr>
          <a:xfrm>
            <a:off x="5669280" y="3767328"/>
            <a:ext cx="2651760" cy="777240"/>
          </a:xfrm>
          <a:prstGeom prst="rect">
            <a:avLst/>
          </a:prstGeom>
          <a:noFill/>
        </p:spPr>
        <p:txBody>
          <a:bodyPr wrap="square" anchor="ctr" lIns="0" rIns="0" tIns="0" bIns="0">
            <a:spAutoFit/>
          </a:bodyPr>
          <a:lstStyle/>
          <a:p>
            <a:pPr algn="l"/>
            <a:r>
              <a:rPr sz="1150" b="0" i="0">
                <a:solidFill>
                  <a:srgbClr val="0D3C4C"/>
                </a:solidFill>
                <a:latin typeface="Nanum Gothic"/>
              </a:rPr>
              <a:t>How closely systolic pressure tracks the diagnosis, before and after cleaning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What the clean data shows</a:t>
            </a:r>
          </a:p>
        </p:txBody>
      </p:sp>
      <p:pic>
        <p:nvPicPr>
          <p:cNvPr id="3" name="Picture 2" descr="crop_fig2_disease_rate_by_factor.png"/>
          <p:cNvPicPr>
            <a:picLocks noChangeAspect="1"/>
          </p:cNvPicPr>
          <p:nvPr/>
        </p:nvPicPr>
        <p:blipFill>
          <a:blip r:embed="rId2"/>
          <a:stretch>
            <a:fillRect/>
          </a:stretch>
        </p:blipFill>
        <p:spPr>
          <a:xfrm>
            <a:off x="868680" y="1115568"/>
            <a:ext cx="7245758" cy="370332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The smoking paradox</a:t>
            </a:r>
          </a:p>
        </p:txBody>
      </p:sp>
      <p:pic>
        <p:nvPicPr>
          <p:cNvPr id="3" name="Picture 2" descr="crop_fig3_smoking_paradox.png"/>
          <p:cNvPicPr>
            <a:picLocks noChangeAspect="1"/>
          </p:cNvPicPr>
          <p:nvPr/>
        </p:nvPicPr>
        <p:blipFill>
          <a:blip r:embed="rId2"/>
          <a:stretch>
            <a:fillRect/>
          </a:stretch>
        </p:blipFill>
        <p:spPr>
          <a:xfrm>
            <a:off x="566928" y="1188720"/>
            <a:ext cx="4572000" cy="2499253"/>
          </a:xfrm>
          <a:prstGeom prst="rect">
            <a:avLst/>
          </a:prstGeom>
        </p:spPr>
      </p:pic>
      <p:sp>
        <p:nvSpPr>
          <p:cNvPr id="4" name="TextBox 3"/>
          <p:cNvSpPr txBox="1"/>
          <p:nvPr/>
        </p:nvSpPr>
        <p:spPr>
          <a:xfrm>
            <a:off x="722376" y="4005072"/>
            <a:ext cx="4572000" cy="640080"/>
          </a:xfrm>
          <a:prstGeom prst="rect">
            <a:avLst/>
          </a:prstGeom>
          <a:noFill/>
        </p:spPr>
        <p:txBody>
          <a:bodyPr wrap="square" anchor="t" lIns="0" rIns="0" tIns="0" bIns="0">
            <a:spAutoFit/>
          </a:bodyPr>
          <a:lstStyle/>
          <a:p>
            <a:pPr algn="l"/>
            <a:r>
              <a:rPr sz="1100" b="1" i="0">
                <a:solidFill>
                  <a:srgbClr val="0D3C4C"/>
                </a:solidFill>
                <a:latin typeface="Nanum Gothic"/>
              </a:rPr>
              <a:t>Same age, men: smokers have 3.1 points less CVD (95% CI 1.5 to 4.9). </a:t>
            </a:r>
          </a:p>
          <a:p>
            <a:pPr algn="l">
              <a:spcBef>
                <a:spcPts val="200"/>
              </a:spcBef>
            </a:pPr>
            <a:r>
              <a:rPr sz="1100" b="0" i="0">
                <a:solidFill>
                  <a:srgbClr val="4F6A73"/>
                </a:solidFill>
                <a:latin typeface="Nanum Gothic"/>
              </a:rPr>
              <a:t>Women hardly smoke here (1.8%, against 22% of men).</a:t>
            </a:r>
          </a:p>
        </p:txBody>
      </p:sp>
      <p:sp>
        <p:nvSpPr>
          <p:cNvPr id="5" name="Rounded Rectangle 4"/>
          <p:cNvSpPr/>
          <p:nvPr/>
        </p:nvSpPr>
        <p:spPr>
          <a:xfrm>
            <a:off x="5440680" y="1188720"/>
            <a:ext cx="2990088" cy="347472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6" name="Oval 5"/>
          <p:cNvSpPr/>
          <p:nvPr/>
        </p:nvSpPr>
        <p:spPr>
          <a:xfrm>
            <a:off x="5669280" y="1371600"/>
            <a:ext cx="548640" cy="548640"/>
          </a:xfrm>
          <a:prstGeom prst="ellipse">
            <a:avLst/>
          </a:prstGeom>
          <a:solidFill>
            <a:srgbClr val="E05A4F"/>
          </a:solidFill>
          <a:ln>
            <a:noFill/>
          </a:ln>
        </p:spPr>
        <p:txBody>
          <a:bodyPr rtlCol="0" anchor="ctr" lIns="73152" rIns="73152" tIns="27432" bIns="27432"/>
          <a:lstStyle/>
          <a:p>
            <a:pPr algn="ctr"/>
          </a:p>
        </p:txBody>
      </p:sp>
      <p:grpSp>
        <p:nvGrpSpPr>
          <p:cNvPr id="7" name="icon hospital"/>
          <p:cNvGrpSpPr/>
          <p:nvPr/>
        </p:nvGrpSpPr>
        <p:grpSpPr>
          <a:xfrm>
            <a:off x="5790382" y="1492300"/>
            <a:ext cx="306434" cy="307238"/>
            <a:chOff x="-23615075" y="3148525"/>
            <a:chExt cx="295375" cy="296150"/>
          </a:xfrm>
        </p:grpSpPr>
        <p:sp>
          <p:nvSpPr>
            <p:cNvPr id="8" name="Google Shape;6470;p61"/>
            <p:cNvSpPr/>
            <p:nvPr/>
          </p:nvSpPr>
          <p:spPr>
            <a:xfrm>
              <a:off x="-23493775" y="3183950"/>
              <a:ext cx="52775" cy="53600"/>
            </a:xfrm>
            <a:custGeom>
              <a:rect b="b" l="l" r="r" t="t"/>
              <a:pathLst>
                <a:path extrusionOk="0" h="2144" w="2111">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 name="Google Shape;6471;p61"/>
            <p:cNvSpPr/>
            <p:nvPr/>
          </p:nvSpPr>
          <p:spPr>
            <a:xfrm>
              <a:off x="-23615075" y="3268225"/>
              <a:ext cx="34675" cy="173300"/>
            </a:xfrm>
            <a:custGeom>
              <a:rect b="b" l="l" r="r" t="t"/>
              <a:pathLst>
                <a:path extrusionOk="0" h="6932" w="1387">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 name="Google Shape;6472;p61"/>
            <p:cNvSpPr/>
            <p:nvPr/>
          </p:nvSpPr>
          <p:spPr>
            <a:xfrm>
              <a:off x="-23354375" y="3270600"/>
              <a:ext cx="34675" cy="173300"/>
            </a:xfrm>
            <a:custGeom>
              <a:rect b="b" l="l" r="r" t="t"/>
              <a:pathLst>
                <a:path extrusionOk="0" h="6932" w="1387">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6473;p61"/>
            <p:cNvSpPr/>
            <p:nvPr/>
          </p:nvSpPr>
          <p:spPr>
            <a:xfrm>
              <a:off x="-23562300" y="3148525"/>
              <a:ext cx="191400" cy="296150"/>
            </a:xfrm>
            <a:custGeom>
              <a:rect b="b" l="l" r="r" t="t"/>
              <a:pathLst>
                <a:path extrusionOk="0" h="11846" w="7656">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 name="TextBox 11"/>
          <p:cNvSpPr txBox="1"/>
          <p:nvPr/>
        </p:nvSpPr>
        <p:spPr>
          <a:xfrm>
            <a:off x="6355080" y="1463040"/>
            <a:ext cx="1965960" cy="411480"/>
          </a:xfrm>
          <a:prstGeom prst="rect">
            <a:avLst/>
          </a:prstGeom>
          <a:noFill/>
        </p:spPr>
        <p:txBody>
          <a:bodyPr wrap="square" anchor="ctr" lIns="0" rIns="0" tIns="0" bIns="0">
            <a:spAutoFit/>
          </a:bodyPr>
          <a:lstStyle/>
          <a:p>
            <a:pPr algn="l"/>
            <a:r>
              <a:rPr sz="1500" b="1" i="0">
                <a:solidFill>
                  <a:srgbClr val="0D3C4C"/>
                </a:solidFill>
                <a:latin typeface="Cabin"/>
              </a:rPr>
              <a:t>The sick quitter</a:t>
            </a:r>
          </a:p>
        </p:txBody>
      </p:sp>
      <p:sp>
        <p:nvSpPr>
          <p:cNvPr id="13" name="TextBox 12"/>
          <p:cNvSpPr txBox="1"/>
          <p:nvPr/>
        </p:nvSpPr>
        <p:spPr>
          <a:xfrm>
            <a:off x="5669280" y="2084831"/>
            <a:ext cx="2606040" cy="1097280"/>
          </a:xfrm>
          <a:prstGeom prst="rect">
            <a:avLst/>
          </a:prstGeom>
          <a:noFill/>
        </p:spPr>
        <p:txBody>
          <a:bodyPr wrap="square" anchor="t" lIns="0" rIns="0" tIns="0" bIns="0">
            <a:spAutoFit/>
          </a:bodyPr>
          <a:lstStyle/>
          <a:p>
            <a:pPr algn="l"/>
            <a:r>
              <a:rPr sz="1200" b="0" i="0">
                <a:solidFill>
                  <a:srgbClr val="0D3C4C"/>
                </a:solidFill>
                <a:latin typeface="Nanum Gothic"/>
              </a:rPr>
              <a:t>A possible reason: diagnosis and answers come from the same visit, and patients already diagnosed may have quit, so they answer "no".</a:t>
            </a:r>
          </a:p>
        </p:txBody>
      </p:sp>
      <p:sp>
        <p:nvSpPr>
          <p:cNvPr id="14" name="Rounded Rectangle 13"/>
          <p:cNvSpPr/>
          <p:nvPr/>
        </p:nvSpPr>
        <p:spPr>
          <a:xfrm>
            <a:off x="5669280" y="3337560"/>
            <a:ext cx="2560320" cy="411480"/>
          </a:xfrm>
          <a:prstGeom prst="roundRect">
            <a:avLst>
              <a:gd name="adj" fmla="val 30000"/>
            </a:avLst>
          </a:prstGeom>
          <a:solidFill>
            <a:srgbClr val="0D3C4C"/>
          </a:solidFill>
          <a:ln>
            <a:noFill/>
          </a:ln>
        </p:spPr>
        <p:txBody>
          <a:bodyPr rtlCol="0" anchor="ctr" lIns="73152" rIns="73152" tIns="27432" bIns="27432" wrap="square"/>
          <a:lstStyle/>
          <a:p>
            <a:pPr algn="ctr"/>
            <a:r>
              <a:rPr sz="1200" b="1" i="0">
                <a:solidFill>
                  <a:srgbClr val="FFFFFF"/>
                </a:solidFill>
                <a:latin typeface="Cabin"/>
              </a:rPr>
              <a:t>Detection, not prediction</a:t>
            </a:r>
          </a:p>
        </p:txBody>
      </p:sp>
      <p:sp>
        <p:nvSpPr>
          <p:cNvPr id="15" name="Rounded Rectangle 14"/>
          <p:cNvSpPr/>
          <p:nvPr/>
        </p:nvSpPr>
        <p:spPr>
          <a:xfrm>
            <a:off x="5669280" y="3886200"/>
            <a:ext cx="2560320" cy="411480"/>
          </a:xfrm>
          <a:prstGeom prst="roundRect">
            <a:avLst>
              <a:gd name="adj" fmla="val 30000"/>
            </a:avLst>
          </a:prstGeom>
          <a:solidFill>
            <a:srgbClr val="0D3C4C"/>
          </a:solidFill>
          <a:ln>
            <a:noFill/>
          </a:ln>
        </p:spPr>
        <p:txBody>
          <a:bodyPr rtlCol="0" anchor="ctr" lIns="73152" rIns="73152" tIns="27432" bIns="27432" wrap="square"/>
          <a:lstStyle/>
          <a:p>
            <a:pPr algn="ctr"/>
            <a:r>
              <a:rPr sz="1200" b="1" i="0">
                <a:solidFill>
                  <a:srgbClr val="FFFFFF"/>
                </a:solidFill>
                <a:latin typeface="Cabin"/>
              </a:rPr>
              <a:t>Associations, not causes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What machine learning adds</a:t>
            </a:r>
          </a:p>
        </p:txBody>
      </p:sp>
      <p:sp>
        <p:nvSpPr>
          <p:cNvPr id="3" name="!!lab_a"/>
          <p:cNvSpPr txBox="1"/>
          <p:nvPr/>
        </p:nvSpPr>
        <p:spPr>
          <a:xfrm>
            <a:off x="722376" y="1261872"/>
            <a:ext cx="2423160" cy="329184"/>
          </a:xfrm>
          <a:prstGeom prst="rect">
            <a:avLst/>
          </a:prstGeom>
          <a:noFill/>
        </p:spPr>
        <p:txBody>
          <a:bodyPr wrap="square" anchor="ctr" lIns="0" rIns="0" tIns="0" bIns="0">
            <a:spAutoFit/>
          </a:bodyPr>
          <a:lstStyle/>
          <a:p>
            <a:pPr algn="r"/>
            <a:r>
              <a:rPr sz="1200" b="1" i="0">
                <a:solidFill>
                  <a:srgbClr val="0D3C4C"/>
                </a:solidFill>
                <a:latin typeface="Cabin"/>
              </a:rPr>
              <a:t>Gradient boosting</a:t>
            </a:r>
          </a:p>
        </p:txBody>
      </p:sp>
      <p:sp>
        <p:nvSpPr>
          <p:cNvPr id="4" name="!!bar_a"/>
          <p:cNvSpPr/>
          <p:nvPr/>
        </p:nvSpPr>
        <p:spPr>
          <a:xfrm>
            <a:off x="3246120" y="1307592"/>
            <a:ext cx="2157983" cy="237744"/>
          </a:xfrm>
          <a:prstGeom prst="rect">
            <a:avLst/>
          </a:prstGeom>
          <a:solidFill>
            <a:srgbClr val="0D3C4C"/>
          </a:solidFill>
          <a:ln>
            <a:noFill/>
          </a:ln>
        </p:spPr>
        <p:txBody>
          <a:bodyPr rtlCol="0" anchor="ctr" lIns="73152" rIns="73152" tIns="27432" bIns="27432"/>
          <a:lstStyle/>
          <a:p>
            <a:pPr algn="ctr"/>
          </a:p>
        </p:txBody>
      </p:sp>
      <p:sp>
        <p:nvSpPr>
          <p:cNvPr id="5" name="!!val_a"/>
          <p:cNvSpPr txBox="1"/>
          <p:nvPr/>
        </p:nvSpPr>
        <p:spPr>
          <a:xfrm>
            <a:off x="5477255" y="1261872"/>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73.6%</a:t>
            </a:r>
            <a:r>
              <a:rPr sz="1100" b="0" i="0">
                <a:solidFill>
                  <a:srgbClr val="4F6A73"/>
                </a:solidFill>
                <a:latin typeface="Nanum Gothic"/>
              </a:rPr>
              <a:t>  AUC 0.804</a:t>
            </a:r>
          </a:p>
        </p:txBody>
      </p:sp>
      <p:sp>
        <p:nvSpPr>
          <p:cNvPr id="6" name="!!lab_b"/>
          <p:cNvSpPr txBox="1"/>
          <p:nvPr/>
        </p:nvSpPr>
        <p:spPr>
          <a:xfrm>
            <a:off x="722376" y="1691639"/>
            <a:ext cx="2423160" cy="329184"/>
          </a:xfrm>
          <a:prstGeom prst="rect">
            <a:avLst/>
          </a:prstGeom>
          <a:noFill/>
        </p:spPr>
        <p:txBody>
          <a:bodyPr wrap="square" anchor="ctr" lIns="0" rIns="0" tIns="0" bIns="0">
            <a:spAutoFit/>
          </a:bodyPr>
          <a:lstStyle/>
          <a:p>
            <a:pPr algn="r"/>
            <a:r>
              <a:rPr sz="1200" b="1" i="0">
                <a:solidFill>
                  <a:srgbClr val="0D3C4C"/>
                </a:solidFill>
                <a:latin typeface="Cabin"/>
              </a:rPr>
              <a:t>Random forest</a:t>
            </a:r>
          </a:p>
        </p:txBody>
      </p:sp>
      <p:sp>
        <p:nvSpPr>
          <p:cNvPr id="7" name="!!bar_b"/>
          <p:cNvSpPr/>
          <p:nvPr/>
        </p:nvSpPr>
        <p:spPr>
          <a:xfrm>
            <a:off x="3246120" y="1737360"/>
            <a:ext cx="2139696" cy="237744"/>
          </a:xfrm>
          <a:prstGeom prst="rect">
            <a:avLst/>
          </a:prstGeom>
          <a:solidFill>
            <a:srgbClr val="0D3C4C"/>
          </a:solidFill>
          <a:ln>
            <a:noFill/>
          </a:ln>
        </p:spPr>
        <p:txBody>
          <a:bodyPr rtlCol="0" anchor="ctr" lIns="73152" rIns="73152" tIns="27432" bIns="27432"/>
          <a:lstStyle/>
          <a:p>
            <a:pPr algn="ctr"/>
          </a:p>
        </p:txBody>
      </p:sp>
      <p:sp>
        <p:nvSpPr>
          <p:cNvPr id="8" name="!!val_b"/>
          <p:cNvSpPr txBox="1"/>
          <p:nvPr/>
        </p:nvSpPr>
        <p:spPr>
          <a:xfrm>
            <a:off x="5458968" y="1691639"/>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73.4%</a:t>
            </a:r>
            <a:r>
              <a:rPr sz="1100" b="0" i="0">
                <a:solidFill>
                  <a:srgbClr val="4F6A73"/>
                </a:solidFill>
                <a:latin typeface="Nanum Gothic"/>
              </a:rPr>
              <a:t>  AUC 0.803</a:t>
            </a:r>
          </a:p>
        </p:txBody>
      </p:sp>
      <p:sp>
        <p:nvSpPr>
          <p:cNvPr id="9" name="!!lab_c"/>
          <p:cNvSpPr txBox="1"/>
          <p:nvPr/>
        </p:nvSpPr>
        <p:spPr>
          <a:xfrm>
            <a:off x="722376" y="2121408"/>
            <a:ext cx="2423160" cy="329184"/>
          </a:xfrm>
          <a:prstGeom prst="rect">
            <a:avLst/>
          </a:prstGeom>
          <a:noFill/>
        </p:spPr>
        <p:txBody>
          <a:bodyPr wrap="square" anchor="ctr" lIns="0" rIns="0" tIns="0" bIns="0">
            <a:spAutoFit/>
          </a:bodyPr>
          <a:lstStyle/>
          <a:p>
            <a:pPr algn="r"/>
            <a:r>
              <a:rPr sz="1200" b="1" i="0">
                <a:solidFill>
                  <a:srgbClr val="0D3C4C"/>
                </a:solidFill>
                <a:latin typeface="Cabin"/>
              </a:rPr>
              <a:t>Neural network</a:t>
            </a:r>
          </a:p>
        </p:txBody>
      </p:sp>
      <p:sp>
        <p:nvSpPr>
          <p:cNvPr id="10" name="!!bar_c"/>
          <p:cNvSpPr/>
          <p:nvPr/>
        </p:nvSpPr>
        <p:spPr>
          <a:xfrm>
            <a:off x="3246120" y="2167127"/>
            <a:ext cx="2112263" cy="237744"/>
          </a:xfrm>
          <a:prstGeom prst="rect">
            <a:avLst/>
          </a:prstGeom>
          <a:solidFill>
            <a:srgbClr val="0D3C4C"/>
          </a:solidFill>
          <a:ln>
            <a:noFill/>
          </a:ln>
        </p:spPr>
        <p:txBody>
          <a:bodyPr rtlCol="0" anchor="ctr" lIns="73152" rIns="73152" tIns="27432" bIns="27432"/>
          <a:lstStyle/>
          <a:p>
            <a:pPr algn="ctr"/>
          </a:p>
        </p:txBody>
      </p:sp>
      <p:sp>
        <p:nvSpPr>
          <p:cNvPr id="11" name="!!val_c"/>
          <p:cNvSpPr txBox="1"/>
          <p:nvPr/>
        </p:nvSpPr>
        <p:spPr>
          <a:xfrm>
            <a:off x="5431536" y="2121408"/>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73.1%</a:t>
            </a:r>
            <a:r>
              <a:rPr sz="1100" b="0" i="0">
                <a:solidFill>
                  <a:srgbClr val="4F6A73"/>
                </a:solidFill>
                <a:latin typeface="Nanum Gothic"/>
              </a:rPr>
              <a:t>  AUC 0.800</a:t>
            </a:r>
          </a:p>
        </p:txBody>
      </p:sp>
      <p:sp>
        <p:nvSpPr>
          <p:cNvPr id="12" name="!!lab_d"/>
          <p:cNvSpPr txBox="1"/>
          <p:nvPr/>
        </p:nvSpPr>
        <p:spPr>
          <a:xfrm>
            <a:off x="722376" y="2551176"/>
            <a:ext cx="2423160" cy="329184"/>
          </a:xfrm>
          <a:prstGeom prst="rect">
            <a:avLst/>
          </a:prstGeom>
          <a:noFill/>
        </p:spPr>
        <p:txBody>
          <a:bodyPr wrap="square" anchor="ctr" lIns="0" rIns="0" tIns="0" bIns="0">
            <a:spAutoFit/>
          </a:bodyPr>
          <a:lstStyle/>
          <a:p>
            <a:pPr algn="r"/>
            <a:r>
              <a:rPr sz="1200" b="1" i="0">
                <a:solidFill>
                  <a:srgbClr val="0D3C4C"/>
                </a:solidFill>
                <a:latin typeface="Cabin"/>
              </a:rPr>
              <a:t>Logistic regression</a:t>
            </a:r>
          </a:p>
        </p:txBody>
      </p:sp>
      <p:sp>
        <p:nvSpPr>
          <p:cNvPr id="13" name="!!bar_d"/>
          <p:cNvSpPr/>
          <p:nvPr/>
        </p:nvSpPr>
        <p:spPr>
          <a:xfrm>
            <a:off x="3246120" y="2596896"/>
            <a:ext cx="2066543" cy="237744"/>
          </a:xfrm>
          <a:prstGeom prst="rect">
            <a:avLst/>
          </a:prstGeom>
          <a:solidFill>
            <a:srgbClr val="0D3C4C"/>
          </a:solidFill>
          <a:ln>
            <a:noFill/>
          </a:ln>
        </p:spPr>
        <p:txBody>
          <a:bodyPr rtlCol="0" anchor="ctr" lIns="73152" rIns="73152" tIns="27432" bIns="27432"/>
          <a:lstStyle/>
          <a:p>
            <a:pPr algn="ctr"/>
          </a:p>
        </p:txBody>
      </p:sp>
      <p:sp>
        <p:nvSpPr>
          <p:cNvPr id="14" name="!!val_d"/>
          <p:cNvSpPr txBox="1"/>
          <p:nvPr/>
        </p:nvSpPr>
        <p:spPr>
          <a:xfrm>
            <a:off x="5385815" y="2551176"/>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72.6%</a:t>
            </a:r>
            <a:r>
              <a:rPr sz="1100" b="0" i="0">
                <a:solidFill>
                  <a:srgbClr val="4F6A73"/>
                </a:solidFill>
                <a:latin typeface="Nanum Gothic"/>
              </a:rPr>
              <a:t>  AUC 0.793</a:t>
            </a:r>
          </a:p>
        </p:txBody>
      </p:sp>
      <p:sp>
        <p:nvSpPr>
          <p:cNvPr id="15" name="!!lab_e"/>
          <p:cNvSpPr txBox="1"/>
          <p:nvPr/>
        </p:nvSpPr>
        <p:spPr>
          <a:xfrm>
            <a:off x="722376" y="2980944"/>
            <a:ext cx="2423160" cy="329184"/>
          </a:xfrm>
          <a:prstGeom prst="rect">
            <a:avLst/>
          </a:prstGeom>
          <a:noFill/>
        </p:spPr>
        <p:txBody>
          <a:bodyPr wrap="square" anchor="ctr" lIns="0" rIns="0" tIns="0" bIns="0">
            <a:spAutoFit/>
          </a:bodyPr>
          <a:lstStyle/>
          <a:p>
            <a:pPr algn="r"/>
            <a:r>
              <a:rPr sz="1200" b="1" i="0">
                <a:solidFill>
                  <a:srgbClr val="0D3C4C"/>
                </a:solidFill>
                <a:latin typeface="Cabin"/>
              </a:rPr>
              <a:t>Points score (4 factors)</a:t>
            </a:r>
          </a:p>
        </p:txBody>
      </p:sp>
      <p:sp>
        <p:nvSpPr>
          <p:cNvPr id="16" name="!!bar_e"/>
          <p:cNvSpPr/>
          <p:nvPr/>
        </p:nvSpPr>
        <p:spPr>
          <a:xfrm>
            <a:off x="3246120" y="3026663"/>
            <a:ext cx="2048256" cy="237744"/>
          </a:xfrm>
          <a:prstGeom prst="rect">
            <a:avLst/>
          </a:prstGeom>
          <a:solidFill>
            <a:srgbClr val="E05A4F"/>
          </a:solidFill>
          <a:ln>
            <a:noFill/>
          </a:ln>
        </p:spPr>
        <p:txBody>
          <a:bodyPr rtlCol="0" anchor="ctr" lIns="73152" rIns="73152" tIns="27432" bIns="27432"/>
          <a:lstStyle/>
          <a:p>
            <a:pPr algn="ctr"/>
          </a:p>
        </p:txBody>
      </p:sp>
      <p:sp>
        <p:nvSpPr>
          <p:cNvPr id="17" name="!!val_e"/>
          <p:cNvSpPr txBox="1"/>
          <p:nvPr/>
        </p:nvSpPr>
        <p:spPr>
          <a:xfrm>
            <a:off x="5367528" y="2980944"/>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72.4%</a:t>
            </a:r>
            <a:r>
              <a:rPr sz="1100" b="0" i="0">
                <a:solidFill>
                  <a:srgbClr val="4F6A73"/>
                </a:solidFill>
                <a:latin typeface="Nanum Gothic"/>
              </a:rPr>
              <a:t>  AUC 0.793</a:t>
            </a:r>
          </a:p>
        </p:txBody>
      </p:sp>
      <p:sp>
        <p:nvSpPr>
          <p:cNvPr id="18" name="!!lab_f"/>
          <p:cNvSpPr txBox="1"/>
          <p:nvPr/>
        </p:nvSpPr>
        <p:spPr>
          <a:xfrm>
            <a:off x="722376" y="3410711"/>
            <a:ext cx="2423160" cy="329184"/>
          </a:xfrm>
          <a:prstGeom prst="rect">
            <a:avLst/>
          </a:prstGeom>
          <a:noFill/>
        </p:spPr>
        <p:txBody>
          <a:bodyPr wrap="square" anchor="ctr" lIns="0" rIns="0" tIns="0" bIns="0">
            <a:spAutoFit/>
          </a:bodyPr>
          <a:lstStyle/>
          <a:p>
            <a:pPr algn="r"/>
            <a:r>
              <a:rPr sz="1200" b="1" i="0">
                <a:solidFill>
                  <a:srgbClr val="0D3C4C"/>
                </a:solidFill>
                <a:latin typeface="Cabin"/>
              </a:rPr>
              <a:t>Rule: systolic ≥ 130</a:t>
            </a:r>
          </a:p>
        </p:txBody>
      </p:sp>
      <p:sp>
        <p:nvSpPr>
          <p:cNvPr id="19" name="!!bar_f"/>
          <p:cNvSpPr/>
          <p:nvPr/>
        </p:nvSpPr>
        <p:spPr>
          <a:xfrm>
            <a:off x="3246120" y="3456431"/>
            <a:ext cx="1947672" cy="237744"/>
          </a:xfrm>
          <a:prstGeom prst="rect">
            <a:avLst/>
          </a:prstGeom>
          <a:solidFill>
            <a:srgbClr val="ADBAC1"/>
          </a:solidFill>
          <a:ln>
            <a:noFill/>
          </a:ln>
        </p:spPr>
        <p:txBody>
          <a:bodyPr rtlCol="0" anchor="ctr" lIns="73152" rIns="73152" tIns="27432" bIns="27432"/>
          <a:lstStyle/>
          <a:p>
            <a:pPr algn="ctr"/>
          </a:p>
        </p:txBody>
      </p:sp>
      <p:sp>
        <p:nvSpPr>
          <p:cNvPr id="20" name="!!val_f"/>
          <p:cNvSpPr txBox="1"/>
          <p:nvPr/>
        </p:nvSpPr>
        <p:spPr>
          <a:xfrm>
            <a:off x="5266944" y="3410711"/>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71.3%</a:t>
            </a:r>
            <a:r>
              <a:rPr sz="1100" b="0" i="0">
                <a:solidFill>
                  <a:srgbClr val="4F6A73"/>
                </a:solidFill>
                <a:latin typeface="Nanum Gothic"/>
              </a:rPr>
              <a:t>  AUC 0.712</a:t>
            </a:r>
          </a:p>
        </p:txBody>
      </p:sp>
      <p:sp>
        <p:nvSpPr>
          <p:cNvPr id="21" name="!!lab_g"/>
          <p:cNvSpPr txBox="1"/>
          <p:nvPr/>
        </p:nvSpPr>
        <p:spPr>
          <a:xfrm>
            <a:off x="722376" y="3840479"/>
            <a:ext cx="2423160" cy="329184"/>
          </a:xfrm>
          <a:prstGeom prst="rect">
            <a:avLst/>
          </a:prstGeom>
          <a:noFill/>
        </p:spPr>
        <p:txBody>
          <a:bodyPr wrap="square" anchor="ctr" lIns="0" rIns="0" tIns="0" bIns="0">
            <a:spAutoFit/>
          </a:bodyPr>
          <a:lstStyle/>
          <a:p>
            <a:pPr algn="r"/>
            <a:r>
              <a:rPr sz="1200" b="1" i="0">
                <a:solidFill>
                  <a:srgbClr val="0D3C4C"/>
                </a:solidFill>
                <a:latin typeface="Cabin"/>
              </a:rPr>
              <a:t>Framingham, as published</a:t>
            </a:r>
          </a:p>
        </p:txBody>
      </p:sp>
      <p:sp>
        <p:nvSpPr>
          <p:cNvPr id="22" name="!!bar_g"/>
          <p:cNvSpPr/>
          <p:nvPr/>
        </p:nvSpPr>
        <p:spPr>
          <a:xfrm>
            <a:off x="3246120" y="3886199"/>
            <a:ext cx="1335023" cy="237744"/>
          </a:xfrm>
          <a:prstGeom prst="rect">
            <a:avLst/>
          </a:prstGeom>
          <a:solidFill>
            <a:srgbClr val="ADBAC1"/>
          </a:solidFill>
          <a:ln>
            <a:noFill/>
          </a:ln>
        </p:spPr>
        <p:txBody>
          <a:bodyPr rtlCol="0" anchor="ctr" lIns="73152" rIns="73152" tIns="27432" bIns="27432"/>
          <a:lstStyle/>
          <a:p>
            <a:pPr algn="ctr"/>
          </a:p>
        </p:txBody>
      </p:sp>
      <p:sp>
        <p:nvSpPr>
          <p:cNvPr id="23" name="!!val_g"/>
          <p:cNvSpPr txBox="1"/>
          <p:nvPr/>
        </p:nvSpPr>
        <p:spPr>
          <a:xfrm>
            <a:off x="4654295" y="3840479"/>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64.6%</a:t>
            </a:r>
            <a:r>
              <a:rPr sz="1100" b="0" i="0">
                <a:solidFill>
                  <a:srgbClr val="4F6A73"/>
                </a:solidFill>
                <a:latin typeface="Nanum Gothic"/>
              </a:rPr>
              <a:t>  AUC 0.693</a:t>
            </a:r>
          </a:p>
        </p:txBody>
      </p:sp>
      <p:sp>
        <p:nvSpPr>
          <p:cNvPr id="24" name="!!axis"/>
          <p:cNvSpPr/>
          <p:nvPr/>
        </p:nvSpPr>
        <p:spPr>
          <a:xfrm>
            <a:off x="3246120" y="1216151"/>
            <a:ext cx="10972" cy="3072383"/>
          </a:xfrm>
          <a:prstGeom prst="rect">
            <a:avLst/>
          </a:prstGeom>
          <a:solidFill>
            <a:srgbClr val="ADBAC1"/>
          </a:solidFill>
          <a:ln>
            <a:noFill/>
          </a:ln>
        </p:spPr>
        <p:txBody>
          <a:bodyPr rtlCol="0" anchor="ctr" lIns="73152" rIns="73152" tIns="27432" bIns="27432"/>
          <a:lstStyle/>
          <a:p>
            <a:pPr algn="ctr"/>
          </a:p>
        </p:txBody>
      </p:sp>
      <p:sp>
        <p:nvSpPr>
          <p:cNvPr id="25" name="!!tick50"/>
          <p:cNvSpPr txBox="1"/>
          <p:nvPr/>
        </p:nvSpPr>
        <p:spPr>
          <a:xfrm>
            <a:off x="2880360" y="4306823"/>
            <a:ext cx="731520" cy="228600"/>
          </a:xfrm>
          <a:prstGeom prst="rect">
            <a:avLst/>
          </a:prstGeom>
          <a:noFill/>
        </p:spPr>
        <p:txBody>
          <a:bodyPr wrap="square" anchor="t" lIns="0" rIns="0" tIns="0" bIns="0">
            <a:spAutoFit/>
          </a:bodyPr>
          <a:lstStyle/>
          <a:p>
            <a:pPr algn="ctr"/>
            <a:r>
              <a:rPr sz="950" b="0" i="0">
                <a:solidFill>
                  <a:srgbClr val="4F6A73"/>
                </a:solidFill>
                <a:latin typeface="Nanum Gothic"/>
              </a:rPr>
              <a:t>50%</a:t>
            </a:r>
          </a:p>
        </p:txBody>
      </p:sp>
      <p:sp>
        <p:nvSpPr>
          <p:cNvPr id="26" name="!!tick75"/>
          <p:cNvSpPr txBox="1"/>
          <p:nvPr/>
        </p:nvSpPr>
        <p:spPr>
          <a:xfrm>
            <a:off x="5166359" y="4306823"/>
            <a:ext cx="731520" cy="228600"/>
          </a:xfrm>
          <a:prstGeom prst="rect">
            <a:avLst/>
          </a:prstGeom>
          <a:noFill/>
        </p:spPr>
        <p:txBody>
          <a:bodyPr wrap="square" anchor="t" lIns="0" rIns="0" tIns="0" bIns="0">
            <a:spAutoFit/>
          </a:bodyPr>
          <a:lstStyle/>
          <a:p>
            <a:pPr algn="ctr"/>
            <a:r>
              <a:rPr sz="950" b="0" i="0">
                <a:solidFill>
                  <a:srgbClr val="4F6A73"/>
                </a:solidFill>
                <a:latin typeface="Nanum Gothic"/>
              </a:rPr>
              <a:t>75%</a:t>
            </a:r>
          </a:p>
        </p:txBody>
      </p:sp>
      <p:sp>
        <p:nvSpPr>
          <p:cNvPr id="27" name="!!tick100"/>
          <p:cNvSpPr txBox="1"/>
          <p:nvPr/>
        </p:nvSpPr>
        <p:spPr>
          <a:xfrm>
            <a:off x="7452360" y="4306823"/>
            <a:ext cx="731520" cy="228600"/>
          </a:xfrm>
          <a:prstGeom prst="rect">
            <a:avLst/>
          </a:prstGeom>
          <a:noFill/>
        </p:spPr>
        <p:txBody>
          <a:bodyPr wrap="square" anchor="t" lIns="0" rIns="0" tIns="0" bIns="0">
            <a:spAutoFit/>
          </a:bodyPr>
          <a:lstStyle/>
          <a:p>
            <a:pPr algn="ctr"/>
            <a:r>
              <a:rPr sz="950" b="0" i="0">
                <a:solidFill>
                  <a:srgbClr val="4F6A73"/>
                </a:solidFill>
                <a:latin typeface="Nanum Gothic"/>
              </a:rPr>
              <a:t>100%</a:t>
            </a:r>
          </a:p>
        </p:txBody>
      </p:sp>
      <p:sp>
        <p:nvSpPr>
          <p:cNvPr id="28" name="TextBox 27"/>
          <p:cNvSpPr txBox="1"/>
          <p:nvPr/>
        </p:nvSpPr>
        <p:spPr>
          <a:xfrm>
            <a:off x="722376" y="4526280"/>
            <a:ext cx="7680960" cy="274320"/>
          </a:xfrm>
          <a:prstGeom prst="rect">
            <a:avLst/>
          </a:prstGeom>
          <a:noFill/>
        </p:spPr>
        <p:txBody>
          <a:bodyPr wrap="square" anchor="t" lIns="0" rIns="0" tIns="0" bIns="0">
            <a:spAutoFit/>
          </a:bodyPr>
          <a:lstStyle/>
          <a:p>
            <a:pPr algn="ctr"/>
            <a:r>
              <a:rPr sz="1050" b="0" i="0">
                <a:solidFill>
                  <a:srgbClr val="4F6A73"/>
                </a:solidFill>
                <a:latin typeface="Nanum Gothic"/>
              </a:rPr>
              <a:t>Accuracy on 13,722 test patients never used for training or tuning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On patients the model has never seen</a:t>
            </a:r>
          </a:p>
        </p:txBody>
      </p:sp>
      <p:sp>
        <p:nvSpPr>
          <p:cNvPr id="3" name="Rounded Rectangle 2"/>
          <p:cNvSpPr/>
          <p:nvPr/>
        </p:nvSpPr>
        <p:spPr>
          <a:xfrm>
            <a:off x="722376" y="1234440"/>
            <a:ext cx="3703320" cy="93268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4" name="!!stat0"/>
          <p:cNvSpPr txBox="1"/>
          <p:nvPr/>
        </p:nvSpPr>
        <p:spPr>
          <a:xfrm>
            <a:off x="914400" y="1307592"/>
            <a:ext cx="1600200" cy="777240"/>
          </a:xfrm>
          <a:prstGeom prst="rect">
            <a:avLst/>
          </a:prstGeom>
          <a:noFill/>
        </p:spPr>
        <p:txBody>
          <a:bodyPr wrap="square" anchor="ctr" lIns="0" rIns="0" tIns="0" bIns="0">
            <a:spAutoFit/>
          </a:bodyPr>
          <a:lstStyle/>
          <a:p>
            <a:pPr algn="l"/>
            <a:r>
              <a:rPr sz="2800" b="1" i="0">
                <a:solidFill>
                  <a:srgbClr val="B23A2E"/>
                </a:solidFill>
                <a:latin typeface="Cabin"/>
              </a:rPr>
              <a:t>0.804</a:t>
            </a:r>
          </a:p>
        </p:txBody>
      </p:sp>
      <p:sp>
        <p:nvSpPr>
          <p:cNvPr id="5" name="TextBox 4"/>
          <p:cNvSpPr txBox="1"/>
          <p:nvPr/>
        </p:nvSpPr>
        <p:spPr>
          <a:xfrm>
            <a:off x="2514600" y="1307592"/>
            <a:ext cx="1783080" cy="777240"/>
          </a:xfrm>
          <a:prstGeom prst="rect">
            <a:avLst/>
          </a:prstGeom>
          <a:noFill/>
        </p:spPr>
        <p:txBody>
          <a:bodyPr wrap="square" anchor="ctr" lIns="0" rIns="0" tIns="0" bIns="0">
            <a:spAutoFit/>
          </a:bodyPr>
          <a:lstStyle/>
          <a:p>
            <a:pPr algn="l"/>
            <a:r>
              <a:rPr sz="1200" b="0" i="0">
                <a:solidFill>
                  <a:srgbClr val="0D3C4C"/>
                </a:solidFill>
                <a:latin typeface="Nanum Gothic"/>
              </a:rPr>
              <a:t>ROC AUC</a:t>
            </a:r>
          </a:p>
          <a:p>
            <a:pPr algn="l">
              <a:spcBef>
                <a:spcPts val="200"/>
              </a:spcBef>
            </a:pPr>
            <a:r>
              <a:rPr sz="1100" b="0" i="0">
                <a:solidFill>
                  <a:srgbClr val="4F6A73"/>
                </a:solidFill>
                <a:latin typeface="Nanum Gothic"/>
              </a:rPr>
              <a:t>95% CI 0.797-0.811</a:t>
            </a:r>
          </a:p>
        </p:txBody>
      </p:sp>
      <p:sp>
        <p:nvSpPr>
          <p:cNvPr id="6" name="Rounded Rectangle 5"/>
          <p:cNvSpPr/>
          <p:nvPr/>
        </p:nvSpPr>
        <p:spPr>
          <a:xfrm>
            <a:off x="722376" y="2350008"/>
            <a:ext cx="3703320" cy="93268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7" name="!!stat1"/>
          <p:cNvSpPr txBox="1"/>
          <p:nvPr/>
        </p:nvSpPr>
        <p:spPr>
          <a:xfrm>
            <a:off x="914400" y="2423160"/>
            <a:ext cx="1600200" cy="777240"/>
          </a:xfrm>
          <a:prstGeom prst="rect">
            <a:avLst/>
          </a:prstGeom>
          <a:noFill/>
        </p:spPr>
        <p:txBody>
          <a:bodyPr wrap="square" anchor="ctr" lIns="0" rIns="0" tIns="0" bIns="0">
            <a:spAutoFit/>
          </a:bodyPr>
          <a:lstStyle/>
          <a:p>
            <a:pPr algn="l"/>
            <a:r>
              <a:rPr sz="2800" b="1" i="0">
                <a:solidFill>
                  <a:srgbClr val="B23A2E"/>
                </a:solidFill>
                <a:latin typeface="Cabin"/>
              </a:rPr>
              <a:t>73.6%</a:t>
            </a:r>
          </a:p>
        </p:txBody>
      </p:sp>
      <p:sp>
        <p:nvSpPr>
          <p:cNvPr id="8" name="TextBox 7"/>
          <p:cNvSpPr txBox="1"/>
          <p:nvPr/>
        </p:nvSpPr>
        <p:spPr>
          <a:xfrm>
            <a:off x="2514600" y="2423160"/>
            <a:ext cx="1783080" cy="777240"/>
          </a:xfrm>
          <a:prstGeom prst="rect">
            <a:avLst/>
          </a:prstGeom>
          <a:noFill/>
        </p:spPr>
        <p:txBody>
          <a:bodyPr wrap="square" anchor="ctr" lIns="0" rIns="0" tIns="0" bIns="0">
            <a:spAutoFit/>
          </a:bodyPr>
          <a:lstStyle/>
          <a:p>
            <a:pPr algn="l"/>
            <a:r>
              <a:rPr sz="1200" b="0" i="0">
                <a:solidFill>
                  <a:srgbClr val="0D3C4C"/>
                </a:solidFill>
                <a:latin typeface="Nanum Gothic"/>
              </a:rPr>
              <a:t>accuracy</a:t>
            </a:r>
          </a:p>
          <a:p>
            <a:pPr algn="l">
              <a:spcBef>
                <a:spcPts val="200"/>
              </a:spcBef>
            </a:pPr>
            <a:r>
              <a:rPr sz="1100" b="0" i="0">
                <a:solidFill>
                  <a:srgbClr val="4F6A73"/>
                </a:solidFill>
                <a:latin typeface="Nanum Gothic"/>
              </a:rPr>
              <a:t>95% CI 72.9-74.4%</a:t>
            </a:r>
          </a:p>
        </p:txBody>
      </p:sp>
      <p:sp>
        <p:nvSpPr>
          <p:cNvPr id="9" name="Rounded Rectangle 8"/>
          <p:cNvSpPr/>
          <p:nvPr/>
        </p:nvSpPr>
        <p:spPr>
          <a:xfrm>
            <a:off x="722376" y="3465576"/>
            <a:ext cx="3703320" cy="93268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0" name="!!stat2"/>
          <p:cNvSpPr txBox="1"/>
          <p:nvPr/>
        </p:nvSpPr>
        <p:spPr>
          <a:xfrm>
            <a:off x="914400" y="3538728"/>
            <a:ext cx="1600200" cy="777240"/>
          </a:xfrm>
          <a:prstGeom prst="rect">
            <a:avLst/>
          </a:prstGeom>
          <a:noFill/>
        </p:spPr>
        <p:txBody>
          <a:bodyPr wrap="square" anchor="ctr" lIns="0" rIns="0" tIns="0" bIns="0">
            <a:spAutoFit/>
          </a:bodyPr>
          <a:lstStyle/>
          <a:p>
            <a:pPr algn="l"/>
            <a:r>
              <a:rPr sz="2800" b="1" i="0">
                <a:solidFill>
                  <a:srgbClr val="B23A2E"/>
                </a:solidFill>
                <a:latin typeface="Cabin"/>
              </a:rPr>
              <a:t>+274</a:t>
            </a:r>
          </a:p>
        </p:txBody>
      </p:sp>
      <p:sp>
        <p:nvSpPr>
          <p:cNvPr id="11" name="TextBox 10"/>
          <p:cNvSpPr txBox="1"/>
          <p:nvPr/>
        </p:nvSpPr>
        <p:spPr>
          <a:xfrm>
            <a:off x="2514600" y="3538728"/>
            <a:ext cx="1783080" cy="777240"/>
          </a:xfrm>
          <a:prstGeom prst="rect">
            <a:avLst/>
          </a:prstGeom>
          <a:noFill/>
        </p:spPr>
        <p:txBody>
          <a:bodyPr wrap="square" anchor="ctr" lIns="0" rIns="0" tIns="0" bIns="0">
            <a:spAutoFit/>
          </a:bodyPr>
          <a:lstStyle/>
          <a:p>
            <a:pPr algn="l"/>
            <a:r>
              <a:rPr sz="1200" b="0" i="0">
                <a:solidFill>
                  <a:srgbClr val="0D3C4C"/>
                </a:solidFill>
                <a:latin typeface="Nanum Gothic"/>
              </a:rPr>
              <a:t>more diseased patients found than by the rule, at matched specificity</a:t>
            </a:r>
          </a:p>
          <a:p>
            <a:pPr algn="l">
              <a:spcBef>
                <a:spcPts val="200"/>
              </a:spcBef>
            </a:pPr>
            <a:r>
              <a:rPr sz="1100" b="0" i="0">
                <a:solidFill>
                  <a:srgbClr val="4F6A73"/>
                </a:solidFill>
                <a:latin typeface="Nanum Gothic"/>
              </a:rPr>
              <a:t>95% CI +220 to +332</a:t>
            </a:r>
          </a:p>
        </p:txBody>
      </p:sp>
      <p:pic>
        <p:nvPicPr>
          <p:cNvPr id="12" name="Picture 11" descr="crop_fig8_roc_test.png"/>
          <p:cNvPicPr>
            <a:picLocks noChangeAspect="1"/>
          </p:cNvPicPr>
          <p:nvPr/>
        </p:nvPicPr>
        <p:blipFill>
          <a:blip r:embed="rId2"/>
          <a:stretch>
            <a:fillRect/>
          </a:stretch>
        </p:blipFill>
        <p:spPr>
          <a:xfrm>
            <a:off x="4800600" y="1143000"/>
            <a:ext cx="4062870" cy="361188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What drives the prediction</a:t>
            </a:r>
          </a:p>
        </p:txBody>
      </p:sp>
      <p:sp>
        <p:nvSpPr>
          <p:cNvPr id="3" name="TextBox 2"/>
          <p:cNvSpPr txBox="1"/>
          <p:nvPr/>
        </p:nvSpPr>
        <p:spPr>
          <a:xfrm>
            <a:off x="722376" y="1207008"/>
            <a:ext cx="1417320" cy="237744"/>
          </a:xfrm>
          <a:prstGeom prst="rect">
            <a:avLst/>
          </a:prstGeom>
          <a:noFill/>
        </p:spPr>
        <p:txBody>
          <a:bodyPr wrap="square" anchor="ctr" lIns="0" rIns="0" tIns="0" bIns="0">
            <a:spAutoFit/>
          </a:bodyPr>
          <a:lstStyle/>
          <a:p>
            <a:pPr algn="r"/>
            <a:r>
              <a:rPr sz="1100" b="1" i="0">
                <a:solidFill>
                  <a:srgbClr val="0D3C4C"/>
                </a:solidFill>
                <a:latin typeface="Cabin"/>
              </a:rPr>
              <a:t>blood pressure</a:t>
            </a:r>
          </a:p>
        </p:txBody>
      </p:sp>
      <p:sp>
        <p:nvSpPr>
          <p:cNvPr id="4" name="Rectangle 3"/>
          <p:cNvSpPr/>
          <p:nvPr/>
        </p:nvSpPr>
        <p:spPr>
          <a:xfrm>
            <a:off x="2240280" y="1243584"/>
            <a:ext cx="2514600" cy="164592"/>
          </a:xfrm>
          <a:prstGeom prst="rect">
            <a:avLst/>
          </a:prstGeom>
          <a:solidFill>
            <a:srgbClr val="E05A4F"/>
          </a:solidFill>
          <a:ln>
            <a:noFill/>
          </a:ln>
        </p:spPr>
        <p:txBody>
          <a:bodyPr rtlCol="0" anchor="ctr" lIns="73152" rIns="73152" tIns="27432" bIns="27432"/>
          <a:lstStyle/>
          <a:p>
            <a:pPr algn="ctr"/>
          </a:p>
        </p:txBody>
      </p:sp>
      <p:sp>
        <p:nvSpPr>
          <p:cNvPr id="5" name="TextBox 4"/>
          <p:cNvSpPr txBox="1"/>
          <p:nvPr/>
        </p:nvSpPr>
        <p:spPr>
          <a:xfrm>
            <a:off x="4818888" y="120700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0.210</a:t>
            </a:r>
          </a:p>
        </p:txBody>
      </p:sp>
      <p:sp>
        <p:nvSpPr>
          <p:cNvPr id="6" name="TextBox 5"/>
          <p:cNvSpPr txBox="1"/>
          <p:nvPr/>
        </p:nvSpPr>
        <p:spPr>
          <a:xfrm>
            <a:off x="722376" y="148132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age</a:t>
            </a:r>
          </a:p>
        </p:txBody>
      </p:sp>
      <p:sp>
        <p:nvSpPr>
          <p:cNvPr id="7" name="Rectangle 6"/>
          <p:cNvSpPr/>
          <p:nvPr/>
        </p:nvSpPr>
        <p:spPr>
          <a:xfrm>
            <a:off x="2240280" y="1517904"/>
            <a:ext cx="431074" cy="164592"/>
          </a:xfrm>
          <a:prstGeom prst="rect">
            <a:avLst/>
          </a:prstGeom>
          <a:solidFill>
            <a:srgbClr val="0D3C4C"/>
          </a:solidFill>
          <a:ln>
            <a:noFill/>
          </a:ln>
        </p:spPr>
        <p:txBody>
          <a:bodyPr rtlCol="0" anchor="ctr" lIns="73152" rIns="73152" tIns="27432" bIns="27432"/>
          <a:lstStyle/>
          <a:p>
            <a:pPr algn="ctr"/>
          </a:p>
        </p:txBody>
      </p:sp>
      <p:sp>
        <p:nvSpPr>
          <p:cNvPr id="8" name="TextBox 7"/>
          <p:cNvSpPr txBox="1"/>
          <p:nvPr/>
        </p:nvSpPr>
        <p:spPr>
          <a:xfrm>
            <a:off x="2735362" y="148132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0.036</a:t>
            </a:r>
          </a:p>
        </p:txBody>
      </p:sp>
      <p:sp>
        <p:nvSpPr>
          <p:cNvPr id="9" name="TextBox 8"/>
          <p:cNvSpPr txBox="1"/>
          <p:nvPr/>
        </p:nvSpPr>
        <p:spPr>
          <a:xfrm>
            <a:off x="722376" y="175564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cholesterol</a:t>
            </a:r>
          </a:p>
        </p:txBody>
      </p:sp>
      <p:sp>
        <p:nvSpPr>
          <p:cNvPr id="10" name="Rectangle 9"/>
          <p:cNvSpPr/>
          <p:nvPr/>
        </p:nvSpPr>
        <p:spPr>
          <a:xfrm>
            <a:off x="2240280" y="1792224"/>
            <a:ext cx="359228" cy="164592"/>
          </a:xfrm>
          <a:prstGeom prst="rect">
            <a:avLst/>
          </a:prstGeom>
          <a:solidFill>
            <a:srgbClr val="0D3C4C"/>
          </a:solidFill>
          <a:ln>
            <a:noFill/>
          </a:ln>
        </p:spPr>
        <p:txBody>
          <a:bodyPr rtlCol="0" anchor="ctr" lIns="73152" rIns="73152" tIns="27432" bIns="27432"/>
          <a:lstStyle/>
          <a:p>
            <a:pPr algn="ctr"/>
          </a:p>
        </p:txBody>
      </p:sp>
      <p:sp>
        <p:nvSpPr>
          <p:cNvPr id="11" name="TextBox 10"/>
          <p:cNvSpPr txBox="1"/>
          <p:nvPr/>
        </p:nvSpPr>
        <p:spPr>
          <a:xfrm>
            <a:off x="2663516" y="175564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0.030</a:t>
            </a:r>
          </a:p>
        </p:txBody>
      </p:sp>
      <p:sp>
        <p:nvSpPr>
          <p:cNvPr id="12" name="TextBox 11"/>
          <p:cNvSpPr txBox="1"/>
          <p:nvPr/>
        </p:nvSpPr>
        <p:spPr>
          <a:xfrm>
            <a:off x="722376" y="2029967"/>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body size</a:t>
            </a:r>
          </a:p>
        </p:txBody>
      </p:sp>
      <p:sp>
        <p:nvSpPr>
          <p:cNvPr id="13" name="Rectangle 12"/>
          <p:cNvSpPr/>
          <p:nvPr/>
        </p:nvSpPr>
        <p:spPr>
          <a:xfrm>
            <a:off x="2240280" y="2066543"/>
            <a:ext cx="83820" cy="164592"/>
          </a:xfrm>
          <a:prstGeom prst="rect">
            <a:avLst/>
          </a:prstGeom>
          <a:solidFill>
            <a:srgbClr val="0D3C4C"/>
          </a:solidFill>
          <a:ln>
            <a:noFill/>
          </a:ln>
        </p:spPr>
        <p:txBody>
          <a:bodyPr rtlCol="0" anchor="ctr" lIns="73152" rIns="73152" tIns="27432" bIns="27432"/>
          <a:lstStyle/>
          <a:p>
            <a:pPr algn="ctr"/>
          </a:p>
        </p:txBody>
      </p:sp>
      <p:sp>
        <p:nvSpPr>
          <p:cNvPr id="14" name="TextBox 13"/>
          <p:cNvSpPr txBox="1"/>
          <p:nvPr/>
        </p:nvSpPr>
        <p:spPr>
          <a:xfrm>
            <a:off x="2388108" y="2029967"/>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0.007</a:t>
            </a:r>
          </a:p>
        </p:txBody>
      </p:sp>
      <p:sp>
        <p:nvSpPr>
          <p:cNvPr id="15" name="TextBox 14"/>
          <p:cNvSpPr txBox="1"/>
          <p:nvPr/>
        </p:nvSpPr>
        <p:spPr>
          <a:xfrm>
            <a:off x="722376" y="230428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physical activity</a:t>
            </a:r>
          </a:p>
        </p:txBody>
      </p:sp>
      <p:sp>
        <p:nvSpPr>
          <p:cNvPr id="16" name="Rectangle 15"/>
          <p:cNvSpPr/>
          <p:nvPr/>
        </p:nvSpPr>
        <p:spPr>
          <a:xfrm>
            <a:off x="2240280" y="2340864"/>
            <a:ext cx="23948" cy="164592"/>
          </a:xfrm>
          <a:prstGeom prst="rect">
            <a:avLst/>
          </a:prstGeom>
          <a:solidFill>
            <a:srgbClr val="0D3C4C"/>
          </a:solidFill>
          <a:ln>
            <a:noFill/>
          </a:ln>
        </p:spPr>
        <p:txBody>
          <a:bodyPr rtlCol="0" anchor="ctr" lIns="73152" rIns="73152" tIns="27432" bIns="27432"/>
          <a:lstStyle/>
          <a:p>
            <a:pPr algn="ctr"/>
          </a:p>
        </p:txBody>
      </p:sp>
      <p:sp>
        <p:nvSpPr>
          <p:cNvPr id="17" name="TextBox 16"/>
          <p:cNvSpPr txBox="1"/>
          <p:nvPr/>
        </p:nvSpPr>
        <p:spPr>
          <a:xfrm>
            <a:off x="2328236" y="230428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0.002</a:t>
            </a:r>
          </a:p>
        </p:txBody>
      </p:sp>
      <p:sp>
        <p:nvSpPr>
          <p:cNvPr id="18" name="TextBox 17"/>
          <p:cNvSpPr txBox="1"/>
          <p:nvPr/>
        </p:nvSpPr>
        <p:spPr>
          <a:xfrm>
            <a:off x="722376" y="257860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glucose</a:t>
            </a:r>
          </a:p>
        </p:txBody>
      </p:sp>
      <p:sp>
        <p:nvSpPr>
          <p:cNvPr id="19" name="Rectangle 18"/>
          <p:cNvSpPr/>
          <p:nvPr/>
        </p:nvSpPr>
        <p:spPr>
          <a:xfrm>
            <a:off x="2240280" y="2615184"/>
            <a:ext cx="23948" cy="164592"/>
          </a:xfrm>
          <a:prstGeom prst="rect">
            <a:avLst/>
          </a:prstGeom>
          <a:solidFill>
            <a:srgbClr val="0D3C4C"/>
          </a:solidFill>
          <a:ln>
            <a:noFill/>
          </a:ln>
        </p:spPr>
        <p:txBody>
          <a:bodyPr rtlCol="0" anchor="ctr" lIns="73152" rIns="73152" tIns="27432" bIns="27432"/>
          <a:lstStyle/>
          <a:p>
            <a:pPr algn="ctr"/>
          </a:p>
        </p:txBody>
      </p:sp>
      <p:sp>
        <p:nvSpPr>
          <p:cNvPr id="20" name="TextBox 19"/>
          <p:cNvSpPr txBox="1"/>
          <p:nvPr/>
        </p:nvSpPr>
        <p:spPr>
          <a:xfrm>
            <a:off x="2328236" y="257860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0.002</a:t>
            </a:r>
          </a:p>
        </p:txBody>
      </p:sp>
      <p:sp>
        <p:nvSpPr>
          <p:cNvPr id="21" name="TextBox 20"/>
          <p:cNvSpPr txBox="1"/>
          <p:nvPr/>
        </p:nvSpPr>
        <p:spPr>
          <a:xfrm>
            <a:off x="722376" y="285292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smoking</a:t>
            </a:r>
          </a:p>
        </p:txBody>
      </p:sp>
      <p:sp>
        <p:nvSpPr>
          <p:cNvPr id="22" name="Rectangle 21"/>
          <p:cNvSpPr/>
          <p:nvPr/>
        </p:nvSpPr>
        <p:spPr>
          <a:xfrm>
            <a:off x="2240280" y="2889504"/>
            <a:ext cx="18288" cy="164592"/>
          </a:xfrm>
          <a:prstGeom prst="rect">
            <a:avLst/>
          </a:prstGeom>
          <a:solidFill>
            <a:srgbClr val="0D3C4C"/>
          </a:solidFill>
          <a:ln>
            <a:noFill/>
          </a:ln>
        </p:spPr>
        <p:txBody>
          <a:bodyPr rtlCol="0" anchor="ctr" lIns="73152" rIns="73152" tIns="27432" bIns="27432"/>
          <a:lstStyle/>
          <a:p>
            <a:pPr algn="ctr"/>
          </a:p>
        </p:txBody>
      </p:sp>
      <p:sp>
        <p:nvSpPr>
          <p:cNvPr id="23" name="TextBox 22"/>
          <p:cNvSpPr txBox="1"/>
          <p:nvPr/>
        </p:nvSpPr>
        <p:spPr>
          <a:xfrm>
            <a:off x="2316262" y="285292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0.001</a:t>
            </a:r>
          </a:p>
        </p:txBody>
      </p:sp>
      <p:sp>
        <p:nvSpPr>
          <p:cNvPr id="24" name="TextBox 23"/>
          <p:cNvSpPr txBox="1"/>
          <p:nvPr/>
        </p:nvSpPr>
        <p:spPr>
          <a:xfrm>
            <a:off x="722376" y="312724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alcohol</a:t>
            </a:r>
          </a:p>
        </p:txBody>
      </p:sp>
      <p:sp>
        <p:nvSpPr>
          <p:cNvPr id="25" name="Rectangle 24"/>
          <p:cNvSpPr/>
          <p:nvPr/>
        </p:nvSpPr>
        <p:spPr>
          <a:xfrm>
            <a:off x="2240280" y="3163824"/>
            <a:ext cx="18288" cy="164592"/>
          </a:xfrm>
          <a:prstGeom prst="rect">
            <a:avLst/>
          </a:prstGeom>
          <a:solidFill>
            <a:srgbClr val="0D3C4C"/>
          </a:solidFill>
          <a:ln>
            <a:noFill/>
          </a:ln>
        </p:spPr>
        <p:txBody>
          <a:bodyPr rtlCol="0" anchor="ctr" lIns="73152" rIns="73152" tIns="27432" bIns="27432"/>
          <a:lstStyle/>
          <a:p>
            <a:pPr algn="ctr"/>
          </a:p>
        </p:txBody>
      </p:sp>
      <p:sp>
        <p:nvSpPr>
          <p:cNvPr id="26" name="TextBox 25"/>
          <p:cNvSpPr txBox="1"/>
          <p:nvPr/>
        </p:nvSpPr>
        <p:spPr>
          <a:xfrm>
            <a:off x="2316262" y="312724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0.001</a:t>
            </a:r>
          </a:p>
        </p:txBody>
      </p:sp>
      <p:sp>
        <p:nvSpPr>
          <p:cNvPr id="27" name="TextBox 26"/>
          <p:cNvSpPr txBox="1"/>
          <p:nvPr/>
        </p:nvSpPr>
        <p:spPr>
          <a:xfrm>
            <a:off x="722376" y="3401568"/>
            <a:ext cx="1417320" cy="237744"/>
          </a:xfrm>
          <a:prstGeom prst="rect">
            <a:avLst/>
          </a:prstGeom>
          <a:noFill/>
        </p:spPr>
        <p:txBody>
          <a:bodyPr wrap="square" anchor="ctr" lIns="0" rIns="0" tIns="0" bIns="0">
            <a:spAutoFit/>
          </a:bodyPr>
          <a:lstStyle/>
          <a:p>
            <a:pPr algn="r"/>
            <a:r>
              <a:rPr sz="1100" b="0" i="0">
                <a:solidFill>
                  <a:srgbClr val="0D3C4C"/>
                </a:solidFill>
                <a:latin typeface="Nanum Gothic"/>
              </a:rPr>
              <a:t>sex</a:t>
            </a:r>
          </a:p>
        </p:txBody>
      </p:sp>
      <p:sp>
        <p:nvSpPr>
          <p:cNvPr id="28" name="TextBox 27"/>
          <p:cNvSpPr txBox="1"/>
          <p:nvPr/>
        </p:nvSpPr>
        <p:spPr>
          <a:xfrm>
            <a:off x="2304288" y="3401568"/>
            <a:ext cx="548640" cy="237744"/>
          </a:xfrm>
          <a:prstGeom prst="rect">
            <a:avLst/>
          </a:prstGeom>
          <a:noFill/>
        </p:spPr>
        <p:txBody>
          <a:bodyPr wrap="square" anchor="ctr" lIns="0" rIns="0" tIns="0" bIns="0">
            <a:spAutoFit/>
          </a:bodyPr>
          <a:lstStyle/>
          <a:p>
            <a:pPr algn="l"/>
            <a:r>
              <a:rPr sz="1000" b="0" i="0">
                <a:solidFill>
                  <a:srgbClr val="4F6A73"/>
                </a:solidFill>
                <a:latin typeface="Nanum Gothic"/>
              </a:rPr>
              <a:t>0.000</a:t>
            </a:r>
          </a:p>
        </p:txBody>
      </p:sp>
      <p:sp>
        <p:nvSpPr>
          <p:cNvPr id="29" name="TextBox 28"/>
          <p:cNvSpPr txBox="1"/>
          <p:nvPr/>
        </p:nvSpPr>
        <p:spPr>
          <a:xfrm>
            <a:off x="722376" y="3749039"/>
            <a:ext cx="4663440" cy="868680"/>
          </a:xfrm>
          <a:prstGeom prst="rect">
            <a:avLst/>
          </a:prstGeom>
          <a:noFill/>
        </p:spPr>
        <p:txBody>
          <a:bodyPr wrap="square" anchor="t" lIns="0" rIns="0" tIns="0" bIns="0">
            <a:spAutoFit/>
          </a:bodyPr>
          <a:lstStyle/>
          <a:p>
            <a:pPr algn="l"/>
            <a:r>
              <a:rPr sz="1150" b="1" i="0">
                <a:solidFill>
                  <a:srgbClr val="0D3C4C"/>
                </a:solidFill>
                <a:latin typeface="Nanum Gothic"/>
              </a:rPr>
              <a:t>Drop in test AUC when a factor is scrambled. </a:t>
            </a:r>
            <a:r>
              <a:rPr sz="1150" b="0" i="0">
                <a:solidFill>
                  <a:srgbClr val="0D3C4C"/>
                </a:solidFill>
                <a:latin typeface="Nanum Gothic"/>
              </a:rPr>
              <a:t>Retrained without blood pressure, a model still reaches 0.70; the other factors are just weaker.</a:t>
            </a:r>
          </a:p>
        </p:txBody>
      </p:sp>
      <p:sp>
        <p:nvSpPr>
          <p:cNvPr id="30" name="Rounded Rectangle 29"/>
          <p:cNvSpPr/>
          <p:nvPr/>
        </p:nvSpPr>
        <p:spPr>
          <a:xfrm>
            <a:off x="5623560" y="1188720"/>
            <a:ext cx="2807208" cy="3474720"/>
          </a:xfrm>
          <a:prstGeom prst="roundRect">
            <a:avLst>
              <a:gd name="adj" fmla="val 12000"/>
            </a:avLst>
          </a:prstGeom>
          <a:solidFill>
            <a:srgbClr val="EEF6F9"/>
          </a:solidFill>
          <a:ln>
            <a:noFill/>
          </a:ln>
        </p:spPr>
        <p:txBody>
          <a:bodyPr rtlCol="0" anchor="ctr" lIns="73152" rIns="73152" tIns="27432" bIns="27432"/>
          <a:lstStyle/>
          <a:p>
            <a:pPr algn="ctr"/>
          </a:p>
        </p:txBody>
      </p:sp>
      <p:pic>
        <p:nvPicPr>
          <p:cNvPr id="31" name="Picture 30" descr="crop_fig11_partial_dependence.png"/>
          <p:cNvPicPr>
            <a:picLocks noChangeAspect="1"/>
          </p:cNvPicPr>
          <p:nvPr/>
        </p:nvPicPr>
        <p:blipFill>
          <a:blip r:embed="rId2"/>
          <a:stretch>
            <a:fillRect/>
          </a:stretch>
        </p:blipFill>
        <p:spPr>
          <a:xfrm>
            <a:off x="5715000" y="1298448"/>
            <a:ext cx="2624328" cy="1845925"/>
          </a:xfrm>
          <a:prstGeom prst="rect">
            <a:avLst/>
          </a:prstGeom>
        </p:spPr>
      </p:pic>
      <p:sp>
        <p:nvSpPr>
          <p:cNvPr id="32" name="TextBox 31"/>
          <p:cNvSpPr txBox="1"/>
          <p:nvPr/>
        </p:nvSpPr>
        <p:spPr>
          <a:xfrm>
            <a:off x="5806440" y="3310128"/>
            <a:ext cx="2468880" cy="1280160"/>
          </a:xfrm>
          <a:prstGeom prst="rect">
            <a:avLst/>
          </a:prstGeom>
          <a:noFill/>
        </p:spPr>
        <p:txBody>
          <a:bodyPr wrap="square" anchor="t" lIns="0" rIns="0" tIns="0" bIns="0">
            <a:spAutoFit/>
          </a:bodyPr>
          <a:lstStyle/>
          <a:p>
            <a:pPr algn="l"/>
            <a:r>
              <a:rPr sz="1150" b="1" i="0">
                <a:solidFill>
                  <a:srgbClr val="B23A2E"/>
                </a:solidFill>
                <a:latin typeface="Nanum Gothic"/>
              </a:rPr>
              <a:t>More a switch than a slope: </a:t>
            </a:r>
            <a:r>
              <a:rPr sz="1150" b="0" i="0">
                <a:solidFill>
                  <a:srgbClr val="0D3C4C"/>
                </a:solidFill>
                <a:latin typeface="Nanum Gothic"/>
              </a:rPr>
              <a:t>predicted risk rises from about 40% at 120 mmHg to 80% at 140, then levels off.</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A score a doctor can add up</a:t>
            </a:r>
          </a:p>
        </p:txBody>
      </p:sp>
      <p:sp>
        <p:nvSpPr>
          <p:cNvPr id="3" name="Rounded Rectangle 2"/>
          <p:cNvSpPr/>
          <p:nvPr/>
        </p:nvSpPr>
        <p:spPr>
          <a:xfrm>
            <a:off x="722376" y="1188720"/>
            <a:ext cx="1874519" cy="566928"/>
          </a:xfrm>
          <a:prstGeom prst="roundRect">
            <a:avLst>
              <a:gd name="adj" fmla="val 20000"/>
            </a:avLst>
          </a:prstGeom>
          <a:solidFill>
            <a:srgbClr val="0D3C4C"/>
          </a:solidFill>
          <a:ln>
            <a:noFill/>
          </a:ln>
        </p:spPr>
        <p:txBody>
          <a:bodyPr rtlCol="0" anchor="ctr" lIns="73152" rIns="73152" tIns="27432" bIns="27432"/>
          <a:lstStyle/>
          <a:p>
            <a:pPr algn="ctr"/>
          </a:p>
        </p:txBody>
      </p:sp>
      <p:sp>
        <p:nvSpPr>
          <p:cNvPr id="4" name="icon hourglass"/>
          <p:cNvSpPr/>
          <p:nvPr/>
        </p:nvSpPr>
        <p:spPr>
          <a:xfrm>
            <a:off x="871475" y="1298448"/>
            <a:ext cx="250441" cy="347472"/>
          </a:xfrm>
          <a:custGeom>
            <a:rect b="b" l="l" r="r" t="t"/>
            <a:pathLst>
              <a:path extrusionOk="0" h="12634" w="9106">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 name="TextBox 4"/>
          <p:cNvSpPr txBox="1"/>
          <p:nvPr/>
        </p:nvSpPr>
        <p:spPr>
          <a:xfrm>
            <a:off x="1243584" y="1188720"/>
            <a:ext cx="1325880" cy="566928"/>
          </a:xfrm>
          <a:prstGeom prst="rect">
            <a:avLst/>
          </a:prstGeom>
          <a:noFill/>
        </p:spPr>
        <p:txBody>
          <a:bodyPr wrap="square" anchor="ctr" lIns="0" rIns="0" tIns="0" bIns="0">
            <a:spAutoFit/>
          </a:bodyPr>
          <a:lstStyle/>
          <a:p>
            <a:pPr algn="l"/>
            <a:r>
              <a:rPr sz="1050" b="1" i="0">
                <a:solidFill>
                  <a:srgbClr val="FFFFFF"/>
                </a:solidFill>
                <a:latin typeface="Cabin"/>
              </a:rPr>
              <a:t>Age
(years)</a:t>
            </a:r>
          </a:p>
        </p:txBody>
      </p:sp>
      <p:sp>
        <p:nvSpPr>
          <p:cNvPr id="6" name="Rounded Rectangle 5"/>
          <p:cNvSpPr/>
          <p:nvPr/>
        </p:nvSpPr>
        <p:spPr>
          <a:xfrm>
            <a:off x="2724912" y="1188720"/>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7" name="TextBox 6"/>
          <p:cNvSpPr txBox="1"/>
          <p:nvPr/>
        </p:nvSpPr>
        <p:spPr>
          <a:xfrm>
            <a:off x="2724912" y="1225296"/>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&lt;45</a:t>
            </a:r>
          </a:p>
        </p:txBody>
      </p:sp>
      <p:sp>
        <p:nvSpPr>
          <p:cNvPr id="8" name="TextBox 7"/>
          <p:cNvSpPr txBox="1"/>
          <p:nvPr/>
        </p:nvSpPr>
        <p:spPr>
          <a:xfrm>
            <a:off x="2724912" y="1426464"/>
            <a:ext cx="1024128" cy="310896"/>
          </a:xfrm>
          <a:prstGeom prst="rect">
            <a:avLst/>
          </a:prstGeom>
          <a:noFill/>
        </p:spPr>
        <p:txBody>
          <a:bodyPr wrap="square" anchor="t" lIns="0" rIns="0" tIns="0" bIns="0">
            <a:spAutoFit/>
          </a:bodyPr>
          <a:lstStyle/>
          <a:p>
            <a:pPr algn="ctr"/>
            <a:r>
              <a:rPr sz="1700" b="1" i="0">
                <a:solidFill>
                  <a:srgbClr val="4F6A73"/>
                </a:solidFill>
                <a:latin typeface="Cabin"/>
              </a:rPr>
              <a:t>0</a:t>
            </a:r>
          </a:p>
        </p:txBody>
      </p:sp>
      <p:sp>
        <p:nvSpPr>
          <p:cNvPr id="9" name="Rounded Rectangle 8"/>
          <p:cNvSpPr/>
          <p:nvPr/>
        </p:nvSpPr>
        <p:spPr>
          <a:xfrm>
            <a:off x="3867912" y="1188720"/>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0" name="TextBox 9"/>
          <p:cNvSpPr txBox="1"/>
          <p:nvPr/>
        </p:nvSpPr>
        <p:spPr>
          <a:xfrm>
            <a:off x="3867912" y="1225296"/>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45-49</a:t>
            </a:r>
          </a:p>
        </p:txBody>
      </p:sp>
      <p:sp>
        <p:nvSpPr>
          <p:cNvPr id="11" name="TextBox 10"/>
          <p:cNvSpPr txBox="1"/>
          <p:nvPr/>
        </p:nvSpPr>
        <p:spPr>
          <a:xfrm>
            <a:off x="3867912" y="1426464"/>
            <a:ext cx="1024128" cy="310896"/>
          </a:xfrm>
          <a:prstGeom prst="rect">
            <a:avLst/>
          </a:prstGeom>
          <a:noFill/>
        </p:spPr>
        <p:txBody>
          <a:bodyPr wrap="square" anchor="t" lIns="0" rIns="0" tIns="0" bIns="0">
            <a:spAutoFit/>
          </a:bodyPr>
          <a:lstStyle/>
          <a:p>
            <a:pPr algn="ctr"/>
            <a:r>
              <a:rPr sz="1700" b="1" i="0">
                <a:solidFill>
                  <a:srgbClr val="B23A2E"/>
                </a:solidFill>
                <a:latin typeface="Cabin"/>
              </a:rPr>
              <a:t>4</a:t>
            </a:r>
          </a:p>
        </p:txBody>
      </p:sp>
      <p:sp>
        <p:nvSpPr>
          <p:cNvPr id="12" name="Rounded Rectangle 11"/>
          <p:cNvSpPr/>
          <p:nvPr/>
        </p:nvSpPr>
        <p:spPr>
          <a:xfrm>
            <a:off x="5010912" y="1188720"/>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3" name="TextBox 12"/>
          <p:cNvSpPr txBox="1"/>
          <p:nvPr/>
        </p:nvSpPr>
        <p:spPr>
          <a:xfrm>
            <a:off x="5010912" y="1225296"/>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50-54</a:t>
            </a:r>
          </a:p>
        </p:txBody>
      </p:sp>
      <p:sp>
        <p:nvSpPr>
          <p:cNvPr id="14" name="TextBox 13"/>
          <p:cNvSpPr txBox="1"/>
          <p:nvPr/>
        </p:nvSpPr>
        <p:spPr>
          <a:xfrm>
            <a:off x="5010912" y="1426464"/>
            <a:ext cx="1024128" cy="310896"/>
          </a:xfrm>
          <a:prstGeom prst="rect">
            <a:avLst/>
          </a:prstGeom>
          <a:noFill/>
        </p:spPr>
        <p:txBody>
          <a:bodyPr wrap="square" anchor="t" lIns="0" rIns="0" tIns="0" bIns="0">
            <a:spAutoFit/>
          </a:bodyPr>
          <a:lstStyle/>
          <a:p>
            <a:pPr algn="ctr"/>
            <a:r>
              <a:rPr sz="1700" b="1" i="0">
                <a:solidFill>
                  <a:srgbClr val="B23A2E"/>
                </a:solidFill>
                <a:latin typeface="Cabin"/>
              </a:rPr>
              <a:t>5</a:t>
            </a:r>
          </a:p>
        </p:txBody>
      </p:sp>
      <p:sp>
        <p:nvSpPr>
          <p:cNvPr id="15" name="Rounded Rectangle 14"/>
          <p:cNvSpPr/>
          <p:nvPr/>
        </p:nvSpPr>
        <p:spPr>
          <a:xfrm>
            <a:off x="6153912" y="1188720"/>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6" name="TextBox 15"/>
          <p:cNvSpPr txBox="1"/>
          <p:nvPr/>
        </p:nvSpPr>
        <p:spPr>
          <a:xfrm>
            <a:off x="6153912" y="1225296"/>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55-59</a:t>
            </a:r>
          </a:p>
        </p:txBody>
      </p:sp>
      <p:sp>
        <p:nvSpPr>
          <p:cNvPr id="17" name="TextBox 16"/>
          <p:cNvSpPr txBox="1"/>
          <p:nvPr/>
        </p:nvSpPr>
        <p:spPr>
          <a:xfrm>
            <a:off x="6153912" y="1426464"/>
            <a:ext cx="1024128" cy="310896"/>
          </a:xfrm>
          <a:prstGeom prst="rect">
            <a:avLst/>
          </a:prstGeom>
          <a:noFill/>
        </p:spPr>
        <p:txBody>
          <a:bodyPr wrap="square" anchor="t" lIns="0" rIns="0" tIns="0" bIns="0">
            <a:spAutoFit/>
          </a:bodyPr>
          <a:lstStyle/>
          <a:p>
            <a:pPr algn="ctr"/>
            <a:r>
              <a:rPr sz="1700" b="1" i="0">
                <a:solidFill>
                  <a:srgbClr val="B23A2E"/>
                </a:solidFill>
                <a:latin typeface="Cabin"/>
              </a:rPr>
              <a:t>8</a:t>
            </a:r>
          </a:p>
        </p:txBody>
      </p:sp>
      <p:sp>
        <p:nvSpPr>
          <p:cNvPr id="18" name="Rounded Rectangle 17"/>
          <p:cNvSpPr/>
          <p:nvPr/>
        </p:nvSpPr>
        <p:spPr>
          <a:xfrm>
            <a:off x="7296912" y="1188720"/>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9" name="TextBox 18"/>
          <p:cNvSpPr txBox="1"/>
          <p:nvPr/>
        </p:nvSpPr>
        <p:spPr>
          <a:xfrm>
            <a:off x="7296912" y="1225296"/>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60+</a:t>
            </a:r>
          </a:p>
        </p:txBody>
      </p:sp>
      <p:sp>
        <p:nvSpPr>
          <p:cNvPr id="20" name="TextBox 19"/>
          <p:cNvSpPr txBox="1"/>
          <p:nvPr/>
        </p:nvSpPr>
        <p:spPr>
          <a:xfrm>
            <a:off x="7296912" y="1426464"/>
            <a:ext cx="1024128" cy="310896"/>
          </a:xfrm>
          <a:prstGeom prst="rect">
            <a:avLst/>
          </a:prstGeom>
          <a:noFill/>
        </p:spPr>
        <p:txBody>
          <a:bodyPr wrap="square" anchor="t" lIns="0" rIns="0" tIns="0" bIns="0">
            <a:spAutoFit/>
          </a:bodyPr>
          <a:lstStyle/>
          <a:p>
            <a:pPr algn="ctr"/>
            <a:r>
              <a:rPr sz="1700" b="1" i="0">
                <a:solidFill>
                  <a:srgbClr val="B23A2E"/>
                </a:solidFill>
                <a:latin typeface="Cabin"/>
              </a:rPr>
              <a:t>11</a:t>
            </a:r>
          </a:p>
        </p:txBody>
      </p:sp>
      <p:sp>
        <p:nvSpPr>
          <p:cNvPr id="21" name="Rounded Rectangle 20"/>
          <p:cNvSpPr/>
          <p:nvPr/>
        </p:nvSpPr>
        <p:spPr>
          <a:xfrm>
            <a:off x="722376" y="1901952"/>
            <a:ext cx="1874519" cy="566928"/>
          </a:xfrm>
          <a:prstGeom prst="roundRect">
            <a:avLst>
              <a:gd name="adj" fmla="val 20000"/>
            </a:avLst>
          </a:prstGeom>
          <a:solidFill>
            <a:srgbClr val="0D3C4C"/>
          </a:solidFill>
          <a:ln>
            <a:noFill/>
          </a:ln>
        </p:spPr>
        <p:txBody>
          <a:bodyPr rtlCol="0" anchor="ctr" lIns="73152" rIns="73152" tIns="27432" bIns="27432"/>
          <a:lstStyle/>
          <a:p>
            <a:pPr algn="ctr"/>
          </a:p>
        </p:txBody>
      </p:sp>
      <p:grpSp>
        <p:nvGrpSpPr>
          <p:cNvPr id="22" name="icon heart"/>
          <p:cNvGrpSpPr/>
          <p:nvPr/>
        </p:nvGrpSpPr>
        <p:grpSpPr>
          <a:xfrm>
            <a:off x="822960" y="2034609"/>
            <a:ext cx="347472" cy="301614"/>
            <a:chOff x="-28462125" y="3199700"/>
            <a:chExt cx="298550" cy="259150"/>
          </a:xfrm>
        </p:grpSpPr>
        <p:sp>
          <p:nvSpPr>
            <p:cNvPr id="23" name="Google Shape;6328;p61"/>
            <p:cNvSpPr/>
            <p:nvPr/>
          </p:nvSpPr>
          <p:spPr>
            <a:xfrm>
              <a:off x="-28459750" y="3284775"/>
              <a:ext cx="296175" cy="104775"/>
            </a:xfrm>
            <a:custGeom>
              <a:rect b="b" l="l" r="r" t="t"/>
              <a:pathLst>
                <a:path extrusionOk="0" h="4191" w="11847">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6329;p61"/>
            <p:cNvSpPr/>
            <p:nvPr/>
          </p:nvSpPr>
          <p:spPr>
            <a:xfrm>
              <a:off x="-28462125" y="3199700"/>
              <a:ext cx="295400" cy="125275"/>
            </a:xfrm>
            <a:custGeom>
              <a:rect b="b" l="l" r="r" t="t"/>
              <a:pathLst>
                <a:path extrusionOk="0" h="5011" w="11816">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6330;p61"/>
            <p:cNvSpPr/>
            <p:nvPr/>
          </p:nvSpPr>
          <p:spPr>
            <a:xfrm>
              <a:off x="-28405400" y="3360375"/>
              <a:ext cx="186675" cy="98475"/>
            </a:xfrm>
            <a:custGeom>
              <a:rect b="b" l="l" r="r" t="t"/>
              <a:pathLst>
                <a:path extrusionOk="0" h="3939" w="7467">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 name="TextBox 25"/>
          <p:cNvSpPr txBox="1"/>
          <p:nvPr/>
        </p:nvSpPr>
        <p:spPr>
          <a:xfrm>
            <a:off x="1243584" y="1901952"/>
            <a:ext cx="1325880" cy="566928"/>
          </a:xfrm>
          <a:prstGeom prst="rect">
            <a:avLst/>
          </a:prstGeom>
          <a:noFill/>
        </p:spPr>
        <p:txBody>
          <a:bodyPr wrap="square" anchor="ctr" lIns="0" rIns="0" tIns="0" bIns="0">
            <a:spAutoFit/>
          </a:bodyPr>
          <a:lstStyle/>
          <a:p>
            <a:pPr algn="l"/>
            <a:r>
              <a:rPr sz="1050" b="1" i="0">
                <a:solidFill>
                  <a:srgbClr val="FFFFFF"/>
                </a:solidFill>
                <a:latin typeface="Cabin"/>
              </a:rPr>
              <a:t>Systolic pressure
(mmHg)</a:t>
            </a:r>
          </a:p>
        </p:txBody>
      </p:sp>
      <p:sp>
        <p:nvSpPr>
          <p:cNvPr id="27" name="Rounded Rectangle 26"/>
          <p:cNvSpPr/>
          <p:nvPr/>
        </p:nvSpPr>
        <p:spPr>
          <a:xfrm>
            <a:off x="2724912" y="1901952"/>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28" name="TextBox 27"/>
          <p:cNvSpPr txBox="1"/>
          <p:nvPr/>
        </p:nvSpPr>
        <p:spPr>
          <a:xfrm>
            <a:off x="2724912" y="1938528"/>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&lt;120</a:t>
            </a:r>
          </a:p>
        </p:txBody>
      </p:sp>
      <p:sp>
        <p:nvSpPr>
          <p:cNvPr id="29" name="TextBox 28"/>
          <p:cNvSpPr txBox="1"/>
          <p:nvPr/>
        </p:nvSpPr>
        <p:spPr>
          <a:xfrm>
            <a:off x="2724912" y="2139696"/>
            <a:ext cx="1024128" cy="310896"/>
          </a:xfrm>
          <a:prstGeom prst="rect">
            <a:avLst/>
          </a:prstGeom>
          <a:noFill/>
        </p:spPr>
        <p:txBody>
          <a:bodyPr wrap="square" anchor="t" lIns="0" rIns="0" tIns="0" bIns="0">
            <a:spAutoFit/>
          </a:bodyPr>
          <a:lstStyle/>
          <a:p>
            <a:pPr algn="ctr"/>
            <a:r>
              <a:rPr sz="1700" b="1" i="0">
                <a:solidFill>
                  <a:srgbClr val="4F6A73"/>
                </a:solidFill>
                <a:latin typeface="Cabin"/>
              </a:rPr>
              <a:t>0</a:t>
            </a:r>
          </a:p>
        </p:txBody>
      </p:sp>
      <p:sp>
        <p:nvSpPr>
          <p:cNvPr id="30" name="Rounded Rectangle 29"/>
          <p:cNvSpPr/>
          <p:nvPr/>
        </p:nvSpPr>
        <p:spPr>
          <a:xfrm>
            <a:off x="3867912" y="1901952"/>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31" name="TextBox 30"/>
          <p:cNvSpPr txBox="1"/>
          <p:nvPr/>
        </p:nvSpPr>
        <p:spPr>
          <a:xfrm>
            <a:off x="3867912" y="1938528"/>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120-129</a:t>
            </a:r>
          </a:p>
        </p:txBody>
      </p:sp>
      <p:sp>
        <p:nvSpPr>
          <p:cNvPr id="32" name="TextBox 31"/>
          <p:cNvSpPr txBox="1"/>
          <p:nvPr/>
        </p:nvSpPr>
        <p:spPr>
          <a:xfrm>
            <a:off x="3867912" y="2139696"/>
            <a:ext cx="1024128" cy="310896"/>
          </a:xfrm>
          <a:prstGeom prst="rect">
            <a:avLst/>
          </a:prstGeom>
          <a:noFill/>
        </p:spPr>
        <p:txBody>
          <a:bodyPr wrap="square" anchor="t" lIns="0" rIns="0" tIns="0" bIns="0">
            <a:spAutoFit/>
          </a:bodyPr>
          <a:lstStyle/>
          <a:p>
            <a:pPr algn="ctr"/>
            <a:r>
              <a:rPr sz="1700" b="1" i="0">
                <a:solidFill>
                  <a:srgbClr val="B23A2E"/>
                </a:solidFill>
                <a:latin typeface="Cabin"/>
              </a:rPr>
              <a:t>5</a:t>
            </a:r>
          </a:p>
        </p:txBody>
      </p:sp>
      <p:sp>
        <p:nvSpPr>
          <p:cNvPr id="33" name="Rounded Rectangle 32"/>
          <p:cNvSpPr/>
          <p:nvPr/>
        </p:nvSpPr>
        <p:spPr>
          <a:xfrm>
            <a:off x="5010912" y="1901952"/>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34" name="TextBox 33"/>
          <p:cNvSpPr txBox="1"/>
          <p:nvPr/>
        </p:nvSpPr>
        <p:spPr>
          <a:xfrm>
            <a:off x="5010912" y="1938528"/>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130-139</a:t>
            </a:r>
          </a:p>
        </p:txBody>
      </p:sp>
      <p:sp>
        <p:nvSpPr>
          <p:cNvPr id="35" name="TextBox 34"/>
          <p:cNvSpPr txBox="1"/>
          <p:nvPr/>
        </p:nvSpPr>
        <p:spPr>
          <a:xfrm>
            <a:off x="5010912" y="2139696"/>
            <a:ext cx="1024128" cy="310896"/>
          </a:xfrm>
          <a:prstGeom prst="rect">
            <a:avLst/>
          </a:prstGeom>
          <a:noFill/>
        </p:spPr>
        <p:txBody>
          <a:bodyPr wrap="square" anchor="t" lIns="0" rIns="0" tIns="0" bIns="0">
            <a:spAutoFit/>
          </a:bodyPr>
          <a:lstStyle/>
          <a:p>
            <a:pPr algn="ctr"/>
            <a:r>
              <a:rPr sz="1700" b="1" i="0">
                <a:solidFill>
                  <a:srgbClr val="B23A2E"/>
                </a:solidFill>
                <a:latin typeface="Cabin"/>
              </a:rPr>
              <a:t>13</a:t>
            </a:r>
          </a:p>
        </p:txBody>
      </p:sp>
      <p:sp>
        <p:nvSpPr>
          <p:cNvPr id="36" name="Rounded Rectangle 35"/>
          <p:cNvSpPr/>
          <p:nvPr/>
        </p:nvSpPr>
        <p:spPr>
          <a:xfrm>
            <a:off x="6153912" y="1901952"/>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37" name="TextBox 36"/>
          <p:cNvSpPr txBox="1"/>
          <p:nvPr/>
        </p:nvSpPr>
        <p:spPr>
          <a:xfrm>
            <a:off x="6153912" y="1938528"/>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140-159</a:t>
            </a:r>
          </a:p>
        </p:txBody>
      </p:sp>
      <p:sp>
        <p:nvSpPr>
          <p:cNvPr id="38" name="TextBox 37"/>
          <p:cNvSpPr txBox="1"/>
          <p:nvPr/>
        </p:nvSpPr>
        <p:spPr>
          <a:xfrm>
            <a:off x="6153912" y="2139696"/>
            <a:ext cx="1024128" cy="310896"/>
          </a:xfrm>
          <a:prstGeom prst="rect">
            <a:avLst/>
          </a:prstGeom>
          <a:noFill/>
        </p:spPr>
        <p:txBody>
          <a:bodyPr wrap="square" anchor="t" lIns="0" rIns="0" tIns="0" bIns="0">
            <a:spAutoFit/>
          </a:bodyPr>
          <a:lstStyle/>
          <a:p>
            <a:pPr algn="ctr"/>
            <a:r>
              <a:rPr sz="1700" b="1" i="0">
                <a:solidFill>
                  <a:srgbClr val="B23A2E"/>
                </a:solidFill>
                <a:latin typeface="Cabin"/>
              </a:rPr>
              <a:t>25</a:t>
            </a:r>
          </a:p>
        </p:txBody>
      </p:sp>
      <p:sp>
        <p:nvSpPr>
          <p:cNvPr id="39" name="Rounded Rectangle 38"/>
          <p:cNvSpPr/>
          <p:nvPr/>
        </p:nvSpPr>
        <p:spPr>
          <a:xfrm>
            <a:off x="7296912" y="1901952"/>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40" name="TextBox 39"/>
          <p:cNvSpPr txBox="1"/>
          <p:nvPr/>
        </p:nvSpPr>
        <p:spPr>
          <a:xfrm>
            <a:off x="7296912" y="1938528"/>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160+</a:t>
            </a:r>
          </a:p>
        </p:txBody>
      </p:sp>
      <p:sp>
        <p:nvSpPr>
          <p:cNvPr id="41" name="TextBox 40"/>
          <p:cNvSpPr txBox="1"/>
          <p:nvPr/>
        </p:nvSpPr>
        <p:spPr>
          <a:xfrm>
            <a:off x="7296912" y="2139696"/>
            <a:ext cx="1024128" cy="310896"/>
          </a:xfrm>
          <a:prstGeom prst="rect">
            <a:avLst/>
          </a:prstGeom>
          <a:noFill/>
        </p:spPr>
        <p:txBody>
          <a:bodyPr wrap="square" anchor="t" lIns="0" rIns="0" tIns="0" bIns="0">
            <a:spAutoFit/>
          </a:bodyPr>
          <a:lstStyle/>
          <a:p>
            <a:pPr algn="ctr"/>
            <a:r>
              <a:rPr sz="1700" b="1" i="0">
                <a:solidFill>
                  <a:srgbClr val="B23A2E"/>
                </a:solidFill>
                <a:latin typeface="Cabin"/>
              </a:rPr>
              <a:t>27</a:t>
            </a:r>
          </a:p>
        </p:txBody>
      </p:sp>
      <p:sp>
        <p:nvSpPr>
          <p:cNvPr id="42" name="Rounded Rectangle 41"/>
          <p:cNvSpPr/>
          <p:nvPr/>
        </p:nvSpPr>
        <p:spPr>
          <a:xfrm>
            <a:off x="722376" y="2615184"/>
            <a:ext cx="1874519" cy="566928"/>
          </a:xfrm>
          <a:prstGeom prst="roundRect">
            <a:avLst>
              <a:gd name="adj" fmla="val 20000"/>
            </a:avLst>
          </a:prstGeom>
          <a:solidFill>
            <a:srgbClr val="0D3C4C"/>
          </a:solidFill>
          <a:ln>
            <a:noFill/>
          </a:ln>
        </p:spPr>
        <p:txBody>
          <a:bodyPr rtlCol="0" anchor="ctr" lIns="73152" rIns="73152" tIns="27432" bIns="27432"/>
          <a:lstStyle/>
          <a:p>
            <a:pPr algn="ctr"/>
          </a:p>
        </p:txBody>
      </p:sp>
      <p:grpSp>
        <p:nvGrpSpPr>
          <p:cNvPr id="43" name="icon scale"/>
          <p:cNvGrpSpPr/>
          <p:nvPr/>
        </p:nvGrpSpPr>
        <p:grpSpPr>
          <a:xfrm>
            <a:off x="822960" y="2725770"/>
            <a:ext cx="347472" cy="345756"/>
            <a:chOff x="-42994575" y="3950300"/>
            <a:chExt cx="319025" cy="317450"/>
          </a:xfrm>
        </p:grpSpPr>
        <p:sp>
          <p:nvSpPr>
            <p:cNvPr id="44" name="Google Shape;6172;p61"/>
            <p:cNvSpPr/>
            <p:nvPr/>
          </p:nvSpPr>
          <p:spPr>
            <a:xfrm>
              <a:off x="-42930775" y="4225200"/>
              <a:ext cx="191425" cy="42550"/>
            </a:xfrm>
            <a:custGeom>
              <a:rect b="b" l="l" r="r" t="t"/>
              <a:pathLst>
                <a:path extrusionOk="0" h="1702" w="7657">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6173;p61"/>
            <p:cNvSpPr/>
            <p:nvPr/>
          </p:nvSpPr>
          <p:spPr>
            <a:xfrm>
              <a:off x="-42908725" y="4163750"/>
              <a:ext cx="148900" cy="42550"/>
            </a:xfrm>
            <a:custGeom>
              <a:rect b="b" l="l" r="r" t="t"/>
              <a:pathLst>
                <a:path extrusionOk="0" h="1702" w="5956">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6174;p61"/>
            <p:cNvSpPr/>
            <p:nvPr/>
          </p:nvSpPr>
          <p:spPr>
            <a:xfrm>
              <a:off x="-42994575" y="3950300"/>
              <a:ext cx="319025" cy="211125"/>
            </a:xfrm>
            <a:custGeom>
              <a:rect b="b" l="l" r="r" t="t"/>
              <a:pathLst>
                <a:path extrusionOk="0" h="8445" w="12761">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 name="TextBox 46"/>
          <p:cNvSpPr txBox="1"/>
          <p:nvPr/>
        </p:nvSpPr>
        <p:spPr>
          <a:xfrm>
            <a:off x="1243584" y="2615184"/>
            <a:ext cx="1325880" cy="566928"/>
          </a:xfrm>
          <a:prstGeom prst="rect">
            <a:avLst/>
          </a:prstGeom>
          <a:noFill/>
        </p:spPr>
        <p:txBody>
          <a:bodyPr wrap="square" anchor="ctr" lIns="0" rIns="0" tIns="0" bIns="0">
            <a:spAutoFit/>
          </a:bodyPr>
          <a:lstStyle/>
          <a:p>
            <a:pPr algn="l"/>
            <a:r>
              <a:rPr sz="1050" b="1" i="0">
                <a:solidFill>
                  <a:srgbClr val="FFFFFF"/>
                </a:solidFill>
                <a:latin typeface="Cabin"/>
              </a:rPr>
              <a:t>BMI
(kg/m²)</a:t>
            </a:r>
          </a:p>
        </p:txBody>
      </p:sp>
      <p:sp>
        <p:nvSpPr>
          <p:cNvPr id="48" name="Rounded Rectangle 47"/>
          <p:cNvSpPr/>
          <p:nvPr/>
        </p:nvSpPr>
        <p:spPr>
          <a:xfrm>
            <a:off x="2724912" y="2615184"/>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49" name="TextBox 48"/>
          <p:cNvSpPr txBox="1"/>
          <p:nvPr/>
        </p:nvSpPr>
        <p:spPr>
          <a:xfrm>
            <a:off x="2724912" y="2651760"/>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&lt;25</a:t>
            </a:r>
          </a:p>
        </p:txBody>
      </p:sp>
      <p:sp>
        <p:nvSpPr>
          <p:cNvPr id="50" name="TextBox 49"/>
          <p:cNvSpPr txBox="1"/>
          <p:nvPr/>
        </p:nvSpPr>
        <p:spPr>
          <a:xfrm>
            <a:off x="2724912" y="2852928"/>
            <a:ext cx="1024128" cy="310896"/>
          </a:xfrm>
          <a:prstGeom prst="rect">
            <a:avLst/>
          </a:prstGeom>
          <a:noFill/>
        </p:spPr>
        <p:txBody>
          <a:bodyPr wrap="square" anchor="t" lIns="0" rIns="0" tIns="0" bIns="0">
            <a:spAutoFit/>
          </a:bodyPr>
          <a:lstStyle/>
          <a:p>
            <a:pPr algn="ctr"/>
            <a:r>
              <a:rPr sz="1700" b="1" i="0">
                <a:solidFill>
                  <a:srgbClr val="4F6A73"/>
                </a:solidFill>
                <a:latin typeface="Cabin"/>
              </a:rPr>
              <a:t>0</a:t>
            </a:r>
          </a:p>
        </p:txBody>
      </p:sp>
      <p:sp>
        <p:nvSpPr>
          <p:cNvPr id="51" name="Rounded Rectangle 50"/>
          <p:cNvSpPr/>
          <p:nvPr/>
        </p:nvSpPr>
        <p:spPr>
          <a:xfrm>
            <a:off x="3867912" y="2615184"/>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52" name="TextBox 51"/>
          <p:cNvSpPr txBox="1"/>
          <p:nvPr/>
        </p:nvSpPr>
        <p:spPr>
          <a:xfrm>
            <a:off x="3867912" y="2651760"/>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25-29.9</a:t>
            </a:r>
          </a:p>
        </p:txBody>
      </p:sp>
      <p:sp>
        <p:nvSpPr>
          <p:cNvPr id="53" name="TextBox 52"/>
          <p:cNvSpPr txBox="1"/>
          <p:nvPr/>
        </p:nvSpPr>
        <p:spPr>
          <a:xfrm>
            <a:off x="3867912" y="2852928"/>
            <a:ext cx="1024128" cy="310896"/>
          </a:xfrm>
          <a:prstGeom prst="rect">
            <a:avLst/>
          </a:prstGeom>
          <a:noFill/>
        </p:spPr>
        <p:txBody>
          <a:bodyPr wrap="square" anchor="t" lIns="0" rIns="0" tIns="0" bIns="0">
            <a:spAutoFit/>
          </a:bodyPr>
          <a:lstStyle/>
          <a:p>
            <a:pPr algn="ctr"/>
            <a:r>
              <a:rPr sz="1700" b="1" i="0">
                <a:solidFill>
                  <a:srgbClr val="B23A2E"/>
                </a:solidFill>
                <a:latin typeface="Cabin"/>
              </a:rPr>
              <a:t>2</a:t>
            </a:r>
          </a:p>
        </p:txBody>
      </p:sp>
      <p:sp>
        <p:nvSpPr>
          <p:cNvPr id="54" name="Rounded Rectangle 53"/>
          <p:cNvSpPr/>
          <p:nvPr/>
        </p:nvSpPr>
        <p:spPr>
          <a:xfrm>
            <a:off x="5010912" y="2615184"/>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55" name="TextBox 54"/>
          <p:cNvSpPr txBox="1"/>
          <p:nvPr/>
        </p:nvSpPr>
        <p:spPr>
          <a:xfrm>
            <a:off x="5010912" y="2651760"/>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30-34.9</a:t>
            </a:r>
          </a:p>
        </p:txBody>
      </p:sp>
      <p:sp>
        <p:nvSpPr>
          <p:cNvPr id="56" name="TextBox 55"/>
          <p:cNvSpPr txBox="1"/>
          <p:nvPr/>
        </p:nvSpPr>
        <p:spPr>
          <a:xfrm>
            <a:off x="5010912" y="2852928"/>
            <a:ext cx="1024128" cy="310896"/>
          </a:xfrm>
          <a:prstGeom prst="rect">
            <a:avLst/>
          </a:prstGeom>
          <a:noFill/>
        </p:spPr>
        <p:txBody>
          <a:bodyPr wrap="square" anchor="t" lIns="0" rIns="0" tIns="0" bIns="0">
            <a:spAutoFit/>
          </a:bodyPr>
          <a:lstStyle/>
          <a:p>
            <a:pPr algn="ctr"/>
            <a:r>
              <a:rPr sz="1700" b="1" i="0">
                <a:solidFill>
                  <a:srgbClr val="B23A2E"/>
                </a:solidFill>
                <a:latin typeface="Cabin"/>
              </a:rPr>
              <a:t>3</a:t>
            </a:r>
          </a:p>
        </p:txBody>
      </p:sp>
      <p:sp>
        <p:nvSpPr>
          <p:cNvPr id="57" name="Rounded Rectangle 56"/>
          <p:cNvSpPr/>
          <p:nvPr/>
        </p:nvSpPr>
        <p:spPr>
          <a:xfrm>
            <a:off x="6153912" y="2615184"/>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58" name="TextBox 57"/>
          <p:cNvSpPr txBox="1"/>
          <p:nvPr/>
        </p:nvSpPr>
        <p:spPr>
          <a:xfrm>
            <a:off x="6153912" y="2651760"/>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35+</a:t>
            </a:r>
          </a:p>
        </p:txBody>
      </p:sp>
      <p:sp>
        <p:nvSpPr>
          <p:cNvPr id="59" name="TextBox 58"/>
          <p:cNvSpPr txBox="1"/>
          <p:nvPr/>
        </p:nvSpPr>
        <p:spPr>
          <a:xfrm>
            <a:off x="6153912" y="2852928"/>
            <a:ext cx="1024128" cy="310896"/>
          </a:xfrm>
          <a:prstGeom prst="rect">
            <a:avLst/>
          </a:prstGeom>
          <a:noFill/>
        </p:spPr>
        <p:txBody>
          <a:bodyPr wrap="square" anchor="t" lIns="0" rIns="0" tIns="0" bIns="0">
            <a:spAutoFit/>
          </a:bodyPr>
          <a:lstStyle/>
          <a:p>
            <a:pPr algn="ctr"/>
            <a:r>
              <a:rPr sz="1700" b="1" i="0">
                <a:solidFill>
                  <a:srgbClr val="B23A2E"/>
                </a:solidFill>
                <a:latin typeface="Cabin"/>
              </a:rPr>
              <a:t>4</a:t>
            </a:r>
          </a:p>
        </p:txBody>
      </p:sp>
      <p:sp>
        <p:nvSpPr>
          <p:cNvPr id="60" name="Rounded Rectangle 59"/>
          <p:cNvSpPr/>
          <p:nvPr/>
        </p:nvSpPr>
        <p:spPr>
          <a:xfrm>
            <a:off x="722376" y="3328415"/>
            <a:ext cx="1874519" cy="566928"/>
          </a:xfrm>
          <a:prstGeom prst="roundRect">
            <a:avLst>
              <a:gd name="adj" fmla="val 20000"/>
            </a:avLst>
          </a:prstGeom>
          <a:solidFill>
            <a:srgbClr val="0D3C4C"/>
          </a:solidFill>
          <a:ln>
            <a:noFill/>
          </a:ln>
        </p:spPr>
        <p:txBody>
          <a:bodyPr rtlCol="0" anchor="ctr" lIns="73152" rIns="73152" tIns="27432" bIns="27432"/>
          <a:lstStyle/>
          <a:p>
            <a:pPr algn="ctr"/>
          </a:p>
        </p:txBody>
      </p:sp>
      <p:grpSp>
        <p:nvGrpSpPr>
          <p:cNvPr id="61" name="icon flask"/>
          <p:cNvGrpSpPr/>
          <p:nvPr/>
        </p:nvGrpSpPr>
        <p:grpSpPr>
          <a:xfrm>
            <a:off x="884102" y="3438144"/>
            <a:ext cx="225188" cy="347472"/>
            <a:chOff x="-28032075" y="3916450"/>
            <a:chExt cx="191425" cy="295375"/>
          </a:xfrm>
        </p:grpSpPr>
        <p:sp>
          <p:nvSpPr>
            <p:cNvPr id="62" name="Google Shape;6381;p61"/>
            <p:cNvSpPr/>
            <p:nvPr/>
          </p:nvSpPr>
          <p:spPr>
            <a:xfrm>
              <a:off x="-27996625" y="3916450"/>
              <a:ext cx="120525" cy="51225"/>
            </a:xfrm>
            <a:custGeom>
              <a:rect b="b" l="l" r="r" t="t"/>
              <a:pathLst>
                <a:path extrusionOk="0" h="2049" w="4821">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82;p61"/>
            <p:cNvSpPr/>
            <p:nvPr/>
          </p:nvSpPr>
          <p:spPr>
            <a:xfrm>
              <a:off x="-28032075" y="4089975"/>
              <a:ext cx="191425" cy="121850"/>
            </a:xfrm>
            <a:custGeom>
              <a:rect b="b" l="l" r="r" t="t"/>
              <a:pathLst>
                <a:path extrusionOk="0" h="4874" w="7657">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383;p61"/>
            <p:cNvSpPr/>
            <p:nvPr/>
          </p:nvSpPr>
          <p:spPr>
            <a:xfrm>
              <a:off x="-28024975" y="3985750"/>
              <a:ext cx="181950" cy="121975"/>
            </a:xfrm>
            <a:custGeom>
              <a:rect b="b" l="l" r="r" t="t"/>
              <a:pathLst>
                <a:path extrusionOk="0" h="4879" w="7278">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5" name="TextBox 64"/>
          <p:cNvSpPr txBox="1"/>
          <p:nvPr/>
        </p:nvSpPr>
        <p:spPr>
          <a:xfrm>
            <a:off x="1243584" y="3328415"/>
            <a:ext cx="1325880" cy="566928"/>
          </a:xfrm>
          <a:prstGeom prst="rect">
            <a:avLst/>
          </a:prstGeom>
          <a:noFill/>
        </p:spPr>
        <p:txBody>
          <a:bodyPr wrap="square" anchor="ctr" lIns="0" rIns="0" tIns="0" bIns="0">
            <a:spAutoFit/>
          </a:bodyPr>
          <a:lstStyle/>
          <a:p>
            <a:pPr algn="l"/>
            <a:r>
              <a:rPr sz="1050" b="1" i="0">
                <a:solidFill>
                  <a:srgbClr val="FFFFFF"/>
                </a:solidFill>
                <a:latin typeface="Cabin"/>
              </a:rPr>
              <a:t>Cholesterol</a:t>
            </a:r>
          </a:p>
        </p:txBody>
      </p:sp>
      <p:sp>
        <p:nvSpPr>
          <p:cNvPr id="66" name="Rounded Rectangle 65"/>
          <p:cNvSpPr/>
          <p:nvPr/>
        </p:nvSpPr>
        <p:spPr>
          <a:xfrm>
            <a:off x="2724912" y="3328415"/>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67" name="TextBox 66"/>
          <p:cNvSpPr txBox="1"/>
          <p:nvPr/>
        </p:nvSpPr>
        <p:spPr>
          <a:xfrm>
            <a:off x="2724912" y="3364991"/>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normal</a:t>
            </a:r>
          </a:p>
        </p:txBody>
      </p:sp>
      <p:sp>
        <p:nvSpPr>
          <p:cNvPr id="68" name="TextBox 67"/>
          <p:cNvSpPr txBox="1"/>
          <p:nvPr/>
        </p:nvSpPr>
        <p:spPr>
          <a:xfrm>
            <a:off x="2724912" y="3566159"/>
            <a:ext cx="1024128" cy="310896"/>
          </a:xfrm>
          <a:prstGeom prst="rect">
            <a:avLst/>
          </a:prstGeom>
          <a:noFill/>
        </p:spPr>
        <p:txBody>
          <a:bodyPr wrap="square" anchor="t" lIns="0" rIns="0" tIns="0" bIns="0">
            <a:spAutoFit/>
          </a:bodyPr>
          <a:lstStyle/>
          <a:p>
            <a:pPr algn="ctr"/>
            <a:r>
              <a:rPr sz="1700" b="1" i="0">
                <a:solidFill>
                  <a:srgbClr val="4F6A73"/>
                </a:solidFill>
                <a:latin typeface="Cabin"/>
              </a:rPr>
              <a:t>0</a:t>
            </a:r>
          </a:p>
        </p:txBody>
      </p:sp>
      <p:sp>
        <p:nvSpPr>
          <p:cNvPr id="69" name="Rounded Rectangle 68"/>
          <p:cNvSpPr/>
          <p:nvPr/>
        </p:nvSpPr>
        <p:spPr>
          <a:xfrm>
            <a:off x="3867912" y="3328415"/>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70" name="TextBox 69"/>
          <p:cNvSpPr txBox="1"/>
          <p:nvPr/>
        </p:nvSpPr>
        <p:spPr>
          <a:xfrm>
            <a:off x="3867912" y="3364991"/>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above</a:t>
            </a:r>
          </a:p>
        </p:txBody>
      </p:sp>
      <p:sp>
        <p:nvSpPr>
          <p:cNvPr id="71" name="TextBox 70"/>
          <p:cNvSpPr txBox="1"/>
          <p:nvPr/>
        </p:nvSpPr>
        <p:spPr>
          <a:xfrm>
            <a:off x="3867912" y="3566159"/>
            <a:ext cx="1024128" cy="310896"/>
          </a:xfrm>
          <a:prstGeom prst="rect">
            <a:avLst/>
          </a:prstGeom>
          <a:noFill/>
        </p:spPr>
        <p:txBody>
          <a:bodyPr wrap="square" anchor="t" lIns="0" rIns="0" tIns="0" bIns="0">
            <a:spAutoFit/>
          </a:bodyPr>
          <a:lstStyle/>
          <a:p>
            <a:pPr algn="ctr"/>
            <a:r>
              <a:rPr sz="1700" b="1" i="0">
                <a:solidFill>
                  <a:srgbClr val="B23A2E"/>
                </a:solidFill>
                <a:latin typeface="Cabin"/>
              </a:rPr>
              <a:t>3</a:t>
            </a:r>
          </a:p>
        </p:txBody>
      </p:sp>
      <p:sp>
        <p:nvSpPr>
          <p:cNvPr id="72" name="Rounded Rectangle 71"/>
          <p:cNvSpPr/>
          <p:nvPr/>
        </p:nvSpPr>
        <p:spPr>
          <a:xfrm>
            <a:off x="5010912" y="3328415"/>
            <a:ext cx="1024128" cy="566928"/>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73" name="TextBox 72"/>
          <p:cNvSpPr txBox="1"/>
          <p:nvPr/>
        </p:nvSpPr>
        <p:spPr>
          <a:xfrm>
            <a:off x="5010912" y="3364991"/>
            <a:ext cx="1024128" cy="228600"/>
          </a:xfrm>
          <a:prstGeom prst="rect">
            <a:avLst/>
          </a:prstGeom>
          <a:noFill/>
        </p:spPr>
        <p:txBody>
          <a:bodyPr wrap="square" anchor="t" lIns="0" rIns="0" tIns="0" bIns="0">
            <a:spAutoFit/>
          </a:bodyPr>
          <a:lstStyle/>
          <a:p>
            <a:pPr algn="ctr"/>
            <a:r>
              <a:rPr sz="1000" b="0" i="0">
                <a:solidFill>
                  <a:srgbClr val="4F6A73"/>
                </a:solidFill>
                <a:latin typeface="Nanum Gothic"/>
              </a:rPr>
              <a:t>well above</a:t>
            </a:r>
          </a:p>
        </p:txBody>
      </p:sp>
      <p:sp>
        <p:nvSpPr>
          <p:cNvPr id="74" name="TextBox 73"/>
          <p:cNvSpPr txBox="1"/>
          <p:nvPr/>
        </p:nvSpPr>
        <p:spPr>
          <a:xfrm>
            <a:off x="5010912" y="3566159"/>
            <a:ext cx="1024128" cy="310896"/>
          </a:xfrm>
          <a:prstGeom prst="rect">
            <a:avLst/>
          </a:prstGeom>
          <a:noFill/>
        </p:spPr>
        <p:txBody>
          <a:bodyPr wrap="square" anchor="t" lIns="0" rIns="0" tIns="0" bIns="0">
            <a:spAutoFit/>
          </a:bodyPr>
          <a:lstStyle/>
          <a:p>
            <a:pPr algn="ctr"/>
            <a:r>
              <a:rPr sz="1700" b="1" i="0">
                <a:solidFill>
                  <a:srgbClr val="B23A2E"/>
                </a:solidFill>
                <a:latin typeface="Cabin"/>
              </a:rPr>
              <a:t>9</a:t>
            </a:r>
          </a:p>
        </p:txBody>
      </p:sp>
      <p:sp>
        <p:nvSpPr>
          <p:cNvPr id="75" name="TextBox 74"/>
          <p:cNvSpPr txBox="1"/>
          <p:nvPr/>
        </p:nvSpPr>
        <p:spPr>
          <a:xfrm>
            <a:off x="722376" y="4069080"/>
            <a:ext cx="7708392" cy="274320"/>
          </a:xfrm>
          <a:prstGeom prst="rect">
            <a:avLst/>
          </a:prstGeom>
          <a:noFill/>
        </p:spPr>
        <p:txBody>
          <a:bodyPr wrap="square" anchor="t" lIns="0" rIns="0" tIns="0" bIns="0">
            <a:spAutoFit/>
          </a:bodyPr>
          <a:lstStyle/>
          <a:p>
            <a:pPr algn="ctr"/>
            <a:r>
              <a:rPr sz="1200" b="1" i="0">
                <a:solidFill>
                  <a:srgbClr val="0D3C4C"/>
                </a:solidFill>
                <a:latin typeface="Nanum Gothic"/>
              </a:rPr>
              <a:t>0 points → 8%   ·   10 points → 27%   ·   20 points → 55%   ·   30 points → 81%   ·   40 points → 84%</a:t>
            </a:r>
          </a:p>
        </p:txBody>
      </p:sp>
      <p:sp>
        <p:nvSpPr>
          <p:cNvPr id="76" name="TextBox 75"/>
          <p:cNvSpPr txBox="1"/>
          <p:nvPr/>
        </p:nvSpPr>
        <p:spPr>
          <a:xfrm>
            <a:off x="722376" y="4407408"/>
            <a:ext cx="7708392" cy="274320"/>
          </a:xfrm>
          <a:prstGeom prst="rect">
            <a:avLst/>
          </a:prstGeom>
          <a:noFill/>
        </p:spPr>
        <p:txBody>
          <a:bodyPr wrap="square" anchor="t" lIns="0" rIns="0" tIns="0" bIns="0">
            <a:spAutoFit/>
          </a:bodyPr>
          <a:lstStyle/>
          <a:p>
            <a:pPr algn="ctr"/>
            <a:r>
              <a:rPr sz="1100" b="0" i="0">
                <a:solidFill>
                  <a:srgbClr val="4F6A73"/>
                </a:solidFill>
                <a:latin typeface="Nanum Gothic"/>
              </a:rPr>
              <a:t>AUC 0.793 on the test patients, against 0.804 for the best model. Measured values only: the self-reported answers and glucose are left out.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How 90% accuracy can happen</a:t>
            </a:r>
          </a:p>
        </p:txBody>
      </p:sp>
      <p:sp>
        <p:nvSpPr>
          <p:cNvPr id="3" name="!!lab_a"/>
          <p:cNvSpPr txBox="1"/>
          <p:nvPr/>
        </p:nvSpPr>
        <p:spPr>
          <a:xfrm>
            <a:off x="722376" y="1325880"/>
            <a:ext cx="2423160" cy="329184"/>
          </a:xfrm>
          <a:prstGeom prst="rect">
            <a:avLst/>
          </a:prstGeom>
          <a:noFill/>
        </p:spPr>
        <p:txBody>
          <a:bodyPr wrap="square" anchor="ctr" lIns="0" rIns="0" tIns="0" bIns="0">
            <a:spAutoFit/>
          </a:bodyPr>
          <a:lstStyle/>
          <a:p>
            <a:pPr algn="r"/>
            <a:r>
              <a:rPr sz="1200" b="1" i="0">
                <a:solidFill>
                  <a:srgbClr val="0D3C4C"/>
                </a:solidFill>
                <a:latin typeface="Cabin"/>
              </a:rPr>
              <a:t>Honest: unseen patients</a:t>
            </a:r>
          </a:p>
        </p:txBody>
      </p:sp>
      <p:sp>
        <p:nvSpPr>
          <p:cNvPr id="4" name="!!bar_a"/>
          <p:cNvSpPr/>
          <p:nvPr/>
        </p:nvSpPr>
        <p:spPr>
          <a:xfrm>
            <a:off x="3246120" y="1371600"/>
            <a:ext cx="2157983" cy="237744"/>
          </a:xfrm>
          <a:prstGeom prst="rect">
            <a:avLst/>
          </a:prstGeom>
          <a:solidFill>
            <a:srgbClr val="0D3C4C"/>
          </a:solidFill>
          <a:ln>
            <a:noFill/>
          </a:ln>
        </p:spPr>
        <p:txBody>
          <a:bodyPr rtlCol="0" anchor="ctr" lIns="73152" rIns="73152" tIns="27432" bIns="27432"/>
          <a:lstStyle/>
          <a:p>
            <a:pPr algn="ctr"/>
          </a:p>
        </p:txBody>
      </p:sp>
      <p:sp>
        <p:nvSpPr>
          <p:cNvPr id="5" name="!!val_a"/>
          <p:cNvSpPr txBox="1"/>
          <p:nvPr/>
        </p:nvSpPr>
        <p:spPr>
          <a:xfrm>
            <a:off x="5477255" y="1325880"/>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73.6%</a:t>
            </a:r>
            <a:r>
              <a:rPr sz="1100" b="0" i="0">
                <a:solidFill>
                  <a:srgbClr val="4F6A73"/>
                </a:solidFill>
                <a:latin typeface="Nanum Gothic"/>
              </a:rPr>
              <a:t>  gradient boosting</a:t>
            </a:r>
          </a:p>
        </p:txBody>
      </p:sp>
      <p:sp>
        <p:nvSpPr>
          <p:cNvPr id="6" name="!!lab_b"/>
          <p:cNvSpPr txBox="1"/>
          <p:nvPr/>
        </p:nvSpPr>
        <p:spPr>
          <a:xfrm>
            <a:off x="722376" y="1892807"/>
            <a:ext cx="2423160" cy="329184"/>
          </a:xfrm>
          <a:prstGeom prst="rect">
            <a:avLst/>
          </a:prstGeom>
          <a:noFill/>
        </p:spPr>
        <p:txBody>
          <a:bodyPr wrap="square" anchor="ctr" lIns="0" rIns="0" tIns="0" bIns="0">
            <a:spAutoFit/>
          </a:bodyPr>
          <a:lstStyle/>
          <a:p>
            <a:pPr algn="r"/>
            <a:r>
              <a:rPr sz="1200" b="1" i="0">
                <a:solidFill>
                  <a:srgbClr val="0D3C4C"/>
                </a:solidFill>
                <a:latin typeface="Cabin"/>
              </a:rPr>
              <a:t>Luckiest of 50 random splits</a:t>
            </a:r>
          </a:p>
        </p:txBody>
      </p:sp>
      <p:sp>
        <p:nvSpPr>
          <p:cNvPr id="7" name="!!bar_b"/>
          <p:cNvSpPr/>
          <p:nvPr/>
        </p:nvSpPr>
        <p:spPr>
          <a:xfrm>
            <a:off x="3246120" y="1938527"/>
            <a:ext cx="2139696" cy="237744"/>
          </a:xfrm>
          <a:prstGeom prst="rect">
            <a:avLst/>
          </a:prstGeom>
          <a:solidFill>
            <a:srgbClr val="ADBAC1"/>
          </a:solidFill>
          <a:ln>
            <a:noFill/>
          </a:ln>
        </p:spPr>
        <p:txBody>
          <a:bodyPr rtlCol="0" anchor="ctr" lIns="73152" rIns="73152" tIns="27432" bIns="27432"/>
          <a:lstStyle/>
          <a:p>
            <a:pPr algn="ctr"/>
          </a:p>
        </p:txBody>
      </p:sp>
      <p:sp>
        <p:nvSpPr>
          <p:cNvPr id="8" name="!!val_b"/>
          <p:cNvSpPr txBox="1"/>
          <p:nvPr/>
        </p:nvSpPr>
        <p:spPr>
          <a:xfrm>
            <a:off x="5458968" y="1892807"/>
            <a:ext cx="2103120" cy="329184"/>
          </a:xfrm>
          <a:prstGeom prst="rect">
            <a:avLst/>
          </a:prstGeom>
          <a:noFill/>
        </p:spPr>
        <p:txBody>
          <a:bodyPr wrap="square" anchor="ctr" lIns="0" rIns="0" tIns="0" bIns="0">
            <a:spAutoFit/>
          </a:bodyPr>
          <a:lstStyle/>
          <a:p>
            <a:pPr algn="l"/>
            <a:r>
              <a:rPr sz="1100" b="1" i="0">
                <a:solidFill>
                  <a:srgbClr val="0D3C4C"/>
                </a:solidFill>
                <a:latin typeface="Nanum Gothic"/>
              </a:rPr>
              <a:t>73.4%</a:t>
            </a:r>
            <a:r>
              <a:rPr sz="1100" b="0" i="0">
                <a:solidFill>
                  <a:srgbClr val="4F6A73"/>
                </a:solidFill>
                <a:latin typeface="Nanum Gothic"/>
              </a:rPr>
              <a:t>  logistic regression</a:t>
            </a:r>
          </a:p>
        </p:txBody>
      </p:sp>
      <p:sp>
        <p:nvSpPr>
          <p:cNvPr id="9" name="!!lab_c"/>
          <p:cNvSpPr txBox="1"/>
          <p:nvPr/>
        </p:nvSpPr>
        <p:spPr>
          <a:xfrm>
            <a:off x="722376" y="2459736"/>
            <a:ext cx="2423160" cy="329184"/>
          </a:xfrm>
          <a:prstGeom prst="rect">
            <a:avLst/>
          </a:prstGeom>
          <a:noFill/>
        </p:spPr>
        <p:txBody>
          <a:bodyPr wrap="square" anchor="ctr" lIns="0" rIns="0" tIns="0" bIns="0">
            <a:spAutoFit/>
          </a:bodyPr>
          <a:lstStyle/>
          <a:p>
            <a:pPr algn="r"/>
            <a:r>
              <a:rPr sz="1200" b="1" i="0">
                <a:solidFill>
                  <a:srgbClr val="0D3C4C"/>
                </a:solidFill>
                <a:latin typeface="Cabin"/>
              </a:rPr>
              <a:t>SMOTE before the split</a:t>
            </a:r>
          </a:p>
        </p:txBody>
      </p:sp>
      <p:sp>
        <p:nvSpPr>
          <p:cNvPr id="10" name="!!bar_c"/>
          <p:cNvSpPr/>
          <p:nvPr/>
        </p:nvSpPr>
        <p:spPr>
          <a:xfrm>
            <a:off x="3246120" y="2505456"/>
            <a:ext cx="3355848" cy="237744"/>
          </a:xfrm>
          <a:prstGeom prst="rect">
            <a:avLst/>
          </a:prstGeom>
          <a:solidFill>
            <a:srgbClr val="E05A4F"/>
          </a:solidFill>
          <a:ln>
            <a:noFill/>
          </a:ln>
        </p:spPr>
        <p:txBody>
          <a:bodyPr rtlCol="0" anchor="ctr" lIns="73152" rIns="73152" tIns="27432" bIns="27432"/>
          <a:lstStyle/>
          <a:p>
            <a:pPr algn="ctr"/>
          </a:p>
        </p:txBody>
      </p:sp>
      <p:sp>
        <p:nvSpPr>
          <p:cNvPr id="11" name="!!val_c"/>
          <p:cNvSpPr txBox="1"/>
          <p:nvPr/>
        </p:nvSpPr>
        <p:spPr>
          <a:xfrm>
            <a:off x="5687568" y="2459736"/>
            <a:ext cx="841248" cy="329184"/>
          </a:xfrm>
          <a:prstGeom prst="rect">
            <a:avLst/>
          </a:prstGeom>
          <a:noFill/>
        </p:spPr>
        <p:txBody>
          <a:bodyPr wrap="square" anchor="ctr" lIns="0" rIns="0" tIns="0" bIns="0">
            <a:spAutoFit/>
          </a:bodyPr>
          <a:lstStyle/>
          <a:p>
            <a:pPr algn="r"/>
            <a:r>
              <a:rPr sz="1100" b="1" i="0">
                <a:solidFill>
                  <a:srgbClr val="FFFFFF"/>
                </a:solidFill>
                <a:latin typeface="Nanum Gothic"/>
              </a:rPr>
              <a:t>86.7%</a:t>
            </a:r>
          </a:p>
        </p:txBody>
      </p:sp>
      <p:sp>
        <p:nvSpPr>
          <p:cNvPr id="12" name="!!lab_d"/>
          <p:cNvSpPr txBox="1"/>
          <p:nvPr/>
        </p:nvSpPr>
        <p:spPr>
          <a:xfrm>
            <a:off x="722376" y="3026663"/>
            <a:ext cx="2423160" cy="329184"/>
          </a:xfrm>
          <a:prstGeom prst="rect">
            <a:avLst/>
          </a:prstGeom>
          <a:noFill/>
        </p:spPr>
        <p:txBody>
          <a:bodyPr wrap="square" anchor="ctr" lIns="0" rIns="0" tIns="0" bIns="0">
            <a:spAutoFit/>
          </a:bodyPr>
          <a:lstStyle/>
          <a:p>
            <a:pPr algn="r"/>
            <a:r>
              <a:rPr sz="1200" b="1" i="0">
                <a:solidFill>
                  <a:srgbClr val="0D3C4C"/>
                </a:solidFill>
                <a:latin typeface="Cabin"/>
              </a:rPr>
              <a:t>Scored on its own training data</a:t>
            </a:r>
          </a:p>
        </p:txBody>
      </p:sp>
      <p:sp>
        <p:nvSpPr>
          <p:cNvPr id="13" name="!!bar_d"/>
          <p:cNvSpPr/>
          <p:nvPr/>
        </p:nvSpPr>
        <p:spPr>
          <a:xfrm>
            <a:off x="3246120" y="3072383"/>
            <a:ext cx="4562855" cy="237744"/>
          </a:xfrm>
          <a:prstGeom prst="rect">
            <a:avLst/>
          </a:prstGeom>
          <a:solidFill>
            <a:srgbClr val="E05A4F"/>
          </a:solidFill>
          <a:ln>
            <a:noFill/>
          </a:ln>
        </p:spPr>
        <p:txBody>
          <a:bodyPr rtlCol="0" anchor="ctr" lIns="73152" rIns="73152" tIns="27432" bIns="27432"/>
          <a:lstStyle/>
          <a:p>
            <a:pPr algn="ctr"/>
          </a:p>
        </p:txBody>
      </p:sp>
      <p:sp>
        <p:nvSpPr>
          <p:cNvPr id="14" name="!!val_d"/>
          <p:cNvSpPr txBox="1"/>
          <p:nvPr/>
        </p:nvSpPr>
        <p:spPr>
          <a:xfrm>
            <a:off x="6894575" y="3026663"/>
            <a:ext cx="841248" cy="329184"/>
          </a:xfrm>
          <a:prstGeom prst="rect">
            <a:avLst/>
          </a:prstGeom>
          <a:noFill/>
        </p:spPr>
        <p:txBody>
          <a:bodyPr wrap="square" anchor="ctr" lIns="0" rIns="0" tIns="0" bIns="0">
            <a:spAutoFit/>
          </a:bodyPr>
          <a:lstStyle/>
          <a:p>
            <a:pPr algn="r"/>
            <a:r>
              <a:rPr sz="1100" b="1" i="0">
                <a:solidFill>
                  <a:srgbClr val="FFFFFF"/>
                </a:solidFill>
                <a:latin typeface="Nanum Gothic"/>
              </a:rPr>
              <a:t>99.9%</a:t>
            </a:r>
          </a:p>
        </p:txBody>
      </p:sp>
      <p:sp>
        <p:nvSpPr>
          <p:cNvPr id="15" name="!!axis"/>
          <p:cNvSpPr/>
          <p:nvPr/>
        </p:nvSpPr>
        <p:spPr>
          <a:xfrm>
            <a:off x="3246120" y="1280160"/>
            <a:ext cx="10972" cy="2331720"/>
          </a:xfrm>
          <a:prstGeom prst="rect">
            <a:avLst/>
          </a:prstGeom>
          <a:solidFill>
            <a:srgbClr val="ADBAC1"/>
          </a:solidFill>
          <a:ln>
            <a:noFill/>
          </a:ln>
        </p:spPr>
        <p:txBody>
          <a:bodyPr rtlCol="0" anchor="ctr" lIns="73152" rIns="73152" tIns="27432" bIns="27432"/>
          <a:lstStyle/>
          <a:p>
            <a:pPr algn="ctr"/>
          </a:p>
        </p:txBody>
      </p:sp>
      <p:sp>
        <p:nvSpPr>
          <p:cNvPr id="16" name="!!tick50"/>
          <p:cNvSpPr txBox="1"/>
          <p:nvPr/>
        </p:nvSpPr>
        <p:spPr>
          <a:xfrm>
            <a:off x="2880360" y="3630168"/>
            <a:ext cx="731520" cy="228600"/>
          </a:xfrm>
          <a:prstGeom prst="rect">
            <a:avLst/>
          </a:prstGeom>
          <a:noFill/>
        </p:spPr>
        <p:txBody>
          <a:bodyPr wrap="square" anchor="t" lIns="0" rIns="0" tIns="0" bIns="0">
            <a:spAutoFit/>
          </a:bodyPr>
          <a:lstStyle/>
          <a:p>
            <a:pPr algn="ctr"/>
            <a:r>
              <a:rPr sz="950" b="0" i="0">
                <a:solidFill>
                  <a:srgbClr val="4F6A73"/>
                </a:solidFill>
                <a:latin typeface="Nanum Gothic"/>
              </a:rPr>
              <a:t>50%</a:t>
            </a:r>
          </a:p>
        </p:txBody>
      </p:sp>
      <p:sp>
        <p:nvSpPr>
          <p:cNvPr id="17" name="!!tick75"/>
          <p:cNvSpPr txBox="1"/>
          <p:nvPr/>
        </p:nvSpPr>
        <p:spPr>
          <a:xfrm>
            <a:off x="5166359" y="3630168"/>
            <a:ext cx="731520" cy="228600"/>
          </a:xfrm>
          <a:prstGeom prst="rect">
            <a:avLst/>
          </a:prstGeom>
          <a:noFill/>
        </p:spPr>
        <p:txBody>
          <a:bodyPr wrap="square" anchor="t" lIns="0" rIns="0" tIns="0" bIns="0">
            <a:spAutoFit/>
          </a:bodyPr>
          <a:lstStyle/>
          <a:p>
            <a:pPr algn="ctr"/>
            <a:r>
              <a:rPr sz="950" b="0" i="0">
                <a:solidFill>
                  <a:srgbClr val="4F6A73"/>
                </a:solidFill>
                <a:latin typeface="Nanum Gothic"/>
              </a:rPr>
              <a:t>75%</a:t>
            </a:r>
          </a:p>
        </p:txBody>
      </p:sp>
      <p:sp>
        <p:nvSpPr>
          <p:cNvPr id="18" name="!!tick100"/>
          <p:cNvSpPr txBox="1"/>
          <p:nvPr/>
        </p:nvSpPr>
        <p:spPr>
          <a:xfrm>
            <a:off x="7452360" y="3630168"/>
            <a:ext cx="731520" cy="228600"/>
          </a:xfrm>
          <a:prstGeom prst="rect">
            <a:avLst/>
          </a:prstGeom>
          <a:noFill/>
        </p:spPr>
        <p:txBody>
          <a:bodyPr wrap="square" anchor="t" lIns="0" rIns="0" tIns="0" bIns="0">
            <a:spAutoFit/>
          </a:bodyPr>
          <a:lstStyle/>
          <a:p>
            <a:pPr algn="ctr"/>
            <a:r>
              <a:rPr sz="950" b="0" i="0">
                <a:solidFill>
                  <a:srgbClr val="4F6A73"/>
                </a:solidFill>
                <a:latin typeface="Nanum Gothic"/>
              </a:rPr>
              <a:t>100%</a:t>
            </a:r>
          </a:p>
        </p:txBody>
      </p:sp>
      <p:sp>
        <p:nvSpPr>
          <p:cNvPr id="19" name="!!model_c"/>
          <p:cNvSpPr txBox="1"/>
          <p:nvPr/>
        </p:nvSpPr>
        <p:spPr>
          <a:xfrm>
            <a:off x="3319272" y="2459736"/>
            <a:ext cx="1828800" cy="329184"/>
          </a:xfrm>
          <a:prstGeom prst="rect">
            <a:avLst/>
          </a:prstGeom>
          <a:noFill/>
        </p:spPr>
        <p:txBody>
          <a:bodyPr wrap="square" anchor="ctr" lIns="0" rIns="0" tIns="0" bIns="0">
            <a:spAutoFit/>
          </a:bodyPr>
          <a:lstStyle/>
          <a:p>
            <a:pPr algn="l"/>
            <a:r>
              <a:rPr sz="1050" b="0" i="0">
                <a:solidFill>
                  <a:srgbClr val="FFFFFF"/>
                </a:solidFill>
                <a:latin typeface="Nanum Gothic"/>
              </a:rPr>
              <a:t>random forest</a:t>
            </a:r>
          </a:p>
        </p:txBody>
      </p:sp>
      <p:sp>
        <p:nvSpPr>
          <p:cNvPr id="20" name="!!model_d"/>
          <p:cNvSpPr txBox="1"/>
          <p:nvPr/>
        </p:nvSpPr>
        <p:spPr>
          <a:xfrm>
            <a:off x="3319272" y="3026663"/>
            <a:ext cx="1828800" cy="329184"/>
          </a:xfrm>
          <a:prstGeom prst="rect">
            <a:avLst/>
          </a:prstGeom>
          <a:noFill/>
        </p:spPr>
        <p:txBody>
          <a:bodyPr wrap="square" anchor="ctr" lIns="0" rIns="0" tIns="0" bIns="0">
            <a:spAutoFit/>
          </a:bodyPr>
          <a:lstStyle/>
          <a:p>
            <a:pPr algn="l"/>
            <a:r>
              <a:rPr sz="1050" b="0" i="0">
                <a:solidFill>
                  <a:srgbClr val="FFFFFF"/>
                </a:solidFill>
                <a:latin typeface="Nanum Gothic"/>
              </a:rPr>
              <a:t>random forest</a:t>
            </a:r>
          </a:p>
        </p:txBody>
      </p:sp>
      <p:sp>
        <p:nvSpPr>
          <p:cNvPr id="21" name="Isosceles Triangle 20"/>
          <p:cNvSpPr/>
          <p:nvPr/>
        </p:nvSpPr>
        <p:spPr>
          <a:xfrm>
            <a:off x="6665061" y="3785615"/>
            <a:ext cx="128016" cy="128016"/>
          </a:xfrm>
          <a:prstGeom prst="triangle">
            <a:avLst/>
          </a:prstGeom>
          <a:solidFill>
            <a:srgbClr val="B23A2E"/>
          </a:solidFill>
          <a:ln>
            <a:noFill/>
          </a:ln>
        </p:spPr>
        <p:txBody>
          <a:bodyPr rtlCol="0" anchor="ctr" lIns="73152" rIns="73152" tIns="27432" bIns="27432"/>
          <a:lstStyle/>
          <a:p>
            <a:pPr algn="ctr"/>
          </a:p>
        </p:txBody>
      </p:sp>
      <p:sp>
        <p:nvSpPr>
          <p:cNvPr id="22" name="TextBox 21"/>
          <p:cNvSpPr txBox="1"/>
          <p:nvPr/>
        </p:nvSpPr>
        <p:spPr>
          <a:xfrm>
            <a:off x="5220309" y="3959352"/>
            <a:ext cx="1463040" cy="228600"/>
          </a:xfrm>
          <a:prstGeom prst="rect">
            <a:avLst/>
          </a:prstGeom>
          <a:noFill/>
        </p:spPr>
        <p:txBody>
          <a:bodyPr wrap="square" anchor="t" lIns="0" rIns="0" tIns="0" bIns="0">
            <a:spAutoFit/>
          </a:bodyPr>
          <a:lstStyle/>
          <a:p>
            <a:pPr algn="r"/>
            <a:r>
              <a:rPr sz="1000" b="1" i="0">
                <a:solidFill>
                  <a:srgbClr val="B23A2E"/>
                </a:solidFill>
                <a:latin typeface="Nanum Gothic"/>
              </a:rPr>
              <a:t>88% (Omkari 2024)</a:t>
            </a:r>
          </a:p>
        </p:txBody>
      </p:sp>
      <p:sp>
        <p:nvSpPr>
          <p:cNvPr id="23" name="Isosceles Triangle 22"/>
          <p:cNvSpPr/>
          <p:nvPr/>
        </p:nvSpPr>
        <p:spPr>
          <a:xfrm>
            <a:off x="7251192" y="3785615"/>
            <a:ext cx="128016" cy="128016"/>
          </a:xfrm>
          <a:prstGeom prst="triangle">
            <a:avLst/>
          </a:prstGeom>
          <a:solidFill>
            <a:srgbClr val="B23A2E"/>
          </a:solidFill>
          <a:ln>
            <a:noFill/>
          </a:ln>
        </p:spPr>
        <p:txBody>
          <a:bodyPr rtlCol="0" anchor="ctr" lIns="73152" rIns="73152" tIns="27432" bIns="27432"/>
          <a:lstStyle/>
          <a:p>
            <a:pPr algn="ctr"/>
          </a:p>
        </p:txBody>
      </p:sp>
      <p:sp>
        <p:nvSpPr>
          <p:cNvPr id="24" name="TextBox 23"/>
          <p:cNvSpPr txBox="1"/>
          <p:nvPr/>
        </p:nvSpPr>
        <p:spPr>
          <a:xfrm>
            <a:off x="7360920" y="3959352"/>
            <a:ext cx="1463040" cy="228600"/>
          </a:xfrm>
          <a:prstGeom prst="rect">
            <a:avLst/>
          </a:prstGeom>
          <a:noFill/>
        </p:spPr>
        <p:txBody>
          <a:bodyPr wrap="square" anchor="t" lIns="0" rIns="0" tIns="0" bIns="0">
            <a:spAutoFit/>
          </a:bodyPr>
          <a:lstStyle/>
          <a:p>
            <a:pPr algn="l"/>
            <a:r>
              <a:rPr sz="1000" b="1" i="0">
                <a:solidFill>
                  <a:srgbClr val="B23A2E"/>
                </a:solidFill>
                <a:latin typeface="Nanum Gothic"/>
              </a:rPr>
              <a:t>94.5% (Auvee 2026)</a:t>
            </a:r>
          </a:p>
        </p:txBody>
      </p:sp>
      <p:sp>
        <p:nvSpPr>
          <p:cNvPr id="25" name="TextBox 24"/>
          <p:cNvSpPr txBox="1"/>
          <p:nvPr/>
        </p:nvSpPr>
        <p:spPr>
          <a:xfrm>
            <a:off x="722376" y="4297680"/>
            <a:ext cx="7708392" cy="457200"/>
          </a:xfrm>
          <a:prstGeom prst="rect">
            <a:avLst/>
          </a:prstGeom>
          <a:noFill/>
        </p:spPr>
        <p:txBody>
          <a:bodyPr wrap="square" anchor="t" lIns="0" rIns="0" tIns="0" bIns="0">
            <a:spAutoFit/>
          </a:bodyPr>
          <a:lstStyle/>
          <a:p>
            <a:pPr algn="ctr"/>
            <a:r>
              <a:rPr sz="1150" b="1" i="0">
                <a:solidFill>
                  <a:srgbClr val="0D3C4C"/>
                </a:solidFill>
                <a:latin typeface="Nanum Gothic"/>
              </a:rPr>
              <a:t>Same data; only the evaluation changes. </a:t>
            </a:r>
            <a:r>
              <a:rPr sz="1150" b="0" i="0">
                <a:solidFill>
                  <a:srgbClr val="4F6A73"/>
                </a:solidFill>
                <a:latin typeface="Nanum Gothic"/>
              </a:rPr>
              <a:t>Red markers: accuracies published for this dataset; how they were obtained is not known.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800">
        <p159:morph option="byObject"/>
      </p:transition>
    </mc:Choice>
    <mc:Fallback>
      <p:transition xmlns:p14="http://schemas.microsoft.com/office/powerpoint/2010/main" spd="slow" p14:dur="18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Can the predictions be trusted?</a:t>
            </a:r>
          </a:p>
        </p:txBody>
      </p:sp>
      <p:pic>
        <p:nvPicPr>
          <p:cNvPr id="3" name="Picture 2" descr="crop_fig13_calibration.png"/>
          <p:cNvPicPr>
            <a:picLocks noChangeAspect="1"/>
          </p:cNvPicPr>
          <p:nvPr/>
        </p:nvPicPr>
        <p:blipFill>
          <a:blip r:embed="rId2"/>
          <a:stretch>
            <a:fillRect/>
          </a:stretch>
        </p:blipFill>
        <p:spPr>
          <a:xfrm>
            <a:off x="566928" y="1143000"/>
            <a:ext cx="4101975" cy="3611880"/>
          </a:xfrm>
          <a:prstGeom prst="rect">
            <a:avLst/>
          </a:prstGeom>
        </p:spPr>
      </p:pic>
      <p:sp>
        <p:nvSpPr>
          <p:cNvPr id="4" name="Oval 3"/>
          <p:cNvSpPr/>
          <p:nvPr/>
        </p:nvSpPr>
        <p:spPr>
          <a:xfrm>
            <a:off x="4709160" y="1207008"/>
            <a:ext cx="502920" cy="502920"/>
          </a:xfrm>
          <a:prstGeom prst="ellipse">
            <a:avLst/>
          </a:prstGeom>
          <a:solidFill>
            <a:srgbClr val="0D3C4C"/>
          </a:solidFill>
          <a:ln>
            <a:noFill/>
          </a:ln>
        </p:spPr>
        <p:txBody>
          <a:bodyPr rtlCol="0" anchor="ctr" lIns="73152" rIns="73152" tIns="27432" bIns="27432"/>
          <a:lstStyle/>
          <a:p>
            <a:pPr algn="ctr"/>
          </a:p>
        </p:txBody>
      </p:sp>
      <p:grpSp>
        <p:nvGrpSpPr>
          <p:cNvPr id="5" name="icon scale"/>
          <p:cNvGrpSpPr/>
          <p:nvPr/>
        </p:nvGrpSpPr>
        <p:grpSpPr>
          <a:xfrm>
            <a:off x="4819802" y="1318345"/>
            <a:ext cx="281635" cy="280244"/>
            <a:chOff x="-42994575" y="3950300"/>
            <a:chExt cx="319025" cy="317450"/>
          </a:xfrm>
        </p:grpSpPr>
        <p:sp>
          <p:nvSpPr>
            <p:cNvPr id="6" name="Google Shape;6172;p61"/>
            <p:cNvSpPr/>
            <p:nvPr/>
          </p:nvSpPr>
          <p:spPr>
            <a:xfrm>
              <a:off x="-42930775" y="4225200"/>
              <a:ext cx="191425" cy="42550"/>
            </a:xfrm>
            <a:custGeom>
              <a:rect b="b" l="l" r="r" t="t"/>
              <a:pathLst>
                <a:path extrusionOk="0" h="1702" w="7657">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 name="Google Shape;6173;p61"/>
            <p:cNvSpPr/>
            <p:nvPr/>
          </p:nvSpPr>
          <p:spPr>
            <a:xfrm>
              <a:off x="-42908725" y="4163750"/>
              <a:ext cx="148900" cy="42550"/>
            </a:xfrm>
            <a:custGeom>
              <a:rect b="b" l="l" r="r" t="t"/>
              <a:pathLst>
                <a:path extrusionOk="0" h="1702" w="5956">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 name="Google Shape;6174;p61"/>
            <p:cNvSpPr/>
            <p:nvPr/>
          </p:nvSpPr>
          <p:spPr>
            <a:xfrm>
              <a:off x="-42994575" y="3950300"/>
              <a:ext cx="319025" cy="211125"/>
            </a:xfrm>
            <a:custGeom>
              <a:rect b="b" l="l" r="r" t="t"/>
              <a:pathLst>
                <a:path extrusionOk="0" h="8445" w="12761">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 name="TextBox 8"/>
          <p:cNvSpPr txBox="1"/>
          <p:nvPr/>
        </p:nvSpPr>
        <p:spPr>
          <a:xfrm>
            <a:off x="5349240" y="1179576"/>
            <a:ext cx="3108960" cy="292608"/>
          </a:xfrm>
          <a:prstGeom prst="rect">
            <a:avLst/>
          </a:prstGeom>
          <a:noFill/>
        </p:spPr>
        <p:txBody>
          <a:bodyPr wrap="square" anchor="t" lIns="0" rIns="0" tIns="0" bIns="0">
            <a:spAutoFit/>
          </a:bodyPr>
          <a:lstStyle/>
          <a:p>
            <a:pPr algn="l"/>
            <a:r>
              <a:rPr sz="1350" b="1" i="0">
                <a:solidFill>
                  <a:srgbClr val="0D3C4C"/>
                </a:solidFill>
                <a:latin typeface="Cabin"/>
              </a:rPr>
              <a:t>Calibrated in this sample</a:t>
            </a:r>
          </a:p>
        </p:txBody>
      </p:sp>
      <p:sp>
        <p:nvSpPr>
          <p:cNvPr id="10" name="TextBox 9"/>
          <p:cNvSpPr txBox="1"/>
          <p:nvPr/>
        </p:nvSpPr>
        <p:spPr>
          <a:xfrm>
            <a:off x="5349240" y="1472184"/>
            <a:ext cx="3108960" cy="457200"/>
          </a:xfrm>
          <a:prstGeom prst="rect">
            <a:avLst/>
          </a:prstGeom>
          <a:noFill/>
        </p:spPr>
        <p:txBody>
          <a:bodyPr wrap="square" anchor="t" lIns="0" rIns="0" tIns="0" bIns="0">
            <a:spAutoFit/>
          </a:bodyPr>
          <a:lstStyle/>
          <a:p>
            <a:pPr algn="l"/>
            <a:r>
              <a:rPr sz="1150" b="0" i="0">
                <a:solidFill>
                  <a:srgbClr val="4F6A73"/>
                </a:solidFill>
                <a:latin typeface="Nanum Gothic"/>
              </a:rPr>
              <a:t>patients given 20% have CVD about 20% of the time</a:t>
            </a:r>
          </a:p>
        </p:txBody>
      </p:sp>
      <p:sp>
        <p:nvSpPr>
          <p:cNvPr id="11" name="Oval 10"/>
          <p:cNvSpPr/>
          <p:nvPr/>
        </p:nvSpPr>
        <p:spPr>
          <a:xfrm>
            <a:off x="4709160" y="2075688"/>
            <a:ext cx="502920" cy="502920"/>
          </a:xfrm>
          <a:prstGeom prst="ellipse">
            <a:avLst/>
          </a:prstGeom>
          <a:solidFill>
            <a:srgbClr val="0D3C4C"/>
          </a:solidFill>
          <a:ln>
            <a:noFill/>
          </a:ln>
        </p:spPr>
        <p:txBody>
          <a:bodyPr rtlCol="0" anchor="ctr" lIns="73152" rIns="73152" tIns="27432" bIns="27432"/>
          <a:lstStyle/>
          <a:p>
            <a:pPr algn="ctr"/>
          </a:p>
        </p:txBody>
      </p:sp>
      <p:grpSp>
        <p:nvGrpSpPr>
          <p:cNvPr id="12" name="icon people"/>
          <p:cNvGrpSpPr/>
          <p:nvPr/>
        </p:nvGrpSpPr>
        <p:grpSpPr>
          <a:xfrm>
            <a:off x="4819802" y="2187101"/>
            <a:ext cx="281635" cy="280093"/>
            <a:chOff x="-5971525" y="3273750"/>
            <a:chExt cx="292250" cy="290650"/>
          </a:xfrm>
        </p:grpSpPr>
        <p:sp>
          <p:nvSpPr>
            <p:cNvPr id="13" name="Google Shape;8670;p66"/>
            <p:cNvSpPr/>
            <p:nvPr/>
          </p:nvSpPr>
          <p:spPr>
            <a:xfrm>
              <a:off x="-5868325" y="3273750"/>
              <a:ext cx="85075" cy="84300"/>
            </a:xfrm>
            <a:custGeom>
              <a:rect b="b" l="l" r="r" t="t"/>
              <a:pathLst>
                <a:path extrusionOk="0" h="3372" w="3403">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8671;p66"/>
            <p:cNvSpPr/>
            <p:nvPr/>
          </p:nvSpPr>
          <p:spPr>
            <a:xfrm>
              <a:off x="-5971525" y="3308400"/>
              <a:ext cx="292250" cy="256000"/>
            </a:xfrm>
            <a:custGeom>
              <a:rect b="b" l="l" r="r" t="t"/>
              <a:pathLst>
                <a:path extrusionOk="0" h="10240" w="1169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 name="TextBox 14"/>
          <p:cNvSpPr txBox="1"/>
          <p:nvPr/>
        </p:nvSpPr>
        <p:spPr>
          <a:xfrm>
            <a:off x="5349240" y="2048256"/>
            <a:ext cx="3108960" cy="292608"/>
          </a:xfrm>
          <a:prstGeom prst="rect">
            <a:avLst/>
          </a:prstGeom>
          <a:noFill/>
        </p:spPr>
        <p:txBody>
          <a:bodyPr wrap="square" anchor="t" lIns="0" rIns="0" tIns="0" bIns="0">
            <a:spAutoFit/>
          </a:bodyPr>
          <a:lstStyle/>
          <a:p>
            <a:pPr algn="l"/>
            <a:r>
              <a:rPr sz="1350" b="1" i="0">
                <a:solidFill>
                  <a:srgbClr val="0D3C4C"/>
                </a:solidFill>
                <a:latin typeface="Cabin"/>
              </a:rPr>
              <a:t>Women and men: similar</a:t>
            </a:r>
          </a:p>
        </p:txBody>
      </p:sp>
      <p:sp>
        <p:nvSpPr>
          <p:cNvPr id="16" name="TextBox 15"/>
          <p:cNvSpPr txBox="1"/>
          <p:nvPr/>
        </p:nvSpPr>
        <p:spPr>
          <a:xfrm>
            <a:off x="5349240" y="2340864"/>
            <a:ext cx="3108960" cy="457200"/>
          </a:xfrm>
          <a:prstGeom prst="rect">
            <a:avLst/>
          </a:prstGeom>
          <a:noFill/>
        </p:spPr>
        <p:txBody>
          <a:bodyPr wrap="square" anchor="t" lIns="0" rIns="0" tIns="0" bIns="0">
            <a:spAutoFit/>
          </a:bodyPr>
          <a:lstStyle/>
          <a:p>
            <a:pPr algn="l"/>
            <a:r>
              <a:rPr sz="1150" b="0" i="0">
                <a:solidFill>
                  <a:srgbClr val="4F6A73"/>
                </a:solidFill>
                <a:latin typeface="Nanum Gothic"/>
              </a:rPr>
              <a:t>AUC 0.803 and 0.808, a gap within the noise</a:t>
            </a:r>
          </a:p>
        </p:txBody>
      </p:sp>
      <p:sp>
        <p:nvSpPr>
          <p:cNvPr id="17" name="Oval 16"/>
          <p:cNvSpPr/>
          <p:nvPr/>
        </p:nvSpPr>
        <p:spPr>
          <a:xfrm>
            <a:off x="4709160" y="2944368"/>
            <a:ext cx="502920" cy="502920"/>
          </a:xfrm>
          <a:prstGeom prst="ellipse">
            <a:avLst/>
          </a:prstGeom>
          <a:solidFill>
            <a:srgbClr val="0D3C4C"/>
          </a:solidFill>
          <a:ln>
            <a:noFill/>
          </a:ln>
        </p:spPr>
        <p:txBody>
          <a:bodyPr rtlCol="0" anchor="ctr" lIns="73152" rIns="73152" tIns="27432" bIns="27432"/>
          <a:lstStyle/>
          <a:p>
            <a:pPr algn="ctr"/>
          </a:p>
        </p:txBody>
      </p:sp>
      <p:sp>
        <p:nvSpPr>
          <p:cNvPr id="18" name="icon hourglass"/>
          <p:cNvSpPr/>
          <p:nvPr/>
        </p:nvSpPr>
        <p:spPr>
          <a:xfrm>
            <a:off x="4859125" y="3055010"/>
            <a:ext cx="202989" cy="281635"/>
          </a:xfrm>
          <a:custGeom>
            <a:rect b="b" l="l" r="r" t="t"/>
            <a:pathLst>
              <a:path extrusionOk="0" h="12634" w="9106">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TextBox 18"/>
          <p:cNvSpPr txBox="1"/>
          <p:nvPr/>
        </p:nvSpPr>
        <p:spPr>
          <a:xfrm>
            <a:off x="5349240" y="2916936"/>
            <a:ext cx="3108960" cy="292608"/>
          </a:xfrm>
          <a:prstGeom prst="rect">
            <a:avLst/>
          </a:prstGeom>
          <a:noFill/>
        </p:spPr>
        <p:txBody>
          <a:bodyPr wrap="square" anchor="t" lIns="0" rIns="0" tIns="0" bIns="0">
            <a:spAutoFit/>
          </a:bodyPr>
          <a:lstStyle/>
          <a:p>
            <a:pPr algn="l"/>
            <a:r>
              <a:rPr sz="1350" b="1" i="0">
                <a:solidFill>
                  <a:srgbClr val="0D3C4C"/>
                </a:solidFill>
                <a:latin typeface="Cabin"/>
              </a:rPr>
              <a:t>Older patients: harder</a:t>
            </a:r>
          </a:p>
        </p:txBody>
      </p:sp>
      <p:sp>
        <p:nvSpPr>
          <p:cNvPr id="20" name="TextBox 19"/>
          <p:cNvSpPr txBox="1"/>
          <p:nvPr/>
        </p:nvSpPr>
        <p:spPr>
          <a:xfrm>
            <a:off x="5349240" y="3209544"/>
            <a:ext cx="3108960" cy="457200"/>
          </a:xfrm>
          <a:prstGeom prst="rect">
            <a:avLst/>
          </a:prstGeom>
          <a:noFill/>
        </p:spPr>
        <p:txBody>
          <a:bodyPr wrap="square" anchor="t" lIns="0" rIns="0" tIns="0" bIns="0">
            <a:spAutoFit/>
          </a:bodyPr>
          <a:lstStyle/>
          <a:p>
            <a:pPr algn="l"/>
            <a:r>
              <a:rPr sz="1150" b="0" i="0">
                <a:solidFill>
                  <a:srgbClr val="4F6A73"/>
                </a:solidFill>
                <a:latin typeface="Nanum Gothic"/>
              </a:rPr>
              <a:t>AUC 0.72 over 60, 0.84 under 50; blood pressure alone drops too</a:t>
            </a:r>
          </a:p>
        </p:txBody>
      </p:sp>
      <p:sp>
        <p:nvSpPr>
          <p:cNvPr id="21" name="Oval 20"/>
          <p:cNvSpPr/>
          <p:nvPr/>
        </p:nvSpPr>
        <p:spPr>
          <a:xfrm>
            <a:off x="4709160" y="3813048"/>
            <a:ext cx="502920" cy="502920"/>
          </a:xfrm>
          <a:prstGeom prst="ellipse">
            <a:avLst/>
          </a:prstGeom>
          <a:solidFill>
            <a:srgbClr val="E05A4F"/>
          </a:solidFill>
          <a:ln>
            <a:noFill/>
          </a:ln>
        </p:spPr>
        <p:txBody>
          <a:bodyPr rtlCol="0" anchor="ctr" lIns="73152" rIns="73152" tIns="27432" bIns="27432"/>
          <a:lstStyle/>
          <a:p>
            <a:pPr algn="ctr"/>
          </a:p>
        </p:txBody>
      </p:sp>
      <p:grpSp>
        <p:nvGrpSpPr>
          <p:cNvPr id="22" name="icon target"/>
          <p:cNvGrpSpPr/>
          <p:nvPr/>
        </p:nvGrpSpPr>
        <p:grpSpPr>
          <a:xfrm>
            <a:off x="4819802" y="3924679"/>
            <a:ext cx="281635" cy="279657"/>
            <a:chOff x="-63250675" y="3744075"/>
            <a:chExt cx="320350" cy="318100"/>
          </a:xfrm>
        </p:grpSpPr>
        <p:sp>
          <p:nvSpPr>
            <p:cNvPr id="23" name="Google Shape;6534;p62"/>
            <p:cNvSpPr/>
            <p:nvPr/>
          </p:nvSpPr>
          <p:spPr>
            <a:xfrm>
              <a:off x="-63126250" y="3744075"/>
              <a:ext cx="195925" cy="192875"/>
            </a:xfrm>
            <a:custGeom>
              <a:rect b="b" l="l" r="r" t="t"/>
              <a:pathLst>
                <a:path extrusionOk="0" h="7715" w="7837">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6535;p62"/>
            <p:cNvSpPr/>
            <p:nvPr/>
          </p:nvSpPr>
          <p:spPr>
            <a:xfrm>
              <a:off x="-63190025" y="3814050"/>
              <a:ext cx="186675" cy="185900"/>
            </a:xfrm>
            <a:custGeom>
              <a:rect b="b" l="l" r="r" t="t"/>
              <a:pathLst>
                <a:path extrusionOk="0" h="7436" w="7467">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6536;p62"/>
            <p:cNvSpPr/>
            <p:nvPr/>
          </p:nvSpPr>
          <p:spPr>
            <a:xfrm>
              <a:off x="-63250675" y="3751050"/>
              <a:ext cx="311125" cy="311125"/>
            </a:xfrm>
            <a:custGeom>
              <a:rect b="b" l="l" r="r" t="t"/>
              <a:pathLst>
                <a:path extrusionOk="0" h="12445" w="12445">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 name="TextBox 25"/>
          <p:cNvSpPr txBox="1"/>
          <p:nvPr/>
        </p:nvSpPr>
        <p:spPr>
          <a:xfrm>
            <a:off x="5349240" y="3785615"/>
            <a:ext cx="3108960" cy="292608"/>
          </a:xfrm>
          <a:prstGeom prst="rect">
            <a:avLst/>
          </a:prstGeom>
          <a:noFill/>
        </p:spPr>
        <p:txBody>
          <a:bodyPr wrap="square" anchor="t" lIns="0" rIns="0" tIns="0" bIns="0">
            <a:spAutoFit/>
          </a:bodyPr>
          <a:lstStyle/>
          <a:p>
            <a:pPr algn="l"/>
            <a:r>
              <a:rPr sz="1350" b="1" i="0">
                <a:solidFill>
                  <a:srgbClr val="0D3C4C"/>
                </a:solidFill>
                <a:latin typeface="Cabin"/>
              </a:rPr>
              <a:t>1 in 5 sick? 44% of flags right</a:t>
            </a:r>
          </a:p>
        </p:txBody>
      </p:sp>
      <p:sp>
        <p:nvSpPr>
          <p:cNvPr id="27" name="TextBox 26"/>
          <p:cNvSpPr txBox="1"/>
          <p:nvPr/>
        </p:nvSpPr>
        <p:spPr>
          <a:xfrm>
            <a:off x="5349240" y="4078224"/>
            <a:ext cx="3108960" cy="457200"/>
          </a:xfrm>
          <a:prstGeom prst="rect">
            <a:avLst/>
          </a:prstGeom>
          <a:noFill/>
        </p:spPr>
        <p:txBody>
          <a:bodyPr wrap="square" anchor="t" lIns="0" rIns="0" tIns="0" bIns="0">
            <a:spAutoFit/>
          </a:bodyPr>
          <a:lstStyle/>
          <a:p>
            <a:pPr algn="l"/>
            <a:r>
              <a:rPr sz="1150" b="0" i="0">
                <a:solidFill>
                  <a:srgbClr val="4F6A73"/>
                </a:solidFill>
                <a:latin typeface="Nanum Gothic"/>
              </a:rPr>
              <a:t>a reason to look closer, not a diagnosis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Checking a new patient</a:t>
            </a:r>
          </a:p>
        </p:txBody>
      </p:sp>
      <p:sp>
        <p:nvSpPr>
          <p:cNvPr id="3" name="Rounded Rectangle 2"/>
          <p:cNvSpPr/>
          <p:nvPr/>
        </p:nvSpPr>
        <p:spPr>
          <a:xfrm>
            <a:off x="722376" y="1188720"/>
            <a:ext cx="7708392" cy="2514600"/>
          </a:xfrm>
          <a:prstGeom prst="roundRect">
            <a:avLst>
              <a:gd name="adj" fmla="val 6000"/>
            </a:avLst>
          </a:prstGeom>
          <a:solidFill>
            <a:srgbClr val="0D3C4C"/>
          </a:solidFill>
          <a:ln>
            <a:noFill/>
          </a:ln>
        </p:spPr>
        <p:txBody>
          <a:bodyPr rtlCol="0" anchor="ctr" lIns="73152" rIns="73152" tIns="27432" bIns="27432"/>
          <a:lstStyle/>
          <a:p>
            <a:pPr algn="ctr"/>
          </a:p>
        </p:txBody>
      </p:sp>
      <p:sp>
        <p:nvSpPr>
          <p:cNvPr id="4" name="TextBox 3"/>
          <p:cNvSpPr txBox="1"/>
          <p:nvPr/>
        </p:nvSpPr>
        <p:spPr>
          <a:xfrm>
            <a:off x="914400" y="1298448"/>
            <a:ext cx="7315200" cy="2377440"/>
          </a:xfrm>
          <a:prstGeom prst="rect">
            <a:avLst/>
          </a:prstGeom>
          <a:noFill/>
        </p:spPr>
        <p:txBody>
          <a:bodyPr wrap="square" anchor="t" lIns="0" rIns="0" tIns="0" bIns="0">
            <a:spAutoFit/>
          </a:bodyPr>
          <a:lstStyle/>
          <a:p>
            <a:pPr algn="l"/>
            <a:r>
              <a:rPr sz="1050" b="1" i="0">
                <a:solidFill>
                  <a:srgbClr val="99D0E2"/>
                </a:solidFill>
                <a:latin typeface="Consolas"/>
              </a:rPr>
              <a:t>bundle = load_final()</a:t>
            </a:r>
          </a:p>
          <a:p>
            <a:pPr algn="l">
              <a:spcBef>
                <a:spcPts val="300"/>
              </a:spcBef>
            </a:pPr>
            <a:r>
              <a:rPr sz="1050" b="1" i="0">
                <a:solidFill>
                  <a:srgbClr val="99D0E2"/>
                </a:solidFill>
                <a:latin typeface="Consolas"/>
              </a:rPr>
              <a:t>assess(bundle, patient(age=62, sex="male", height=172, weight=98,</a:t>
            </a:r>
          </a:p>
          <a:p>
            <a:pPr algn="l">
              <a:spcBef>
                <a:spcPts val="300"/>
              </a:spcBef>
            </a:pPr>
            <a:r>
              <a:rPr sz="1050" b="1" i="0">
                <a:solidFill>
                  <a:srgbClr val="99D0E2"/>
                </a:solidFill>
                <a:latin typeface="Consolas"/>
              </a:rPr>
              <a:t>                       systolic=165, diastolic=100, cholesterol=3))</a:t>
            </a:r>
          </a:p>
          <a:p>
            <a:pPr algn="l">
              <a:spcBef>
                <a:spcPts val="300"/>
              </a:spcBef>
            </a:pPr>
            <a:r>
              <a:rPr sz="1050" b="0" i="0">
                <a:solidFill>
                  <a:srgbClr val="FFFFFF"/>
                </a:solidFill>
                <a:latin typeface="Consolas"/>
              </a:rPr>
              <a:t>risk of cardiovascular disease: 87%</a:t>
            </a:r>
          </a:p>
          <a:p>
            <a:pPr algn="l">
              <a:spcBef>
                <a:spcPts val="300"/>
              </a:spcBef>
            </a:pPr>
            <a:r>
              <a:rPr sz="1050" b="0" i="0">
                <a:solidFill>
                  <a:srgbClr val="FFFFFF"/>
                </a:solidFill>
                <a:latin typeface="Consolas"/>
              </a:rPr>
              <a:t>verdict: cardiovascular disease likely</a:t>
            </a:r>
          </a:p>
          <a:p>
            <a:pPr algn="l">
              <a:spcBef>
                <a:spcPts val="300"/>
              </a:spcBef>
            </a:pPr>
            <a:r>
              <a:rPr sz="1050" b="0" i="0">
                <a:solidFill>
                  <a:srgbClr val="FFFFFF"/>
                </a:solidFill>
                <a:latin typeface="Consolas"/>
              </a:rPr>
              <a:t>screening (cut-off 0.38): refer for examination</a:t>
            </a:r>
          </a:p>
          <a:p>
            <a:pPr algn="l">
              <a:spcBef>
                <a:spcPts val="300"/>
              </a:spcBef>
            </a:pPr>
            <a:r>
              <a:rPr sz="1050" b="0" i="0">
                <a:solidFill>
                  <a:srgbClr val="FFFFFF"/>
                </a:solidFill>
                <a:latin typeface="Consolas"/>
              </a:rPr>
              <a:t>clinical points score: 50 points, risk 85%</a:t>
            </a:r>
          </a:p>
          <a:p>
            <a:pPr algn="l">
              <a:spcBef>
                <a:spcPts val="300"/>
              </a:spcBef>
            </a:pPr>
            <a:r>
              <a:rPr sz="1050" b="0" i="0">
                <a:solidFill>
                  <a:srgbClr val="FFFFFF"/>
                </a:solidFill>
                <a:latin typeface="Consolas"/>
              </a:rPr>
              <a:t>   +11  Age (years): 60+</a:t>
            </a:r>
          </a:p>
          <a:p>
            <a:pPr algn="l">
              <a:spcBef>
                <a:spcPts val="300"/>
              </a:spcBef>
            </a:pPr>
            <a:r>
              <a:rPr sz="1050" b="0" i="0">
                <a:solidFill>
                  <a:srgbClr val="FFFFFF"/>
                </a:solidFill>
                <a:latin typeface="Consolas"/>
              </a:rPr>
              <a:t>   +27  Systolic pressure (mmHg): 160+</a:t>
            </a:r>
          </a:p>
          <a:p>
            <a:pPr algn="l">
              <a:spcBef>
                <a:spcPts val="300"/>
              </a:spcBef>
            </a:pPr>
            <a:r>
              <a:rPr sz="1050" b="0" i="0">
                <a:solidFill>
                  <a:srgbClr val="FFFFFF"/>
                </a:solidFill>
                <a:latin typeface="Consolas"/>
              </a:rPr>
              <a:t>   +3  BMI (kg/m²): 30-34.9</a:t>
            </a:r>
          </a:p>
          <a:p>
            <a:pPr algn="l">
              <a:spcBef>
                <a:spcPts val="300"/>
              </a:spcBef>
            </a:pPr>
            <a:r>
              <a:rPr sz="1050" b="0" i="0">
                <a:solidFill>
                  <a:srgbClr val="FFFFFF"/>
                </a:solidFill>
                <a:latin typeface="Consolas"/>
              </a:rPr>
              <a:t>   +9  Cholesterol: well above normal</a:t>
            </a:r>
          </a:p>
        </p:txBody>
      </p:sp>
      <p:sp>
        <p:nvSpPr>
          <p:cNvPr id="5" name="Rounded Rectangle 4"/>
          <p:cNvSpPr/>
          <p:nvPr/>
        </p:nvSpPr>
        <p:spPr>
          <a:xfrm>
            <a:off x="722376" y="3840480"/>
            <a:ext cx="7708392" cy="685800"/>
          </a:xfrm>
          <a:prstGeom prst="roundRect">
            <a:avLst>
              <a:gd name="adj" fmla="val 10000"/>
            </a:avLst>
          </a:prstGeom>
          <a:solidFill>
            <a:srgbClr val="EEF6F9"/>
          </a:solidFill>
          <a:ln>
            <a:noFill/>
          </a:ln>
        </p:spPr>
        <p:txBody>
          <a:bodyPr rtlCol="0" anchor="ctr" lIns="73152" rIns="73152" tIns="27432" bIns="27432"/>
          <a:lstStyle/>
          <a:p>
            <a:pPr algn="ctr"/>
          </a:p>
        </p:txBody>
      </p:sp>
      <p:sp>
        <p:nvSpPr>
          <p:cNvPr id="6" name="TextBox 5"/>
          <p:cNvSpPr txBox="1"/>
          <p:nvPr/>
        </p:nvSpPr>
        <p:spPr>
          <a:xfrm>
            <a:off x="914400" y="3895344"/>
            <a:ext cx="7315200" cy="594360"/>
          </a:xfrm>
          <a:prstGeom prst="rect">
            <a:avLst/>
          </a:prstGeom>
          <a:noFill/>
        </p:spPr>
        <p:txBody>
          <a:bodyPr wrap="square" anchor="t" lIns="0" rIns="0" tIns="0" bIns="0">
            <a:spAutoFit/>
          </a:bodyPr>
          <a:lstStyle/>
          <a:p>
            <a:pPr algn="l"/>
            <a:r>
              <a:rPr sz="1050" b="1" i="0">
                <a:solidFill>
                  <a:srgbClr val="0D3C4C"/>
                </a:solidFill>
                <a:latin typeface="Consolas"/>
              </a:rPr>
              <a:t>patient(age=50, sex="male", ..., systolic=1400, diastolic=90)</a:t>
            </a:r>
          </a:p>
          <a:p>
            <a:pPr algn="l">
              <a:spcBef>
                <a:spcPts val="200"/>
              </a:spcBef>
            </a:pPr>
            <a:r>
              <a:rPr sz="1050" b="0" i="0">
                <a:solidFill>
                  <a:srgbClr val="B23A2E"/>
                </a:solidFill>
                <a:latin typeface="Consolas"/>
              </a:rPr>
              <a:t>ValueError: implausible examination values: ap_hi out of range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Conclusions</a:t>
            </a:r>
          </a:p>
        </p:txBody>
      </p:sp>
      <p:sp>
        <p:nvSpPr>
          <p:cNvPr id="3" name="Rounded Rectangle 2"/>
          <p:cNvSpPr/>
          <p:nvPr/>
        </p:nvSpPr>
        <p:spPr>
          <a:xfrm>
            <a:off x="722376" y="1188720"/>
            <a:ext cx="2377440" cy="251460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4" name="!!q0"/>
          <p:cNvSpPr/>
          <p:nvPr/>
        </p:nvSpPr>
        <p:spPr>
          <a:xfrm>
            <a:off x="905256" y="1371600"/>
            <a:ext cx="530352" cy="530352"/>
          </a:xfrm>
          <a:prstGeom prst="ellipse">
            <a:avLst/>
          </a:prstGeom>
          <a:solidFill>
            <a:srgbClr val="0D3C4C"/>
          </a:solidFill>
          <a:ln>
            <a:noFill/>
          </a:ln>
        </p:spPr>
        <p:txBody>
          <a:bodyPr rtlCol="0" anchor="ctr" lIns="73152" rIns="73152" tIns="27432" bIns="27432"/>
          <a:lstStyle/>
          <a:p>
            <a:pPr algn="ctr"/>
          </a:p>
        </p:txBody>
      </p:sp>
      <p:grpSp>
        <p:nvGrpSpPr>
          <p:cNvPr id="5" name="icon bars"/>
          <p:cNvGrpSpPr/>
          <p:nvPr/>
        </p:nvGrpSpPr>
        <p:grpSpPr>
          <a:xfrm>
            <a:off x="1021933" y="1489012"/>
            <a:ext cx="296997" cy="295527"/>
            <a:chOff x="-62151950" y="4111775"/>
            <a:chExt cx="318225" cy="316650"/>
          </a:xfrm>
        </p:grpSpPr>
        <p:sp>
          <p:nvSpPr>
            <p:cNvPr id="6" name="Google Shape;6669;p62"/>
            <p:cNvSpPr/>
            <p:nvPr/>
          </p:nvSpPr>
          <p:spPr>
            <a:xfrm>
              <a:off x="-62151950" y="4407925"/>
              <a:ext cx="318225" cy="20500"/>
            </a:xfrm>
            <a:custGeom>
              <a:rect b="b" l="l" r="r" t="t"/>
              <a:pathLst>
                <a:path extrusionOk="0" h="820" w="12729">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 name="Google Shape;6670;p62"/>
            <p:cNvSpPr/>
            <p:nvPr/>
          </p:nvSpPr>
          <p:spPr>
            <a:xfrm>
              <a:off x="-62151950" y="4283475"/>
              <a:ext cx="84300" cy="104000"/>
            </a:xfrm>
            <a:custGeom>
              <a:rect b="b" l="l" r="r" t="t"/>
              <a:pathLst>
                <a:path extrusionOk="0" h="4160" w="3372">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 name="Google Shape;6671;p62"/>
            <p:cNvSpPr/>
            <p:nvPr/>
          </p:nvSpPr>
          <p:spPr>
            <a:xfrm>
              <a:off x="-62033800" y="4111775"/>
              <a:ext cx="82725" cy="275700"/>
            </a:xfrm>
            <a:custGeom>
              <a:rect b="b" l="l" r="r" t="t"/>
              <a:pathLst>
                <a:path extrusionOk="0" h="11028" w="3309">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 name="Google Shape;6672;p62"/>
            <p:cNvSpPr/>
            <p:nvPr/>
          </p:nvSpPr>
          <p:spPr>
            <a:xfrm>
              <a:off x="-61916450" y="4200775"/>
              <a:ext cx="82725" cy="186700"/>
            </a:xfrm>
            <a:custGeom>
              <a:rect b="b" l="l" r="r" t="t"/>
              <a:pathLst>
                <a:path extrusionOk="0" h="7468" w="3309">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 name="TextBox 9"/>
          <p:cNvSpPr txBox="1"/>
          <p:nvPr/>
        </p:nvSpPr>
        <p:spPr>
          <a:xfrm>
            <a:off x="905256" y="2011680"/>
            <a:ext cx="2057400" cy="548640"/>
          </a:xfrm>
          <a:prstGeom prst="rect">
            <a:avLst/>
          </a:prstGeom>
          <a:noFill/>
        </p:spPr>
        <p:txBody>
          <a:bodyPr wrap="square" anchor="t" lIns="0" rIns="0" tIns="0" bIns="0">
            <a:spAutoFit/>
          </a:bodyPr>
          <a:lstStyle/>
          <a:p>
            <a:pPr algn="l"/>
            <a:r>
              <a:rPr sz="1350" b="1" i="0">
                <a:solidFill>
                  <a:srgbClr val="0D3C4C"/>
                </a:solidFill>
                <a:latin typeface="Cabin"/>
              </a:rPr>
              <a:t>Q1 · A real but small gain</a:t>
            </a:r>
          </a:p>
        </p:txBody>
      </p:sp>
      <p:sp>
        <p:nvSpPr>
          <p:cNvPr id="11" name="TextBox 10"/>
          <p:cNvSpPr txBox="1"/>
          <p:nvPr/>
        </p:nvSpPr>
        <p:spPr>
          <a:xfrm>
            <a:off x="905256" y="2578608"/>
            <a:ext cx="2057400" cy="1097280"/>
          </a:xfrm>
          <a:prstGeom prst="rect">
            <a:avLst/>
          </a:prstGeom>
          <a:noFill/>
        </p:spPr>
        <p:txBody>
          <a:bodyPr wrap="square" anchor="t" lIns="0" rIns="0" tIns="0" bIns="0">
            <a:spAutoFit/>
          </a:bodyPr>
          <a:lstStyle/>
          <a:p>
            <a:pPr algn="l"/>
            <a:r>
              <a:rPr sz="1150" b="0" i="0">
                <a:solidFill>
                  <a:srgbClr val="0D3C4C"/>
                </a:solidFill>
                <a:latin typeface="Nanum Gothic"/>
              </a:rPr>
              <a:t>+2.3 points of accuracy over the guideline rule (95% CI 1.8 to 2.9); the limit seems to lie in what the examination records</a:t>
            </a:r>
          </a:p>
        </p:txBody>
      </p:sp>
      <p:sp>
        <p:nvSpPr>
          <p:cNvPr id="12" name="Rounded Rectangle 11"/>
          <p:cNvSpPr/>
          <p:nvPr/>
        </p:nvSpPr>
        <p:spPr>
          <a:xfrm>
            <a:off x="3355848" y="1188720"/>
            <a:ext cx="2377440" cy="251460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13" name="!!q1"/>
          <p:cNvSpPr/>
          <p:nvPr/>
        </p:nvSpPr>
        <p:spPr>
          <a:xfrm>
            <a:off x="3538728" y="1371600"/>
            <a:ext cx="530352" cy="530352"/>
          </a:xfrm>
          <a:prstGeom prst="ellipse">
            <a:avLst/>
          </a:prstGeom>
          <a:solidFill>
            <a:srgbClr val="0D3C4C"/>
          </a:solidFill>
          <a:ln>
            <a:noFill/>
          </a:ln>
        </p:spPr>
        <p:txBody>
          <a:bodyPr rtlCol="0" anchor="ctr" lIns="73152" rIns="73152" tIns="27432" bIns="27432"/>
          <a:lstStyle/>
          <a:p>
            <a:pPr algn="ctr"/>
          </a:p>
        </p:txBody>
      </p:sp>
      <p:grpSp>
        <p:nvGrpSpPr>
          <p:cNvPr id="14" name="icon database"/>
          <p:cNvGrpSpPr/>
          <p:nvPr/>
        </p:nvGrpSpPr>
        <p:grpSpPr>
          <a:xfrm>
            <a:off x="3655774" y="1488277"/>
            <a:ext cx="296259" cy="296997"/>
            <a:chOff x="-3771675" y="3971775"/>
            <a:chExt cx="291300" cy="292025"/>
          </a:xfrm>
        </p:grpSpPr>
        <p:sp>
          <p:nvSpPr>
            <p:cNvPr id="15" name="Google Shape;8740;p66"/>
            <p:cNvSpPr/>
            <p:nvPr/>
          </p:nvSpPr>
          <p:spPr>
            <a:xfrm>
              <a:off x="-3770100" y="3971775"/>
              <a:ext cx="218975" cy="66775"/>
            </a:xfrm>
            <a:custGeom>
              <a:rect b="b" l="l" r="r" t="t"/>
              <a:pathLst>
                <a:path extrusionOk="0" h="2671" w="8759">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8741;p66"/>
            <p:cNvSpPr/>
            <p:nvPr/>
          </p:nvSpPr>
          <p:spPr>
            <a:xfrm>
              <a:off x="-3771675" y="4030650"/>
              <a:ext cx="222125" cy="78000"/>
            </a:xfrm>
            <a:custGeom>
              <a:rect b="b" l="l" r="r" t="t"/>
              <a:pathLst>
                <a:path extrusionOk="0" h="3120" w="8885">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8742;p66"/>
            <p:cNvSpPr/>
            <p:nvPr/>
          </p:nvSpPr>
          <p:spPr>
            <a:xfrm>
              <a:off x="-3669425" y="4074750"/>
              <a:ext cx="189050" cy="189050"/>
            </a:xfrm>
            <a:custGeom>
              <a:rect b="b" l="l" r="r" t="t"/>
              <a:pathLst>
                <a:path extrusionOk="0" h="7562" w="7562">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8743;p66"/>
            <p:cNvSpPr/>
            <p:nvPr/>
          </p:nvSpPr>
          <p:spPr>
            <a:xfrm>
              <a:off x="-3771675" y="4099950"/>
              <a:ext cx="94525" cy="76425"/>
            </a:xfrm>
            <a:custGeom>
              <a:rect b="b" l="l" r="r" t="t"/>
              <a:pathLst>
                <a:path extrusionOk="0" h="3057" w="3781">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8744;p66"/>
            <p:cNvSpPr/>
            <p:nvPr/>
          </p:nvSpPr>
          <p:spPr>
            <a:xfrm>
              <a:off x="-3771675" y="4167700"/>
              <a:ext cx="135500" cy="95325"/>
            </a:xfrm>
            <a:custGeom>
              <a:rect b="b" l="l" r="r" t="t"/>
              <a:pathLst>
                <a:path extrusionOk="0" h="3813" w="542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 name="TextBox 19"/>
          <p:cNvSpPr txBox="1"/>
          <p:nvPr/>
        </p:nvSpPr>
        <p:spPr>
          <a:xfrm>
            <a:off x="3538728" y="2011680"/>
            <a:ext cx="2057400" cy="548640"/>
          </a:xfrm>
          <a:prstGeom prst="rect">
            <a:avLst/>
          </a:prstGeom>
          <a:noFill/>
        </p:spPr>
        <p:txBody>
          <a:bodyPr wrap="square" anchor="t" lIns="0" rIns="0" tIns="0" bIns="0">
            <a:spAutoFit/>
          </a:bodyPr>
          <a:lstStyle/>
          <a:p>
            <a:pPr algn="l"/>
            <a:r>
              <a:rPr sz="1350" b="1" i="0">
                <a:solidFill>
                  <a:srgbClr val="0D3C4C"/>
                </a:solidFill>
                <a:latin typeface="Cabin"/>
              </a:rPr>
              <a:t>Q2 · Handling matters more</a:t>
            </a:r>
          </a:p>
        </p:txBody>
      </p:sp>
      <p:sp>
        <p:nvSpPr>
          <p:cNvPr id="21" name="TextBox 20"/>
          <p:cNvSpPr txBox="1"/>
          <p:nvPr/>
        </p:nvSpPr>
        <p:spPr>
          <a:xfrm>
            <a:off x="3538728" y="2578608"/>
            <a:ext cx="2057400" cy="1097280"/>
          </a:xfrm>
          <a:prstGeom prst="rect">
            <a:avLst/>
          </a:prstGeom>
          <a:noFill/>
        </p:spPr>
        <p:txBody>
          <a:bodyPr wrap="square" anchor="t" lIns="0" rIns="0" tIns="0" bIns="0">
            <a:spAutoFit/>
          </a:bodyPr>
          <a:lstStyle/>
          <a:p>
            <a:pPr algn="l"/>
            <a:r>
              <a:rPr sz="1150" b="0" i="0">
                <a:solidFill>
                  <a:srgbClr val="0D3C4C"/>
                </a:solidFill>
                <a:latin typeface="Nanum Gothic"/>
              </a:rPr>
              <a:t>Dirty records cost the linear model 0.017 AUC; two leakage mistakes report 85-100% from the same data</a:t>
            </a:r>
          </a:p>
        </p:txBody>
      </p:sp>
      <p:sp>
        <p:nvSpPr>
          <p:cNvPr id="22" name="Rounded Rectangle 21"/>
          <p:cNvSpPr/>
          <p:nvPr/>
        </p:nvSpPr>
        <p:spPr>
          <a:xfrm>
            <a:off x="5989320" y="1188720"/>
            <a:ext cx="2377440" cy="2514600"/>
          </a:xfrm>
          <a:prstGeom prst="roundRect">
            <a:avLst>
              <a:gd name="adj" fmla="val 12000"/>
            </a:avLst>
          </a:prstGeom>
          <a:solidFill>
            <a:srgbClr val="EEF6F9"/>
          </a:solidFill>
          <a:ln>
            <a:noFill/>
          </a:ln>
        </p:spPr>
        <p:txBody>
          <a:bodyPr rtlCol="0" anchor="ctr" lIns="73152" rIns="73152" tIns="27432" bIns="27432"/>
          <a:lstStyle/>
          <a:p>
            <a:pPr algn="ctr"/>
          </a:p>
        </p:txBody>
      </p:sp>
      <p:sp>
        <p:nvSpPr>
          <p:cNvPr id="23" name="!!q2"/>
          <p:cNvSpPr/>
          <p:nvPr/>
        </p:nvSpPr>
        <p:spPr>
          <a:xfrm>
            <a:off x="6172200" y="1371600"/>
            <a:ext cx="530352" cy="530352"/>
          </a:xfrm>
          <a:prstGeom prst="ellipse">
            <a:avLst/>
          </a:prstGeom>
          <a:solidFill>
            <a:srgbClr val="0D3C4C"/>
          </a:solidFill>
          <a:ln>
            <a:noFill/>
          </a:ln>
        </p:spPr>
        <p:txBody>
          <a:bodyPr rtlCol="0" anchor="ctr" lIns="73152" rIns="73152" tIns="27432" bIns="27432"/>
          <a:lstStyle/>
          <a:p>
            <a:pPr algn="ctr"/>
          </a:p>
        </p:txBody>
      </p:sp>
      <p:grpSp>
        <p:nvGrpSpPr>
          <p:cNvPr id="24" name="icon stethoscope"/>
          <p:cNvGrpSpPr/>
          <p:nvPr/>
        </p:nvGrpSpPr>
        <p:grpSpPr>
          <a:xfrm>
            <a:off x="6311048" y="1488277"/>
            <a:ext cx="252655" cy="296997"/>
            <a:chOff x="-27691025" y="3175300"/>
            <a:chExt cx="251275" cy="295375"/>
          </a:xfrm>
        </p:grpSpPr>
        <p:sp>
          <p:nvSpPr>
            <p:cNvPr id="25" name="Google Shape;6404;p61"/>
            <p:cNvSpPr/>
            <p:nvPr/>
          </p:nvSpPr>
          <p:spPr>
            <a:xfrm>
              <a:off x="-27492550" y="3298150"/>
              <a:ext cx="18125" cy="18150"/>
            </a:xfrm>
            <a:custGeom>
              <a:rect b="b" l="l" r="r" t="t"/>
              <a:pathLst>
                <a:path extrusionOk="0" h="726" w="725">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6405;p61"/>
            <p:cNvSpPr/>
            <p:nvPr/>
          </p:nvSpPr>
          <p:spPr>
            <a:xfrm>
              <a:off x="-27613050" y="3175300"/>
              <a:ext cx="60650" cy="105550"/>
            </a:xfrm>
            <a:custGeom>
              <a:rect b="b" l="l" r="r" t="t"/>
              <a:pathLst>
                <a:path extrusionOk="0" h="4222" w="2426">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6406;p61"/>
            <p:cNvSpPr/>
            <p:nvPr/>
          </p:nvSpPr>
          <p:spPr>
            <a:xfrm>
              <a:off x="-27691025" y="3175300"/>
              <a:ext cx="60650" cy="105550"/>
            </a:xfrm>
            <a:custGeom>
              <a:rect b="b" l="l" r="r" t="t"/>
              <a:pathLst>
                <a:path extrusionOk="0" h="4222" w="2426">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6407;p61"/>
            <p:cNvSpPr/>
            <p:nvPr/>
          </p:nvSpPr>
          <p:spPr>
            <a:xfrm>
              <a:off x="-27691025" y="3263500"/>
              <a:ext cx="251275" cy="207175"/>
            </a:xfrm>
            <a:custGeom>
              <a:rect b="b" l="l" r="r" t="t"/>
              <a:pathLst>
                <a:path extrusionOk="0" h="8287" w="10051">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9" name="TextBox 28"/>
          <p:cNvSpPr txBox="1"/>
          <p:nvPr/>
        </p:nvSpPr>
        <p:spPr>
          <a:xfrm>
            <a:off x="6172200" y="2011680"/>
            <a:ext cx="2057400" cy="548640"/>
          </a:xfrm>
          <a:prstGeom prst="rect">
            <a:avLst/>
          </a:prstGeom>
          <a:noFill/>
        </p:spPr>
        <p:txBody>
          <a:bodyPr wrap="square" anchor="t" lIns="0" rIns="0" tIns="0" bIns="0">
            <a:spAutoFit/>
          </a:bodyPr>
          <a:lstStyle/>
          <a:p>
            <a:pPr algn="l"/>
            <a:r>
              <a:rPr sz="1350" b="1" i="0">
                <a:solidFill>
                  <a:srgbClr val="0D3C4C"/>
                </a:solidFill>
                <a:latin typeface="Cabin"/>
              </a:rPr>
              <a:t>Q3 · Trustworthy, within limits</a:t>
            </a:r>
          </a:p>
        </p:txBody>
      </p:sp>
      <p:sp>
        <p:nvSpPr>
          <p:cNvPr id="30" name="TextBox 29"/>
          <p:cNvSpPr txBox="1"/>
          <p:nvPr/>
        </p:nvSpPr>
        <p:spPr>
          <a:xfrm>
            <a:off x="6172200" y="2578608"/>
            <a:ext cx="2057400" cy="1097280"/>
          </a:xfrm>
          <a:prstGeom prst="rect">
            <a:avLst/>
          </a:prstGeom>
          <a:noFill/>
        </p:spPr>
        <p:txBody>
          <a:bodyPr wrap="square" anchor="t" lIns="0" rIns="0" tIns="0" bIns="0">
            <a:spAutoFit/>
          </a:bodyPr>
          <a:lstStyle/>
          <a:p>
            <a:pPr algn="l"/>
            <a:r>
              <a:rPr sz="1150" b="0" i="0">
                <a:solidFill>
                  <a:srgbClr val="0D3C4C"/>
                </a:solidFill>
                <a:latin typeface="Nanum Gothic"/>
              </a:rPr>
              <a:t>Calibrated in this sample; similar for both sexes; harder over 60, for blood pressure too; associations, not causes</a:t>
            </a:r>
          </a:p>
        </p:txBody>
      </p:sp>
      <p:sp>
        <p:nvSpPr>
          <p:cNvPr id="31" name="TextBox 30"/>
          <p:cNvSpPr txBox="1"/>
          <p:nvPr/>
        </p:nvSpPr>
        <p:spPr>
          <a:xfrm>
            <a:off x="722376" y="3886200"/>
            <a:ext cx="7708392" cy="731520"/>
          </a:xfrm>
          <a:prstGeom prst="rect">
            <a:avLst/>
          </a:prstGeom>
          <a:noFill/>
        </p:spPr>
        <p:txBody>
          <a:bodyPr wrap="square" anchor="t" lIns="0" rIns="0" tIns="0" bIns="0">
            <a:spAutoFit/>
          </a:bodyPr>
          <a:lstStyle/>
          <a:p>
            <a:pPr algn="l"/>
            <a:r>
              <a:rPr sz="1100" b="1" i="0">
                <a:solidFill>
                  <a:srgbClr val="B23A2E"/>
                </a:solidFill>
                <a:latin typeface="Nanum Gothic"/>
              </a:rPr>
              <a:t>Limitations: </a:t>
            </a:r>
            <a:r>
              <a:rPr sz="1100" b="0" i="0">
                <a:solidFill>
                  <a:srgbClr val="0D3C4C"/>
                </a:solidFill>
                <a:latin typeface="Nanum Gothic"/>
              </a:rPr>
              <a:t>detects existing disease, cannot forecast · undocumented source and diagnosis · no treatment data · a 50/50 sample · implausible records mostly from sick patients · one dataset, no external validation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18" name="Google Shape;1638;p47"/>
          <p:cNvGrpSpPr/>
          <p:nvPr/>
        </p:nvGrpSpPr>
        <p:grpSpPr>
          <a:xfrm>
            <a:off x="1411697" y="5564"/>
            <a:ext cx="1105788" cy="1058857"/>
            <a:chOff x="4252810" y="2035226"/>
            <a:chExt cx="624951" cy="598394"/>
          </a:xfrm>
        </p:grpSpPr>
        <p:sp>
          <p:nvSpPr>
            <p:cNvPr id="19" name="Google Shape;1639;p47"/>
            <p:cNvSpPr/>
            <p:nvPr/>
          </p:nvSpPr>
          <p:spPr>
            <a:xfrm>
              <a:off x="4252810" y="2035226"/>
              <a:ext cx="38137" cy="39305"/>
            </a:xfrm>
            <a:custGeom>
              <a:rect b="b" l="l" r="r" t="t"/>
              <a:pathLst>
                <a:path extrusionOk="0" h="370" w="359">
                  <a:moveTo>
                    <a:pt x="180" y="0"/>
                  </a:moveTo>
                  <a:cubicBezTo>
                    <a:pt x="84" y="0"/>
                    <a:pt x="1" y="84"/>
                    <a:pt x="1" y="191"/>
                  </a:cubicBezTo>
                  <a:cubicBezTo>
                    <a:pt x="1" y="286"/>
                    <a:pt x="84"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1640;p47"/>
            <p:cNvSpPr/>
            <p:nvPr/>
          </p:nvSpPr>
          <p:spPr>
            <a:xfrm>
              <a:off x="4351498" y="2035226"/>
              <a:ext cx="38030" cy="39305"/>
            </a:xfrm>
            <a:custGeom>
              <a:rect b="b" l="l" r="r" t="t"/>
              <a:pathLst>
                <a:path extrusionOk="0" h="370" w="358">
                  <a:moveTo>
                    <a:pt x="179" y="0"/>
                  </a:moveTo>
                  <a:cubicBezTo>
                    <a:pt x="72" y="0"/>
                    <a:pt x="1" y="84"/>
                    <a:pt x="1" y="191"/>
                  </a:cubicBezTo>
                  <a:cubicBezTo>
                    <a:pt x="1" y="286"/>
                    <a:pt x="72"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1641;p47"/>
            <p:cNvSpPr/>
            <p:nvPr/>
          </p:nvSpPr>
          <p:spPr>
            <a:xfrm>
              <a:off x="4448911" y="2035226"/>
              <a:ext cx="38030" cy="39305"/>
            </a:xfrm>
            <a:custGeom>
              <a:rect b="b" l="l" r="r" t="t"/>
              <a:pathLst>
                <a:path extrusionOk="0" h="370" w="358">
                  <a:moveTo>
                    <a:pt x="179" y="0"/>
                  </a:moveTo>
                  <a:cubicBezTo>
                    <a:pt x="84" y="0"/>
                    <a:pt x="0" y="84"/>
                    <a:pt x="0" y="191"/>
                  </a:cubicBezTo>
                  <a:cubicBezTo>
                    <a:pt x="0" y="286"/>
                    <a:pt x="84" y="369"/>
                    <a:pt x="179" y="369"/>
                  </a:cubicBezTo>
                  <a:cubicBezTo>
                    <a:pt x="286" y="369"/>
                    <a:pt x="358" y="286"/>
                    <a:pt x="358" y="191"/>
                  </a:cubicBezTo>
                  <a:cubicBezTo>
                    <a:pt x="358" y="96"/>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1642;p47"/>
            <p:cNvSpPr/>
            <p:nvPr/>
          </p:nvSpPr>
          <p:spPr>
            <a:xfrm>
              <a:off x="4547599"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7" y="286"/>
                    <a:pt x="357" y="191"/>
                  </a:cubicBezTo>
                  <a:cubicBezTo>
                    <a:pt x="357" y="96"/>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1643;p47"/>
            <p:cNvSpPr/>
            <p:nvPr/>
          </p:nvSpPr>
          <p:spPr>
            <a:xfrm>
              <a:off x="4643630" y="2035226"/>
              <a:ext cx="38137" cy="39305"/>
            </a:xfrm>
            <a:custGeom>
              <a:rect b="b" l="l" r="r" t="t"/>
              <a:pathLst>
                <a:path extrusionOk="0" h="370" w="359">
                  <a:moveTo>
                    <a:pt x="180" y="0"/>
                  </a:moveTo>
                  <a:cubicBezTo>
                    <a:pt x="72" y="0"/>
                    <a:pt x="1" y="84"/>
                    <a:pt x="1" y="191"/>
                  </a:cubicBezTo>
                  <a:cubicBezTo>
                    <a:pt x="1" y="286"/>
                    <a:pt x="72" y="369"/>
                    <a:pt x="180" y="369"/>
                  </a:cubicBezTo>
                  <a:cubicBezTo>
                    <a:pt x="287" y="369"/>
                    <a:pt x="358" y="286"/>
                    <a:pt x="358" y="191"/>
                  </a:cubicBezTo>
                  <a:cubicBezTo>
                    <a:pt x="358" y="96"/>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1644;p47"/>
            <p:cNvSpPr/>
            <p:nvPr/>
          </p:nvSpPr>
          <p:spPr>
            <a:xfrm>
              <a:off x="4742318" y="2035226"/>
              <a:ext cx="38030" cy="39305"/>
            </a:xfrm>
            <a:custGeom>
              <a:rect b="b" l="l" r="r" t="t"/>
              <a:pathLst>
                <a:path extrusionOk="0" h="370" w="358">
                  <a:moveTo>
                    <a:pt x="179" y="0"/>
                  </a:moveTo>
                  <a:cubicBezTo>
                    <a:pt x="72" y="0"/>
                    <a:pt x="1" y="84"/>
                    <a:pt x="1" y="191"/>
                  </a:cubicBezTo>
                  <a:cubicBezTo>
                    <a:pt x="1" y="286"/>
                    <a:pt x="72" y="369"/>
                    <a:pt x="179" y="369"/>
                  </a:cubicBezTo>
                  <a:cubicBezTo>
                    <a:pt x="275" y="369"/>
                    <a:pt x="358" y="286"/>
                    <a:pt x="358" y="191"/>
                  </a:cubicBezTo>
                  <a:cubicBezTo>
                    <a:pt x="358" y="96"/>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1645;p47"/>
            <p:cNvSpPr/>
            <p:nvPr/>
          </p:nvSpPr>
          <p:spPr>
            <a:xfrm>
              <a:off x="4839731" y="2035226"/>
              <a:ext cx="38030" cy="39305"/>
            </a:xfrm>
            <a:custGeom>
              <a:rect b="b" l="l" r="r" t="t"/>
              <a:pathLst>
                <a:path extrusionOk="0" h="370" w="358">
                  <a:moveTo>
                    <a:pt x="179" y="0"/>
                  </a:moveTo>
                  <a:cubicBezTo>
                    <a:pt x="72" y="0"/>
                    <a:pt x="0" y="84"/>
                    <a:pt x="0" y="191"/>
                  </a:cubicBezTo>
                  <a:cubicBezTo>
                    <a:pt x="0" y="286"/>
                    <a:pt x="72" y="369"/>
                    <a:pt x="179" y="369"/>
                  </a:cubicBezTo>
                  <a:cubicBezTo>
                    <a:pt x="286" y="369"/>
                    <a:pt x="358" y="286"/>
                    <a:pt x="358" y="191"/>
                  </a:cubicBezTo>
                  <a:cubicBezTo>
                    <a:pt x="358" y="96"/>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1646;p47"/>
            <p:cNvSpPr/>
            <p:nvPr/>
          </p:nvSpPr>
          <p:spPr>
            <a:xfrm>
              <a:off x="4252810" y="2147829"/>
              <a:ext cx="38137" cy="38030"/>
            </a:xfrm>
            <a:custGeom>
              <a:rect b="b" l="l" r="r" t="t"/>
              <a:pathLst>
                <a:path extrusionOk="0" h="358" w="359">
                  <a:moveTo>
                    <a:pt x="180" y="0"/>
                  </a:moveTo>
                  <a:cubicBezTo>
                    <a:pt x="84" y="0"/>
                    <a:pt x="1" y="83"/>
                    <a:pt x="1" y="179"/>
                  </a:cubicBezTo>
                  <a:cubicBezTo>
                    <a:pt x="1" y="286"/>
                    <a:pt x="84"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1647;p47"/>
            <p:cNvSpPr/>
            <p:nvPr/>
          </p:nvSpPr>
          <p:spPr>
            <a:xfrm>
              <a:off x="4351498" y="2147829"/>
              <a:ext cx="38030" cy="38030"/>
            </a:xfrm>
            <a:custGeom>
              <a:rect b="b" l="l" r="r" t="t"/>
              <a:pathLst>
                <a:path extrusionOk="0" h="358" w="358">
                  <a:moveTo>
                    <a:pt x="179" y="0"/>
                  </a:moveTo>
                  <a:cubicBezTo>
                    <a:pt x="72" y="0"/>
                    <a:pt x="1" y="83"/>
                    <a:pt x="1" y="179"/>
                  </a:cubicBezTo>
                  <a:cubicBezTo>
                    <a:pt x="1" y="286"/>
                    <a:pt x="72"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1648;p47"/>
            <p:cNvSpPr/>
            <p:nvPr/>
          </p:nvSpPr>
          <p:spPr>
            <a:xfrm>
              <a:off x="4448911" y="2147829"/>
              <a:ext cx="38030" cy="38030"/>
            </a:xfrm>
            <a:custGeom>
              <a:rect b="b" l="l" r="r" t="t"/>
              <a:pathLst>
                <a:path extrusionOk="0" h="358" w="358">
                  <a:moveTo>
                    <a:pt x="179" y="0"/>
                  </a:moveTo>
                  <a:cubicBezTo>
                    <a:pt x="84" y="0"/>
                    <a:pt x="0" y="83"/>
                    <a:pt x="0" y="179"/>
                  </a:cubicBezTo>
                  <a:cubicBezTo>
                    <a:pt x="0" y="286"/>
                    <a:pt x="84" y="357"/>
                    <a:pt x="179" y="357"/>
                  </a:cubicBezTo>
                  <a:cubicBezTo>
                    <a:pt x="286" y="357"/>
                    <a:pt x="358" y="286"/>
                    <a:pt x="358" y="179"/>
                  </a:cubicBezTo>
                  <a:cubicBezTo>
                    <a:pt x="358" y="83"/>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1649;p47"/>
            <p:cNvSpPr/>
            <p:nvPr/>
          </p:nvSpPr>
          <p:spPr>
            <a:xfrm>
              <a:off x="4547599"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7" y="286"/>
                    <a:pt x="357" y="179"/>
                  </a:cubicBezTo>
                  <a:cubicBezTo>
                    <a:pt x="357" y="83"/>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1650;p47"/>
            <p:cNvSpPr/>
            <p:nvPr/>
          </p:nvSpPr>
          <p:spPr>
            <a:xfrm>
              <a:off x="4643630" y="2147829"/>
              <a:ext cx="38137" cy="38030"/>
            </a:xfrm>
            <a:custGeom>
              <a:rect b="b" l="l" r="r" t="t"/>
              <a:pathLst>
                <a:path extrusionOk="0" h="358" w="359">
                  <a:moveTo>
                    <a:pt x="180" y="0"/>
                  </a:moveTo>
                  <a:cubicBezTo>
                    <a:pt x="72" y="0"/>
                    <a:pt x="1" y="83"/>
                    <a:pt x="1" y="179"/>
                  </a:cubicBezTo>
                  <a:cubicBezTo>
                    <a:pt x="1" y="286"/>
                    <a:pt x="72" y="357"/>
                    <a:pt x="180" y="357"/>
                  </a:cubicBezTo>
                  <a:cubicBezTo>
                    <a:pt x="287" y="357"/>
                    <a:pt x="358" y="286"/>
                    <a:pt x="358" y="179"/>
                  </a:cubicBezTo>
                  <a:cubicBezTo>
                    <a:pt x="358" y="83"/>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1651;p47"/>
            <p:cNvSpPr/>
            <p:nvPr/>
          </p:nvSpPr>
          <p:spPr>
            <a:xfrm>
              <a:off x="4742318" y="2147829"/>
              <a:ext cx="38030" cy="38030"/>
            </a:xfrm>
            <a:custGeom>
              <a:rect b="b" l="l" r="r" t="t"/>
              <a:pathLst>
                <a:path extrusionOk="0" h="358" w="358">
                  <a:moveTo>
                    <a:pt x="179" y="0"/>
                  </a:moveTo>
                  <a:cubicBezTo>
                    <a:pt x="72" y="0"/>
                    <a:pt x="1" y="83"/>
                    <a:pt x="1" y="179"/>
                  </a:cubicBezTo>
                  <a:cubicBezTo>
                    <a:pt x="1" y="286"/>
                    <a:pt x="72" y="357"/>
                    <a:pt x="179" y="357"/>
                  </a:cubicBezTo>
                  <a:cubicBezTo>
                    <a:pt x="275" y="357"/>
                    <a:pt x="358" y="286"/>
                    <a:pt x="358" y="179"/>
                  </a:cubicBezTo>
                  <a:cubicBezTo>
                    <a:pt x="358" y="83"/>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1652;p47"/>
            <p:cNvSpPr/>
            <p:nvPr/>
          </p:nvSpPr>
          <p:spPr>
            <a:xfrm>
              <a:off x="4839731" y="2147829"/>
              <a:ext cx="38030" cy="38030"/>
            </a:xfrm>
            <a:custGeom>
              <a:rect b="b" l="l" r="r" t="t"/>
              <a:pathLst>
                <a:path extrusionOk="0" h="358" w="358">
                  <a:moveTo>
                    <a:pt x="179" y="0"/>
                  </a:moveTo>
                  <a:cubicBezTo>
                    <a:pt x="72" y="0"/>
                    <a:pt x="0" y="83"/>
                    <a:pt x="0" y="179"/>
                  </a:cubicBezTo>
                  <a:cubicBezTo>
                    <a:pt x="0" y="286"/>
                    <a:pt x="72" y="357"/>
                    <a:pt x="179" y="357"/>
                  </a:cubicBezTo>
                  <a:cubicBezTo>
                    <a:pt x="286" y="357"/>
                    <a:pt x="358" y="286"/>
                    <a:pt x="358" y="179"/>
                  </a:cubicBezTo>
                  <a:cubicBezTo>
                    <a:pt x="358" y="83"/>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1653;p47"/>
            <p:cNvSpPr/>
            <p:nvPr/>
          </p:nvSpPr>
          <p:spPr>
            <a:xfrm>
              <a:off x="4252810" y="2260327"/>
              <a:ext cx="38137" cy="38030"/>
            </a:xfrm>
            <a:custGeom>
              <a:rect b="b" l="l" r="r" t="t"/>
              <a:pathLst>
                <a:path extrusionOk="0" h="358" w="359">
                  <a:moveTo>
                    <a:pt x="180" y="1"/>
                  </a:moveTo>
                  <a:cubicBezTo>
                    <a:pt x="84" y="1"/>
                    <a:pt x="1" y="72"/>
                    <a:pt x="1" y="179"/>
                  </a:cubicBezTo>
                  <a:cubicBezTo>
                    <a:pt x="1" y="286"/>
                    <a:pt x="84"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1654;p47"/>
            <p:cNvSpPr/>
            <p:nvPr/>
          </p:nvSpPr>
          <p:spPr>
            <a:xfrm>
              <a:off x="4351498" y="2260327"/>
              <a:ext cx="38030" cy="38030"/>
            </a:xfrm>
            <a:custGeom>
              <a:rect b="b" l="l" r="r" t="t"/>
              <a:pathLst>
                <a:path extrusionOk="0" h="358" w="358">
                  <a:moveTo>
                    <a:pt x="179" y="1"/>
                  </a:moveTo>
                  <a:cubicBezTo>
                    <a:pt x="72" y="1"/>
                    <a:pt x="1" y="72"/>
                    <a:pt x="1" y="179"/>
                  </a:cubicBezTo>
                  <a:cubicBezTo>
                    <a:pt x="1" y="286"/>
                    <a:pt x="72"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1655;p47"/>
            <p:cNvSpPr/>
            <p:nvPr/>
          </p:nvSpPr>
          <p:spPr>
            <a:xfrm>
              <a:off x="4448911" y="2260327"/>
              <a:ext cx="38030" cy="38030"/>
            </a:xfrm>
            <a:custGeom>
              <a:rect b="b" l="l" r="r" t="t"/>
              <a:pathLst>
                <a:path extrusionOk="0" h="358" w="358">
                  <a:moveTo>
                    <a:pt x="179" y="1"/>
                  </a:moveTo>
                  <a:cubicBezTo>
                    <a:pt x="84" y="1"/>
                    <a:pt x="0" y="72"/>
                    <a:pt x="0" y="179"/>
                  </a:cubicBezTo>
                  <a:cubicBezTo>
                    <a:pt x="0" y="286"/>
                    <a:pt x="84" y="358"/>
                    <a:pt x="179" y="358"/>
                  </a:cubicBezTo>
                  <a:cubicBezTo>
                    <a:pt x="286" y="358"/>
                    <a:pt x="358" y="286"/>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1656;p47"/>
            <p:cNvSpPr/>
            <p:nvPr/>
          </p:nvSpPr>
          <p:spPr>
            <a:xfrm>
              <a:off x="4547599"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7" y="286"/>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1657;p47"/>
            <p:cNvSpPr/>
            <p:nvPr/>
          </p:nvSpPr>
          <p:spPr>
            <a:xfrm>
              <a:off x="4643630" y="2260327"/>
              <a:ext cx="38137" cy="38030"/>
            </a:xfrm>
            <a:custGeom>
              <a:rect b="b" l="l" r="r" t="t"/>
              <a:pathLst>
                <a:path extrusionOk="0" h="358" w="359">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1658;p47"/>
            <p:cNvSpPr/>
            <p:nvPr/>
          </p:nvSpPr>
          <p:spPr>
            <a:xfrm>
              <a:off x="4742318" y="2260327"/>
              <a:ext cx="38030" cy="38030"/>
            </a:xfrm>
            <a:custGeom>
              <a:rect b="b" l="l" r="r" t="t"/>
              <a:pathLst>
                <a:path extrusionOk="0" h="358" w="358">
                  <a:moveTo>
                    <a:pt x="179" y="1"/>
                  </a:moveTo>
                  <a:cubicBezTo>
                    <a:pt x="72" y="1"/>
                    <a:pt x="1" y="72"/>
                    <a:pt x="1" y="179"/>
                  </a:cubicBezTo>
                  <a:cubicBezTo>
                    <a:pt x="1" y="286"/>
                    <a:pt x="72" y="358"/>
                    <a:pt x="179" y="358"/>
                  </a:cubicBezTo>
                  <a:cubicBezTo>
                    <a:pt x="275" y="358"/>
                    <a:pt x="358" y="286"/>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1659;p47"/>
            <p:cNvSpPr/>
            <p:nvPr/>
          </p:nvSpPr>
          <p:spPr>
            <a:xfrm>
              <a:off x="4839731" y="2260327"/>
              <a:ext cx="38030" cy="38030"/>
            </a:xfrm>
            <a:custGeom>
              <a:rect b="b" l="l" r="r" t="t"/>
              <a:pathLst>
                <a:path extrusionOk="0" h="358" w="358">
                  <a:moveTo>
                    <a:pt x="179" y="1"/>
                  </a:moveTo>
                  <a:cubicBezTo>
                    <a:pt x="72" y="1"/>
                    <a:pt x="0" y="72"/>
                    <a:pt x="0" y="179"/>
                  </a:cubicBezTo>
                  <a:cubicBezTo>
                    <a:pt x="0" y="286"/>
                    <a:pt x="72" y="358"/>
                    <a:pt x="179" y="358"/>
                  </a:cubicBezTo>
                  <a:cubicBezTo>
                    <a:pt x="286" y="358"/>
                    <a:pt x="358" y="286"/>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1660;p47"/>
            <p:cNvSpPr/>
            <p:nvPr/>
          </p:nvSpPr>
          <p:spPr>
            <a:xfrm>
              <a:off x="4252810" y="2371656"/>
              <a:ext cx="38137" cy="38030"/>
            </a:xfrm>
            <a:custGeom>
              <a:rect b="b" l="l" r="r" t="t"/>
              <a:pathLst>
                <a:path extrusionOk="0" h="358" w="359">
                  <a:moveTo>
                    <a:pt x="180" y="0"/>
                  </a:moveTo>
                  <a:cubicBezTo>
                    <a:pt x="84" y="0"/>
                    <a:pt x="1" y="72"/>
                    <a:pt x="1" y="179"/>
                  </a:cubicBezTo>
                  <a:cubicBezTo>
                    <a:pt x="1" y="274"/>
                    <a:pt x="84"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1661;p47"/>
            <p:cNvSpPr/>
            <p:nvPr/>
          </p:nvSpPr>
          <p:spPr>
            <a:xfrm>
              <a:off x="4351498" y="2371656"/>
              <a:ext cx="38030" cy="38030"/>
            </a:xfrm>
            <a:custGeom>
              <a:rect b="b" l="l" r="r" t="t"/>
              <a:pathLst>
                <a:path extrusionOk="0" h="358" w="358">
                  <a:moveTo>
                    <a:pt x="179" y="0"/>
                  </a:moveTo>
                  <a:cubicBezTo>
                    <a:pt x="72" y="0"/>
                    <a:pt x="1" y="72"/>
                    <a:pt x="1" y="179"/>
                  </a:cubicBezTo>
                  <a:cubicBezTo>
                    <a:pt x="1" y="274"/>
                    <a:pt x="72"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1662;p47"/>
            <p:cNvSpPr/>
            <p:nvPr/>
          </p:nvSpPr>
          <p:spPr>
            <a:xfrm>
              <a:off x="4448911" y="2371656"/>
              <a:ext cx="38030" cy="38030"/>
            </a:xfrm>
            <a:custGeom>
              <a:rect b="b" l="l" r="r" t="t"/>
              <a:pathLst>
                <a:path extrusionOk="0" h="358" w="358">
                  <a:moveTo>
                    <a:pt x="179" y="0"/>
                  </a:moveTo>
                  <a:cubicBezTo>
                    <a:pt x="84" y="0"/>
                    <a:pt x="0" y="72"/>
                    <a:pt x="0" y="179"/>
                  </a:cubicBezTo>
                  <a:cubicBezTo>
                    <a:pt x="0" y="274"/>
                    <a:pt x="84" y="358"/>
                    <a:pt x="179" y="358"/>
                  </a:cubicBezTo>
                  <a:cubicBezTo>
                    <a:pt x="286" y="358"/>
                    <a:pt x="358" y="274"/>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1663;p47"/>
            <p:cNvSpPr/>
            <p:nvPr/>
          </p:nvSpPr>
          <p:spPr>
            <a:xfrm>
              <a:off x="4547599"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7" y="274"/>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1664;p47"/>
            <p:cNvSpPr/>
            <p:nvPr/>
          </p:nvSpPr>
          <p:spPr>
            <a:xfrm>
              <a:off x="4643630" y="2371656"/>
              <a:ext cx="38137" cy="38030"/>
            </a:xfrm>
            <a:custGeom>
              <a:rect b="b" l="l" r="r" t="t"/>
              <a:pathLst>
                <a:path extrusionOk="0" h="358" w="359">
                  <a:moveTo>
                    <a:pt x="180" y="0"/>
                  </a:moveTo>
                  <a:cubicBezTo>
                    <a:pt x="72" y="0"/>
                    <a:pt x="1" y="72"/>
                    <a:pt x="1" y="179"/>
                  </a:cubicBezTo>
                  <a:cubicBezTo>
                    <a:pt x="1" y="274"/>
                    <a:pt x="72" y="358"/>
                    <a:pt x="180" y="358"/>
                  </a:cubicBezTo>
                  <a:cubicBezTo>
                    <a:pt x="287" y="358"/>
                    <a:pt x="358" y="274"/>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1665;p47"/>
            <p:cNvSpPr/>
            <p:nvPr/>
          </p:nvSpPr>
          <p:spPr>
            <a:xfrm>
              <a:off x="4742318" y="2371656"/>
              <a:ext cx="38030" cy="38030"/>
            </a:xfrm>
            <a:custGeom>
              <a:rect b="b" l="l" r="r" t="t"/>
              <a:pathLst>
                <a:path extrusionOk="0" h="358" w="358">
                  <a:moveTo>
                    <a:pt x="179" y="0"/>
                  </a:moveTo>
                  <a:cubicBezTo>
                    <a:pt x="72" y="0"/>
                    <a:pt x="1" y="72"/>
                    <a:pt x="1" y="179"/>
                  </a:cubicBezTo>
                  <a:cubicBezTo>
                    <a:pt x="1" y="274"/>
                    <a:pt x="72" y="358"/>
                    <a:pt x="179" y="358"/>
                  </a:cubicBezTo>
                  <a:cubicBezTo>
                    <a:pt x="275" y="358"/>
                    <a:pt x="358" y="274"/>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1666;p47"/>
            <p:cNvSpPr/>
            <p:nvPr/>
          </p:nvSpPr>
          <p:spPr>
            <a:xfrm>
              <a:off x="4839731" y="2371656"/>
              <a:ext cx="38030" cy="38030"/>
            </a:xfrm>
            <a:custGeom>
              <a:rect b="b" l="l" r="r" t="t"/>
              <a:pathLst>
                <a:path extrusionOk="0" h="358" w="358">
                  <a:moveTo>
                    <a:pt x="179" y="0"/>
                  </a:moveTo>
                  <a:cubicBezTo>
                    <a:pt x="72" y="0"/>
                    <a:pt x="0" y="72"/>
                    <a:pt x="0" y="179"/>
                  </a:cubicBezTo>
                  <a:cubicBezTo>
                    <a:pt x="0" y="274"/>
                    <a:pt x="72" y="358"/>
                    <a:pt x="179" y="358"/>
                  </a:cubicBezTo>
                  <a:cubicBezTo>
                    <a:pt x="286" y="358"/>
                    <a:pt x="358" y="274"/>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1667;p47"/>
            <p:cNvSpPr/>
            <p:nvPr/>
          </p:nvSpPr>
          <p:spPr>
            <a:xfrm>
              <a:off x="4252810" y="2482985"/>
              <a:ext cx="38137" cy="38030"/>
            </a:xfrm>
            <a:custGeom>
              <a:rect b="b" l="l" r="r" t="t"/>
              <a:pathLst>
                <a:path extrusionOk="0" h="358" w="359">
                  <a:moveTo>
                    <a:pt x="180" y="0"/>
                  </a:moveTo>
                  <a:cubicBezTo>
                    <a:pt x="84" y="0"/>
                    <a:pt x="1" y="72"/>
                    <a:pt x="1" y="179"/>
                  </a:cubicBezTo>
                  <a:cubicBezTo>
                    <a:pt x="1" y="286"/>
                    <a:pt x="84"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1668;p47"/>
            <p:cNvSpPr/>
            <p:nvPr/>
          </p:nvSpPr>
          <p:spPr>
            <a:xfrm>
              <a:off x="4351498" y="2482985"/>
              <a:ext cx="38030" cy="38030"/>
            </a:xfrm>
            <a:custGeom>
              <a:rect b="b" l="l" r="r" t="t"/>
              <a:pathLst>
                <a:path extrusionOk="0" h="358" w="358">
                  <a:moveTo>
                    <a:pt x="179" y="0"/>
                  </a:moveTo>
                  <a:cubicBezTo>
                    <a:pt x="72" y="0"/>
                    <a:pt x="1" y="72"/>
                    <a:pt x="1" y="179"/>
                  </a:cubicBezTo>
                  <a:cubicBezTo>
                    <a:pt x="1" y="286"/>
                    <a:pt x="72"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1669;p47"/>
            <p:cNvSpPr/>
            <p:nvPr/>
          </p:nvSpPr>
          <p:spPr>
            <a:xfrm>
              <a:off x="4448911" y="2482985"/>
              <a:ext cx="38030" cy="38030"/>
            </a:xfrm>
            <a:custGeom>
              <a:rect b="b" l="l" r="r" t="t"/>
              <a:pathLst>
                <a:path extrusionOk="0" h="358" w="358">
                  <a:moveTo>
                    <a:pt x="179" y="0"/>
                  </a:moveTo>
                  <a:cubicBezTo>
                    <a:pt x="84" y="0"/>
                    <a:pt x="0" y="72"/>
                    <a:pt x="0" y="179"/>
                  </a:cubicBezTo>
                  <a:cubicBezTo>
                    <a:pt x="0" y="286"/>
                    <a:pt x="84" y="357"/>
                    <a:pt x="179" y="357"/>
                  </a:cubicBezTo>
                  <a:cubicBezTo>
                    <a:pt x="286" y="357"/>
                    <a:pt x="358" y="286"/>
                    <a:pt x="358" y="179"/>
                  </a:cubicBezTo>
                  <a:cubicBezTo>
                    <a:pt x="358" y="84"/>
                    <a:pt x="286"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1670;p47"/>
            <p:cNvSpPr/>
            <p:nvPr/>
          </p:nvSpPr>
          <p:spPr>
            <a:xfrm>
              <a:off x="4547599"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7" y="286"/>
                    <a:pt x="357" y="179"/>
                  </a:cubicBezTo>
                  <a:cubicBezTo>
                    <a:pt x="357" y="84"/>
                    <a:pt x="262"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1671;p47"/>
            <p:cNvSpPr/>
            <p:nvPr/>
          </p:nvSpPr>
          <p:spPr>
            <a:xfrm>
              <a:off x="4643630" y="2482985"/>
              <a:ext cx="38137" cy="38030"/>
            </a:xfrm>
            <a:custGeom>
              <a:rect b="b" l="l" r="r" t="t"/>
              <a:pathLst>
                <a:path extrusionOk="0" h="358" w="359">
                  <a:moveTo>
                    <a:pt x="180" y="0"/>
                  </a:moveTo>
                  <a:cubicBezTo>
                    <a:pt x="72" y="0"/>
                    <a:pt x="1" y="72"/>
                    <a:pt x="1" y="179"/>
                  </a:cubicBezTo>
                  <a:cubicBezTo>
                    <a:pt x="1" y="286"/>
                    <a:pt x="72" y="357"/>
                    <a:pt x="180" y="357"/>
                  </a:cubicBezTo>
                  <a:cubicBezTo>
                    <a:pt x="287" y="357"/>
                    <a:pt x="358" y="286"/>
                    <a:pt x="358" y="179"/>
                  </a:cubicBezTo>
                  <a:cubicBezTo>
                    <a:pt x="358" y="84"/>
                    <a:pt x="287" y="0"/>
                    <a:pt x="180"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1672;p47"/>
            <p:cNvSpPr/>
            <p:nvPr/>
          </p:nvSpPr>
          <p:spPr>
            <a:xfrm>
              <a:off x="4742318" y="2482985"/>
              <a:ext cx="38030" cy="38030"/>
            </a:xfrm>
            <a:custGeom>
              <a:rect b="b" l="l" r="r" t="t"/>
              <a:pathLst>
                <a:path extrusionOk="0" h="358" w="358">
                  <a:moveTo>
                    <a:pt x="179" y="0"/>
                  </a:moveTo>
                  <a:cubicBezTo>
                    <a:pt x="72" y="0"/>
                    <a:pt x="1" y="72"/>
                    <a:pt x="1" y="179"/>
                  </a:cubicBezTo>
                  <a:cubicBezTo>
                    <a:pt x="1" y="286"/>
                    <a:pt x="72" y="357"/>
                    <a:pt x="179" y="357"/>
                  </a:cubicBezTo>
                  <a:cubicBezTo>
                    <a:pt x="275" y="357"/>
                    <a:pt x="358" y="286"/>
                    <a:pt x="358" y="179"/>
                  </a:cubicBezTo>
                  <a:cubicBezTo>
                    <a:pt x="358" y="84"/>
                    <a:pt x="275"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1673;p47"/>
            <p:cNvSpPr/>
            <p:nvPr/>
          </p:nvSpPr>
          <p:spPr>
            <a:xfrm>
              <a:off x="4839731" y="2482985"/>
              <a:ext cx="38030" cy="38030"/>
            </a:xfrm>
            <a:custGeom>
              <a:rect b="b" l="l" r="r" t="t"/>
              <a:pathLst>
                <a:path extrusionOk="0" h="358" w="358">
                  <a:moveTo>
                    <a:pt x="179" y="0"/>
                  </a:moveTo>
                  <a:cubicBezTo>
                    <a:pt x="72" y="0"/>
                    <a:pt x="0" y="72"/>
                    <a:pt x="0" y="179"/>
                  </a:cubicBezTo>
                  <a:cubicBezTo>
                    <a:pt x="0" y="286"/>
                    <a:pt x="72" y="357"/>
                    <a:pt x="179" y="357"/>
                  </a:cubicBezTo>
                  <a:cubicBezTo>
                    <a:pt x="286" y="357"/>
                    <a:pt x="358" y="286"/>
                    <a:pt x="358" y="179"/>
                  </a:cubicBezTo>
                  <a:cubicBezTo>
                    <a:pt x="358" y="84"/>
                    <a:pt x="274" y="0"/>
                    <a:pt x="179"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1674;p47"/>
            <p:cNvSpPr/>
            <p:nvPr/>
          </p:nvSpPr>
          <p:spPr>
            <a:xfrm>
              <a:off x="4252810" y="2595483"/>
              <a:ext cx="38137" cy="38137"/>
            </a:xfrm>
            <a:custGeom>
              <a:rect b="b" l="l" r="r" t="t"/>
              <a:pathLst>
                <a:path extrusionOk="0" h="359" w="359">
                  <a:moveTo>
                    <a:pt x="180" y="1"/>
                  </a:moveTo>
                  <a:cubicBezTo>
                    <a:pt x="84" y="1"/>
                    <a:pt x="1" y="72"/>
                    <a:pt x="1" y="179"/>
                  </a:cubicBezTo>
                  <a:cubicBezTo>
                    <a:pt x="1" y="287"/>
                    <a:pt x="84"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1675;p47"/>
            <p:cNvSpPr/>
            <p:nvPr/>
          </p:nvSpPr>
          <p:spPr>
            <a:xfrm>
              <a:off x="4351498" y="2595483"/>
              <a:ext cx="38030" cy="38137"/>
            </a:xfrm>
            <a:custGeom>
              <a:rect b="b" l="l" r="r" t="t"/>
              <a:pathLst>
                <a:path extrusionOk="0" h="359" w="358">
                  <a:moveTo>
                    <a:pt x="179" y="1"/>
                  </a:moveTo>
                  <a:cubicBezTo>
                    <a:pt x="72" y="1"/>
                    <a:pt x="1" y="72"/>
                    <a:pt x="1" y="179"/>
                  </a:cubicBezTo>
                  <a:cubicBezTo>
                    <a:pt x="1" y="287"/>
                    <a:pt x="72"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1676;p47"/>
            <p:cNvSpPr/>
            <p:nvPr/>
          </p:nvSpPr>
          <p:spPr>
            <a:xfrm>
              <a:off x="4448911" y="2595483"/>
              <a:ext cx="38030" cy="38137"/>
            </a:xfrm>
            <a:custGeom>
              <a:rect b="b" l="l" r="r" t="t"/>
              <a:pathLst>
                <a:path extrusionOk="0" h="359" w="358">
                  <a:moveTo>
                    <a:pt x="179" y="1"/>
                  </a:moveTo>
                  <a:cubicBezTo>
                    <a:pt x="84" y="1"/>
                    <a:pt x="0" y="72"/>
                    <a:pt x="0" y="179"/>
                  </a:cubicBezTo>
                  <a:cubicBezTo>
                    <a:pt x="0" y="287"/>
                    <a:pt x="84" y="358"/>
                    <a:pt x="179" y="358"/>
                  </a:cubicBezTo>
                  <a:cubicBezTo>
                    <a:pt x="286" y="358"/>
                    <a:pt x="358" y="287"/>
                    <a:pt x="358" y="179"/>
                  </a:cubicBezTo>
                  <a:cubicBezTo>
                    <a:pt x="358" y="72"/>
                    <a:pt x="286"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1677;p47"/>
            <p:cNvSpPr/>
            <p:nvPr/>
          </p:nvSpPr>
          <p:spPr>
            <a:xfrm>
              <a:off x="4547599"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7" y="287"/>
                    <a:pt x="357" y="179"/>
                  </a:cubicBezTo>
                  <a:cubicBezTo>
                    <a:pt x="357" y="72"/>
                    <a:pt x="262"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1678;p47"/>
            <p:cNvSpPr/>
            <p:nvPr/>
          </p:nvSpPr>
          <p:spPr>
            <a:xfrm>
              <a:off x="4643630" y="2595483"/>
              <a:ext cx="38137" cy="38137"/>
            </a:xfrm>
            <a:custGeom>
              <a:rect b="b" l="l" r="r" t="t"/>
              <a:pathLst>
                <a:path extrusionOk="0" h="359" w="359">
                  <a:moveTo>
                    <a:pt x="180" y="1"/>
                  </a:moveTo>
                  <a:cubicBezTo>
                    <a:pt x="72" y="1"/>
                    <a:pt x="1" y="72"/>
                    <a:pt x="1" y="179"/>
                  </a:cubicBezTo>
                  <a:cubicBezTo>
                    <a:pt x="1" y="287"/>
                    <a:pt x="72" y="358"/>
                    <a:pt x="180" y="358"/>
                  </a:cubicBezTo>
                  <a:cubicBezTo>
                    <a:pt x="287" y="358"/>
                    <a:pt x="358" y="287"/>
                    <a:pt x="358" y="179"/>
                  </a:cubicBezTo>
                  <a:cubicBezTo>
                    <a:pt x="358" y="72"/>
                    <a:pt x="287" y="1"/>
                    <a:pt x="180"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1679;p47"/>
            <p:cNvSpPr/>
            <p:nvPr/>
          </p:nvSpPr>
          <p:spPr>
            <a:xfrm>
              <a:off x="4742318" y="2595483"/>
              <a:ext cx="38030" cy="38137"/>
            </a:xfrm>
            <a:custGeom>
              <a:rect b="b" l="l" r="r" t="t"/>
              <a:pathLst>
                <a:path extrusionOk="0" h="359" w="358">
                  <a:moveTo>
                    <a:pt x="179" y="1"/>
                  </a:moveTo>
                  <a:cubicBezTo>
                    <a:pt x="72" y="1"/>
                    <a:pt x="1" y="72"/>
                    <a:pt x="1" y="179"/>
                  </a:cubicBezTo>
                  <a:cubicBezTo>
                    <a:pt x="1" y="287"/>
                    <a:pt x="72" y="358"/>
                    <a:pt x="179" y="358"/>
                  </a:cubicBezTo>
                  <a:cubicBezTo>
                    <a:pt x="275" y="358"/>
                    <a:pt x="358" y="287"/>
                    <a:pt x="358" y="179"/>
                  </a:cubicBezTo>
                  <a:cubicBezTo>
                    <a:pt x="358" y="72"/>
                    <a:pt x="275"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1680;p47"/>
            <p:cNvSpPr/>
            <p:nvPr/>
          </p:nvSpPr>
          <p:spPr>
            <a:xfrm>
              <a:off x="4839731" y="2595483"/>
              <a:ext cx="38030" cy="38137"/>
            </a:xfrm>
            <a:custGeom>
              <a:rect b="b" l="l" r="r" t="t"/>
              <a:pathLst>
                <a:path extrusionOk="0" h="359" w="358">
                  <a:moveTo>
                    <a:pt x="179" y="1"/>
                  </a:moveTo>
                  <a:cubicBezTo>
                    <a:pt x="72" y="1"/>
                    <a:pt x="0" y="72"/>
                    <a:pt x="0" y="179"/>
                  </a:cubicBezTo>
                  <a:cubicBezTo>
                    <a:pt x="0" y="287"/>
                    <a:pt x="72" y="358"/>
                    <a:pt x="179" y="358"/>
                  </a:cubicBezTo>
                  <a:cubicBezTo>
                    <a:pt x="286" y="358"/>
                    <a:pt x="358" y="287"/>
                    <a:pt x="358" y="179"/>
                  </a:cubicBezTo>
                  <a:cubicBezTo>
                    <a:pt x="358" y="72"/>
                    <a:pt x="274" y="1"/>
                    <a:pt x="17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 name="Google Shape;1626;p47"/>
          <p:cNvGrpSpPr/>
          <p:nvPr/>
        </p:nvGrpSpPr>
        <p:grpSpPr>
          <a:xfrm>
            <a:off x="7858386" y="2384876"/>
            <a:ext cx="1617386" cy="1624770"/>
            <a:chOff x="3992334" y="189904"/>
            <a:chExt cx="1116902" cy="1122001"/>
          </a:xfrm>
        </p:grpSpPr>
        <p:sp>
          <p:nvSpPr>
            <p:cNvPr id="7" name="Google Shape;1627;p47"/>
            <p:cNvSpPr/>
            <p:nvPr/>
          </p:nvSpPr>
          <p:spPr>
            <a:xfrm>
              <a:off x="3992334" y="804551"/>
              <a:ext cx="232750" cy="403568"/>
            </a:xfrm>
            <a:custGeom>
              <a:rect b="b" l="l" r="r" t="t"/>
              <a:pathLst>
                <a:path extrusionOk="0" h="3799" w="2191">
                  <a:moveTo>
                    <a:pt x="0" y="1"/>
                  </a:moveTo>
                  <a:cubicBezTo>
                    <a:pt x="36" y="227"/>
                    <a:pt x="60" y="441"/>
                    <a:pt x="107" y="667"/>
                  </a:cubicBezTo>
                  <a:lnTo>
                    <a:pt x="1667" y="3382"/>
                  </a:lnTo>
                  <a:cubicBezTo>
                    <a:pt x="1834" y="3525"/>
                    <a:pt x="2012" y="3680"/>
                    <a:pt x="2191" y="3799"/>
                  </a:cubicBez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 name="Google Shape;1628;p47"/>
            <p:cNvSpPr/>
            <p:nvPr/>
          </p:nvSpPr>
          <p:spPr>
            <a:xfrm>
              <a:off x="3998602" y="619923"/>
              <a:ext cx="396025" cy="671692"/>
            </a:xfrm>
            <a:custGeom>
              <a:rect b="b" l="l" r="r" t="t"/>
              <a:pathLst>
                <a:path extrusionOk="0" h="6323" w="3728">
                  <a:moveTo>
                    <a:pt x="96" y="0"/>
                  </a:moveTo>
                  <a:cubicBezTo>
                    <a:pt x="48" y="96"/>
                    <a:pt x="13" y="215"/>
                    <a:pt x="1" y="334"/>
                  </a:cubicBezTo>
                  <a:lnTo>
                    <a:pt x="3382" y="6203"/>
                  </a:lnTo>
                  <a:cubicBezTo>
                    <a:pt x="3489" y="6251"/>
                    <a:pt x="3608" y="6275"/>
                    <a:pt x="3727" y="6323"/>
                  </a:cubicBezTo>
                  <a:lnTo>
                    <a:pt x="96"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 name="Google Shape;1629;p47"/>
            <p:cNvSpPr/>
            <p:nvPr/>
          </p:nvSpPr>
          <p:spPr>
            <a:xfrm>
              <a:off x="4040350" y="490854"/>
              <a:ext cx="484515" cy="821052"/>
            </a:xfrm>
            <a:custGeom>
              <a:rect b="b" l="l" r="r" t="t"/>
              <a:pathLst>
                <a:path extrusionOk="0" h="7729" w="4561">
                  <a:moveTo>
                    <a:pt x="108" y="1"/>
                  </a:moveTo>
                  <a:cubicBezTo>
                    <a:pt x="84" y="84"/>
                    <a:pt x="36" y="168"/>
                    <a:pt x="1" y="263"/>
                  </a:cubicBezTo>
                  <a:lnTo>
                    <a:pt x="4275" y="7716"/>
                  </a:lnTo>
                  <a:cubicBezTo>
                    <a:pt x="4370" y="7728"/>
                    <a:pt x="4477" y="7728"/>
                    <a:pt x="4561" y="7728"/>
                  </a:cubicBezTo>
                  <a:lnTo>
                    <a:pt x="1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 name="Google Shape;1630;p47"/>
            <p:cNvSpPr/>
            <p:nvPr/>
          </p:nvSpPr>
          <p:spPr>
            <a:xfrm>
              <a:off x="4101114" y="393547"/>
              <a:ext cx="542623" cy="915809"/>
            </a:xfrm>
            <a:custGeom>
              <a:rect b="b" l="l" r="r" t="t"/>
              <a:pathLst>
                <a:path extrusionOk="0" h="8621" w="5108">
                  <a:moveTo>
                    <a:pt x="167" y="0"/>
                  </a:moveTo>
                  <a:cubicBezTo>
                    <a:pt x="107" y="60"/>
                    <a:pt x="48" y="131"/>
                    <a:pt x="0" y="191"/>
                  </a:cubicBezTo>
                  <a:lnTo>
                    <a:pt x="4858" y="8620"/>
                  </a:lnTo>
                  <a:cubicBezTo>
                    <a:pt x="4941" y="8596"/>
                    <a:pt x="5025" y="8596"/>
                    <a:pt x="5108" y="8585"/>
                  </a:cubicBezTo>
                  <a:lnTo>
                    <a:pt x="16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631;p47"/>
            <p:cNvSpPr/>
            <p:nvPr/>
          </p:nvSpPr>
          <p:spPr>
            <a:xfrm>
              <a:off x="4175687" y="316318"/>
              <a:ext cx="573111" cy="969030"/>
            </a:xfrm>
            <a:custGeom>
              <a:rect b="b" l="l" r="r" t="t"/>
              <a:pathLst>
                <a:path extrusionOk="0" h="9122" w="5395">
                  <a:moveTo>
                    <a:pt x="179" y="1"/>
                  </a:moveTo>
                  <a:cubicBezTo>
                    <a:pt x="120" y="60"/>
                    <a:pt x="60" y="96"/>
                    <a:pt x="1" y="156"/>
                  </a:cubicBezTo>
                  <a:lnTo>
                    <a:pt x="5168" y="9121"/>
                  </a:lnTo>
                  <a:cubicBezTo>
                    <a:pt x="5239" y="9085"/>
                    <a:pt x="5311" y="9073"/>
                    <a:pt x="5394" y="9050"/>
                  </a:cubicBezTo>
                  <a:lnTo>
                    <a:pt x="17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632;p47"/>
            <p:cNvSpPr/>
            <p:nvPr/>
          </p:nvSpPr>
          <p:spPr>
            <a:xfrm>
              <a:off x="4259184" y="256935"/>
              <a:ext cx="581928" cy="986664"/>
            </a:xfrm>
            <a:custGeom>
              <a:rect b="b" l="l" r="r" t="t"/>
              <a:pathLst>
                <a:path extrusionOk="0" h="9288" w="5478">
                  <a:moveTo>
                    <a:pt x="215" y="0"/>
                  </a:moveTo>
                  <a:cubicBezTo>
                    <a:pt x="167" y="24"/>
                    <a:pt x="143" y="48"/>
                    <a:pt x="108" y="60"/>
                  </a:cubicBezTo>
                  <a:cubicBezTo>
                    <a:pt x="84" y="84"/>
                    <a:pt x="36" y="107"/>
                    <a:pt x="0" y="119"/>
                  </a:cubicBezTo>
                  <a:lnTo>
                    <a:pt x="5275" y="9287"/>
                  </a:lnTo>
                  <a:cubicBezTo>
                    <a:pt x="5299" y="9275"/>
                    <a:pt x="5346" y="9251"/>
                    <a:pt x="5382" y="9228"/>
                  </a:cubicBezTo>
                  <a:cubicBezTo>
                    <a:pt x="5406" y="9216"/>
                    <a:pt x="5454" y="9192"/>
                    <a:pt x="5477" y="9168"/>
                  </a:cubicBez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633;p47"/>
            <p:cNvSpPr/>
            <p:nvPr/>
          </p:nvSpPr>
          <p:spPr>
            <a:xfrm>
              <a:off x="4354047" y="216462"/>
              <a:ext cx="573005" cy="968924"/>
            </a:xfrm>
            <a:custGeom>
              <a:rect b="b" l="l" r="r" t="t"/>
              <a:pathLst>
                <a:path extrusionOk="0" h="9121" w="5394">
                  <a:moveTo>
                    <a:pt x="227" y="0"/>
                  </a:moveTo>
                  <a:cubicBezTo>
                    <a:pt x="155" y="12"/>
                    <a:pt x="84" y="48"/>
                    <a:pt x="0" y="72"/>
                  </a:cubicBezTo>
                  <a:lnTo>
                    <a:pt x="5215" y="9120"/>
                  </a:lnTo>
                  <a:cubicBezTo>
                    <a:pt x="5275" y="9073"/>
                    <a:pt x="5334" y="9013"/>
                    <a:pt x="5394" y="8954"/>
                  </a:cubicBezTo>
                  <a:lnTo>
                    <a:pt x="22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634;p47"/>
            <p:cNvSpPr/>
            <p:nvPr/>
          </p:nvSpPr>
          <p:spPr>
            <a:xfrm>
              <a:off x="4459003" y="192454"/>
              <a:ext cx="542729" cy="915809"/>
            </a:xfrm>
            <a:custGeom>
              <a:rect b="b" l="l" r="r" t="t"/>
              <a:pathLst>
                <a:path extrusionOk="0" h="8621" w="5109">
                  <a:moveTo>
                    <a:pt x="251" y="0"/>
                  </a:moveTo>
                  <a:cubicBezTo>
                    <a:pt x="167" y="0"/>
                    <a:pt x="72" y="12"/>
                    <a:pt x="1" y="36"/>
                  </a:cubicBezTo>
                  <a:lnTo>
                    <a:pt x="4942" y="8620"/>
                  </a:lnTo>
                  <a:cubicBezTo>
                    <a:pt x="5001" y="8561"/>
                    <a:pt x="5049" y="8489"/>
                    <a:pt x="5108" y="8406"/>
                  </a:cubicBezTo>
                  <a:lnTo>
                    <a:pt x="25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635;p47"/>
            <p:cNvSpPr/>
            <p:nvPr/>
          </p:nvSpPr>
          <p:spPr>
            <a:xfrm>
              <a:off x="4575431" y="189904"/>
              <a:ext cx="485790" cy="819671"/>
            </a:xfrm>
            <a:custGeom>
              <a:rect b="b" l="l" r="r" t="t"/>
              <a:pathLst>
                <a:path extrusionOk="0" h="7716" w="4573">
                  <a:moveTo>
                    <a:pt x="0" y="0"/>
                  </a:moveTo>
                  <a:lnTo>
                    <a:pt x="4453" y="7715"/>
                  </a:lnTo>
                  <a:cubicBezTo>
                    <a:pt x="4501" y="7632"/>
                    <a:pt x="4548" y="7549"/>
                    <a:pt x="4572" y="7465"/>
                  </a:cubicBezTo>
                  <a:lnTo>
                    <a:pt x="286" y="12"/>
                  </a:lnTo>
                  <a:cubicBezTo>
                    <a:pt x="179" y="0"/>
                    <a:pt x="95" y="0"/>
                    <a:pt x="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36;p47"/>
            <p:cNvSpPr/>
            <p:nvPr/>
          </p:nvSpPr>
          <p:spPr>
            <a:xfrm>
              <a:off x="4708218" y="211363"/>
              <a:ext cx="394644" cy="671692"/>
            </a:xfrm>
            <a:custGeom>
              <a:rect b="b" l="l" r="r" t="t"/>
              <a:pathLst>
                <a:path extrusionOk="0" h="6323" w="3715">
                  <a:moveTo>
                    <a:pt x="0" y="1"/>
                  </a:moveTo>
                  <a:lnTo>
                    <a:pt x="3632" y="6323"/>
                  </a:lnTo>
                  <a:cubicBezTo>
                    <a:pt x="3667" y="6204"/>
                    <a:pt x="3679" y="6085"/>
                    <a:pt x="3715" y="5989"/>
                  </a:cubicBezTo>
                  <a:lnTo>
                    <a:pt x="334" y="120"/>
                  </a:lnTo>
                  <a:cubicBezTo>
                    <a:pt x="226" y="72"/>
                    <a:pt x="119" y="36"/>
                    <a:pt x="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637;p47"/>
            <p:cNvSpPr/>
            <p:nvPr/>
          </p:nvSpPr>
          <p:spPr>
            <a:xfrm>
              <a:off x="4876380" y="293585"/>
              <a:ext cx="232856" cy="403568"/>
            </a:xfrm>
            <a:custGeom>
              <a:rect b="b" l="l" r="r" t="t"/>
              <a:pathLst>
                <a:path extrusionOk="0" h="3799" w="2192">
                  <a:moveTo>
                    <a:pt x="1" y="1"/>
                  </a:moveTo>
                  <a:lnTo>
                    <a:pt x="2191" y="3799"/>
                  </a:lnTo>
                  <a:cubicBezTo>
                    <a:pt x="2168" y="3572"/>
                    <a:pt x="2132" y="3346"/>
                    <a:pt x="2084" y="3144"/>
                  </a:cubicBezTo>
                  <a:lnTo>
                    <a:pt x="525" y="429"/>
                  </a:lnTo>
                  <a:cubicBezTo>
                    <a:pt x="358" y="274"/>
                    <a:pt x="179" y="120"/>
                    <a:pt x="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 name="Google Shape;1625;p47"/>
          <p:cNvSpPr/>
          <p:nvPr/>
        </p:nvSpPr>
        <p:spPr>
          <a:xfrm rot="10800000">
            <a:off x="8114175" y="0"/>
            <a:ext cx="1105800" cy="1758000"/>
          </a:xfrm>
          <a:prstGeom prst="round2SameRect">
            <a:avLst>
              <a:gd fmla="val 50000" name="adj1"/>
              <a:gd fmla="val 0" name="adj2"/>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sp>
        <p:nvSpPr>
          <p:cNvPr id="4" name="Google Shape;1624;p47"/>
          <p:cNvSpPr/>
          <p:nvPr/>
        </p:nvSpPr>
        <p:spPr>
          <a:xfrm>
            <a:off x="-50" y="2454750"/>
            <a:ext cx="1727100" cy="2745600"/>
          </a:xfrm>
          <a:prstGeom prst="round2SameRect">
            <a:avLst>
              <a:gd fmla="val 50000" name="adj1"/>
              <a:gd fmla="val 0" name="adj2"/>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Open Sans"/>
              <a:ea typeface="Open Sans"/>
              <a:cs typeface="Open Sans"/>
              <a:sym typeface="Open Sans"/>
            </a:endParaRPr>
          </a:p>
        </p:txBody>
      </p:sp>
      <p:sp>
        <p:nvSpPr>
          <p:cNvPr id="2" name="Title 1"/>
          <p:cNvSpPr>
            <a:spLocks noGrp="1"/>
          </p:cNvSpPr>
          <p:nvPr>
            <p:ph type="ctrTitle"/>
          </p:nvPr>
        </p:nvSpPr>
        <p:spPr/>
        <p:txBody>
          <a:bodyPr/>
          <a:lstStyle/>
          <a:p>
            <a:pPr marL="0" indent="0">
              <a:buNone/>
            </a:pPr>
            <a:r>
              <a:t>Thank you</a:t>
            </a:r>
          </a:p>
        </p:txBody>
      </p:sp>
      <p:sp>
        <p:nvSpPr>
          <p:cNvPr id="3" name="Subtitle 2"/>
          <p:cNvSpPr>
            <a:spLocks noGrp="1"/>
          </p:cNvSpPr>
          <p:nvPr>
            <p:ph type="subTitle" idx="1"/>
          </p:nvPr>
        </p:nvSpPr>
        <p:spPr/>
        <p:txBody>
          <a:bodyPr/>
          <a:lstStyle/>
          <a:p>
            <a:pPr marL="0" indent="0">
              <a:buNone/>
            </a:pPr>
            <a:r>
              <a:t>Questions?</a:t>
            </a:r>
          </a:p>
          <a:p>
            <a:pPr marL="0" indent="0">
              <a:buNone/>
            </a:pPr>
            <a:r>
              <a:t>hadigghazi@gmail.com</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Backup: every candidate on the test set</a:t>
            </a:r>
          </a:p>
        </p:txBody>
      </p:sp>
      <p:graphicFrame>
        <p:nvGraphicFramePr>
          <p:cNvPr id="3" name="Table 2"/>
          <p:cNvGraphicFramePr>
            <a:graphicFrameLocks noGrp="1"/>
          </p:cNvGraphicFramePr>
          <p:nvPr/>
        </p:nvGraphicFramePr>
        <p:xfrm>
          <a:off x="722376" y="1188720"/>
          <a:ext cx="7708392" cy="2798064"/>
        </p:xfrm>
        <a:graphic>
          <a:graphicData uri="http://schemas.openxmlformats.org/drawingml/2006/table">
            <a:tbl>
              <a:tblPr firstRow="1" bandRow="1">
                <a:tableStyleId>{5C22544A-7EE6-4342-B048-85BDC9FD1C3A}</a:tableStyleId>
              </a:tblPr>
              <a:tblGrid>
                <a:gridCol w="2377440"/>
                <a:gridCol w="822960"/>
                <a:gridCol w="1051560"/>
                <a:gridCol w="777240"/>
                <a:gridCol w="868680"/>
                <a:gridCol w="914400"/>
                <a:gridCol w="896112"/>
              </a:tblGrid>
              <a:tr h="310896">
                <a:tc>
                  <a:txBody>
                    <a:bodyPr/>
                    <a:lstStyle/>
                    <a:p>
                      <a:pPr algn="l"/>
                      <a:r>
                        <a:rPr sz="1050" b="1" i="0">
                          <a:solidFill>
                            <a:srgbClr val="FFFFFF"/>
                          </a:solidFill>
                          <a:latin typeface="Cabin"/>
                        </a:rPr>
                        <a:t>Model</a:t>
                      </a:r>
                    </a:p>
                  </a:txBody>
                  <a:tcPr marT="18288" marB="18288" anchor="ctr">
                    <a:solidFill>
                      <a:srgbClr val="0D3C4C"/>
                    </a:solidFill>
                  </a:tcPr>
                </a:tc>
                <a:tc>
                  <a:txBody>
                    <a:bodyPr/>
                    <a:lstStyle/>
                    <a:p>
                      <a:pPr algn="r"/>
                      <a:r>
                        <a:rPr sz="1050" b="1" i="0">
                          <a:solidFill>
                            <a:srgbClr val="FFFFFF"/>
                          </a:solidFill>
                          <a:latin typeface="Cabin"/>
                        </a:rPr>
                        <a:t>Test AUC</a:t>
                      </a:r>
                    </a:p>
                  </a:txBody>
                  <a:tcPr marT="18288" marB="18288" anchor="ctr">
                    <a:solidFill>
                      <a:srgbClr val="0D3C4C"/>
                    </a:solidFill>
                  </a:tcPr>
                </a:tc>
                <a:tc>
                  <a:txBody>
                    <a:bodyPr/>
                    <a:lstStyle/>
                    <a:p>
                      <a:pPr algn="r"/>
                      <a:r>
                        <a:rPr sz="1050" b="1" i="0">
                          <a:solidFill>
                            <a:srgbClr val="FFFFFF"/>
                          </a:solidFill>
                          <a:latin typeface="Cabin"/>
                        </a:rPr>
                        <a:t>95% CI</a:t>
                      </a:r>
                    </a:p>
                  </a:txBody>
                  <a:tcPr marT="18288" marB="18288" anchor="ctr">
                    <a:solidFill>
                      <a:srgbClr val="0D3C4C"/>
                    </a:solidFill>
                  </a:tcPr>
                </a:tc>
                <a:tc>
                  <a:txBody>
                    <a:bodyPr/>
                    <a:lstStyle/>
                    <a:p>
                      <a:pPr algn="r"/>
                      <a:r>
                        <a:rPr sz="1050" b="1" i="0">
                          <a:solidFill>
                            <a:srgbClr val="FFFFFF"/>
                          </a:solidFill>
                          <a:latin typeface="Cabin"/>
                        </a:rPr>
                        <a:t>CV AUC</a:t>
                      </a:r>
                    </a:p>
                  </a:txBody>
                  <a:tcPr marT="18288" marB="18288" anchor="ctr">
                    <a:solidFill>
                      <a:srgbClr val="0D3C4C"/>
                    </a:solidFill>
                  </a:tcPr>
                </a:tc>
                <a:tc>
                  <a:txBody>
                    <a:bodyPr/>
                    <a:lstStyle/>
                    <a:p>
                      <a:pPr algn="r"/>
                      <a:r>
                        <a:rPr sz="1050" b="1" i="0">
                          <a:solidFill>
                            <a:srgbClr val="FFFFFF"/>
                          </a:solidFill>
                          <a:latin typeface="Cabin"/>
                        </a:rPr>
                        <a:t>Accuracy</a:t>
                      </a:r>
                    </a:p>
                  </a:txBody>
                  <a:tcPr marT="18288" marB="18288" anchor="ctr">
                    <a:solidFill>
                      <a:srgbClr val="0D3C4C"/>
                    </a:solidFill>
                  </a:tcPr>
                </a:tc>
                <a:tc>
                  <a:txBody>
                    <a:bodyPr/>
                    <a:lstStyle/>
                    <a:p>
                      <a:pPr algn="r"/>
                      <a:r>
                        <a:rPr sz="1050" b="1" i="0">
                          <a:solidFill>
                            <a:srgbClr val="FFFFFF"/>
                          </a:solidFill>
                          <a:latin typeface="Cabin"/>
                        </a:rPr>
                        <a:t>Sensitivity</a:t>
                      </a:r>
                    </a:p>
                  </a:txBody>
                  <a:tcPr marT="18288" marB="18288" anchor="ctr">
                    <a:solidFill>
                      <a:srgbClr val="0D3C4C"/>
                    </a:solidFill>
                  </a:tcPr>
                </a:tc>
                <a:tc>
                  <a:txBody>
                    <a:bodyPr/>
                    <a:lstStyle/>
                    <a:p>
                      <a:pPr algn="r"/>
                      <a:r>
                        <a:rPr sz="1050" b="1" i="0">
                          <a:solidFill>
                            <a:srgbClr val="FFFFFF"/>
                          </a:solidFill>
                          <a:latin typeface="Cabin"/>
                        </a:rPr>
                        <a:t>Specificity</a:t>
                      </a:r>
                    </a:p>
                  </a:txBody>
                  <a:tcPr marT="18288" marB="18288" anchor="ctr">
                    <a:solidFill>
                      <a:srgbClr val="0D3C4C"/>
                    </a:solidFill>
                  </a:tcPr>
                </a:tc>
              </a:tr>
              <a:tr h="310896">
                <a:tc>
                  <a:txBody>
                    <a:bodyPr/>
                    <a:lstStyle/>
                    <a:p>
                      <a:pPr algn="l"/>
                      <a:r>
                        <a:rPr sz="1050" b="0" i="0">
                          <a:solidFill>
                            <a:srgbClr val="0D3C4C"/>
                          </a:solidFill>
                          <a:latin typeface="Nanum Gothic"/>
                        </a:rPr>
                        <a:t>Gradient boosting</a:t>
                      </a:r>
                    </a:p>
                  </a:txBody>
                  <a:tcPr marT="18288" marB="18288" anchor="ctr">
                    <a:solidFill>
                      <a:srgbClr val="EEF6F9"/>
                    </a:solidFill>
                  </a:tcPr>
                </a:tc>
                <a:tc>
                  <a:txBody>
                    <a:bodyPr/>
                    <a:lstStyle/>
                    <a:p>
                      <a:pPr algn="r"/>
                      <a:r>
                        <a:rPr sz="1050" b="0" i="0">
                          <a:solidFill>
                            <a:srgbClr val="0D3C4C"/>
                          </a:solidFill>
                          <a:latin typeface="Nanum Gothic"/>
                        </a:rPr>
                        <a:t>0.804</a:t>
                      </a:r>
                    </a:p>
                  </a:txBody>
                  <a:tcPr marT="18288" marB="18288" anchor="ctr">
                    <a:solidFill>
                      <a:srgbClr val="EEF6F9"/>
                    </a:solidFill>
                  </a:tcPr>
                </a:tc>
                <a:tc>
                  <a:txBody>
                    <a:bodyPr/>
                    <a:lstStyle/>
                    <a:p>
                      <a:pPr algn="r"/>
                      <a:r>
                        <a:rPr sz="1050" b="0" i="0">
                          <a:solidFill>
                            <a:srgbClr val="0D3C4C"/>
                          </a:solidFill>
                          <a:latin typeface="Nanum Gothic"/>
                        </a:rPr>
                        <a:t>0.797-0.811</a:t>
                      </a:r>
                    </a:p>
                  </a:txBody>
                  <a:tcPr marT="18288" marB="18288" anchor="ctr">
                    <a:solidFill>
                      <a:srgbClr val="EEF6F9"/>
                    </a:solidFill>
                  </a:tcPr>
                </a:tc>
                <a:tc>
                  <a:txBody>
                    <a:bodyPr/>
                    <a:lstStyle/>
                    <a:p>
                      <a:pPr algn="r"/>
                      <a:r>
                        <a:rPr sz="1050" b="0" i="0">
                          <a:solidFill>
                            <a:srgbClr val="0D3C4C"/>
                          </a:solidFill>
                          <a:latin typeface="Nanum Gothic"/>
                        </a:rPr>
                        <a:t>0.801</a:t>
                      </a:r>
                    </a:p>
                  </a:txBody>
                  <a:tcPr marT="18288" marB="18288" anchor="ctr">
                    <a:solidFill>
                      <a:srgbClr val="EEF6F9"/>
                    </a:solidFill>
                  </a:tcPr>
                </a:tc>
                <a:tc>
                  <a:txBody>
                    <a:bodyPr/>
                    <a:lstStyle/>
                    <a:p>
                      <a:pPr algn="r"/>
                      <a:r>
                        <a:rPr sz="1050" b="0" i="0">
                          <a:solidFill>
                            <a:srgbClr val="0D3C4C"/>
                          </a:solidFill>
                          <a:latin typeface="Nanum Gothic"/>
                        </a:rPr>
                        <a:t>73.6%</a:t>
                      </a:r>
                    </a:p>
                  </a:txBody>
                  <a:tcPr marT="18288" marB="18288" anchor="ctr">
                    <a:solidFill>
                      <a:srgbClr val="EEF6F9"/>
                    </a:solidFill>
                  </a:tcPr>
                </a:tc>
                <a:tc>
                  <a:txBody>
                    <a:bodyPr/>
                    <a:lstStyle/>
                    <a:p>
                      <a:pPr algn="r"/>
                      <a:r>
                        <a:rPr sz="1050" b="0" i="0">
                          <a:solidFill>
                            <a:srgbClr val="0D3C4C"/>
                          </a:solidFill>
                          <a:latin typeface="Nanum Gothic"/>
                        </a:rPr>
                        <a:t>68.9%</a:t>
                      </a:r>
                    </a:p>
                  </a:txBody>
                  <a:tcPr marT="18288" marB="18288" anchor="ctr">
                    <a:solidFill>
                      <a:srgbClr val="EEF6F9"/>
                    </a:solidFill>
                  </a:tcPr>
                </a:tc>
                <a:tc>
                  <a:txBody>
                    <a:bodyPr/>
                    <a:lstStyle/>
                    <a:p>
                      <a:pPr algn="r"/>
                      <a:r>
                        <a:rPr sz="1050" b="0" i="0">
                          <a:solidFill>
                            <a:srgbClr val="0D3C4C"/>
                          </a:solidFill>
                          <a:latin typeface="Nanum Gothic"/>
                        </a:rPr>
                        <a:t>78.2%</a:t>
                      </a:r>
                    </a:p>
                  </a:txBody>
                  <a:tcPr marT="18288" marB="18288" anchor="ctr">
                    <a:solidFill>
                      <a:srgbClr val="EEF6F9"/>
                    </a:solidFill>
                  </a:tcPr>
                </a:tc>
              </a:tr>
              <a:tr h="310896">
                <a:tc>
                  <a:txBody>
                    <a:bodyPr/>
                    <a:lstStyle/>
                    <a:p>
                      <a:pPr algn="l"/>
                      <a:r>
                        <a:rPr sz="1050" b="0" i="0">
                          <a:solidFill>
                            <a:srgbClr val="0D3C4C"/>
                          </a:solidFill>
                          <a:latin typeface="Nanum Gothic"/>
                        </a:rPr>
                        <a:t>Random forest</a:t>
                      </a:r>
                    </a:p>
                  </a:txBody>
                  <a:tcPr marT="18288" marB="18288" anchor="ctr">
                    <a:solidFill>
                      <a:srgbClr val="FFFFFF"/>
                    </a:solidFill>
                  </a:tcPr>
                </a:tc>
                <a:tc>
                  <a:txBody>
                    <a:bodyPr/>
                    <a:lstStyle/>
                    <a:p>
                      <a:pPr algn="r"/>
                      <a:r>
                        <a:rPr sz="1050" b="0" i="0">
                          <a:solidFill>
                            <a:srgbClr val="0D3C4C"/>
                          </a:solidFill>
                          <a:latin typeface="Nanum Gothic"/>
                        </a:rPr>
                        <a:t>0.803</a:t>
                      </a:r>
                    </a:p>
                  </a:txBody>
                  <a:tcPr marT="18288" marB="18288" anchor="ctr">
                    <a:solidFill>
                      <a:srgbClr val="FFFFFF"/>
                    </a:solidFill>
                  </a:tcPr>
                </a:tc>
                <a:tc>
                  <a:txBody>
                    <a:bodyPr/>
                    <a:lstStyle/>
                    <a:p>
                      <a:pPr algn="r"/>
                      <a:r>
                        <a:rPr sz="1050" b="0" i="0">
                          <a:solidFill>
                            <a:srgbClr val="0D3C4C"/>
                          </a:solidFill>
                          <a:latin typeface="Nanum Gothic"/>
                        </a:rPr>
                        <a:t>0.796-0.810</a:t>
                      </a:r>
                    </a:p>
                  </a:txBody>
                  <a:tcPr marT="18288" marB="18288" anchor="ctr">
                    <a:solidFill>
                      <a:srgbClr val="FFFFFF"/>
                    </a:solidFill>
                  </a:tcPr>
                </a:tc>
                <a:tc>
                  <a:txBody>
                    <a:bodyPr/>
                    <a:lstStyle/>
                    <a:p>
                      <a:pPr algn="r"/>
                      <a:r>
                        <a:rPr sz="1050" b="0" i="0">
                          <a:solidFill>
                            <a:srgbClr val="0D3C4C"/>
                          </a:solidFill>
                          <a:latin typeface="Nanum Gothic"/>
                        </a:rPr>
                        <a:t>0.799</a:t>
                      </a:r>
                    </a:p>
                  </a:txBody>
                  <a:tcPr marT="18288" marB="18288" anchor="ctr">
                    <a:solidFill>
                      <a:srgbClr val="FFFFFF"/>
                    </a:solidFill>
                  </a:tcPr>
                </a:tc>
                <a:tc>
                  <a:txBody>
                    <a:bodyPr/>
                    <a:lstStyle/>
                    <a:p>
                      <a:pPr algn="r"/>
                      <a:r>
                        <a:rPr sz="1050" b="0" i="0">
                          <a:solidFill>
                            <a:srgbClr val="0D3C4C"/>
                          </a:solidFill>
                          <a:latin typeface="Nanum Gothic"/>
                        </a:rPr>
                        <a:t>73.4%</a:t>
                      </a:r>
                    </a:p>
                  </a:txBody>
                  <a:tcPr marT="18288" marB="18288" anchor="ctr">
                    <a:solidFill>
                      <a:srgbClr val="FFFFFF"/>
                    </a:solidFill>
                  </a:tcPr>
                </a:tc>
                <a:tc>
                  <a:txBody>
                    <a:bodyPr/>
                    <a:lstStyle/>
                    <a:p>
                      <a:pPr algn="r"/>
                      <a:r>
                        <a:rPr sz="1050" b="0" i="0">
                          <a:solidFill>
                            <a:srgbClr val="0D3C4C"/>
                          </a:solidFill>
                          <a:latin typeface="Nanum Gothic"/>
                        </a:rPr>
                        <a:t>68.5%</a:t>
                      </a:r>
                    </a:p>
                  </a:txBody>
                  <a:tcPr marT="18288" marB="18288" anchor="ctr">
                    <a:solidFill>
                      <a:srgbClr val="FFFFFF"/>
                    </a:solidFill>
                  </a:tcPr>
                </a:tc>
                <a:tc>
                  <a:txBody>
                    <a:bodyPr/>
                    <a:lstStyle/>
                    <a:p>
                      <a:pPr algn="r"/>
                      <a:r>
                        <a:rPr sz="1050" b="0" i="0">
                          <a:solidFill>
                            <a:srgbClr val="0D3C4C"/>
                          </a:solidFill>
                          <a:latin typeface="Nanum Gothic"/>
                        </a:rPr>
                        <a:t>78.1%</a:t>
                      </a:r>
                    </a:p>
                  </a:txBody>
                  <a:tcPr marT="18288" marB="18288" anchor="ctr">
                    <a:solidFill>
                      <a:srgbClr val="FFFFFF"/>
                    </a:solidFill>
                  </a:tcPr>
                </a:tc>
              </a:tr>
              <a:tr h="310896">
                <a:tc>
                  <a:txBody>
                    <a:bodyPr/>
                    <a:lstStyle/>
                    <a:p>
                      <a:pPr algn="l"/>
                      <a:r>
                        <a:rPr sz="1050" b="0" i="0">
                          <a:solidFill>
                            <a:srgbClr val="0D3C4C"/>
                          </a:solidFill>
                          <a:latin typeface="Nanum Gothic"/>
                        </a:rPr>
                        <a:t>Neural network (MLP)</a:t>
                      </a:r>
                    </a:p>
                  </a:txBody>
                  <a:tcPr marT="18288" marB="18288" anchor="ctr">
                    <a:solidFill>
                      <a:srgbClr val="EEF6F9"/>
                    </a:solidFill>
                  </a:tcPr>
                </a:tc>
                <a:tc>
                  <a:txBody>
                    <a:bodyPr/>
                    <a:lstStyle/>
                    <a:p>
                      <a:pPr algn="r"/>
                      <a:r>
                        <a:rPr sz="1050" b="0" i="0">
                          <a:solidFill>
                            <a:srgbClr val="0D3C4C"/>
                          </a:solidFill>
                          <a:latin typeface="Nanum Gothic"/>
                        </a:rPr>
                        <a:t>0.800</a:t>
                      </a:r>
                    </a:p>
                  </a:txBody>
                  <a:tcPr marT="18288" marB="18288" anchor="ctr">
                    <a:solidFill>
                      <a:srgbClr val="EEF6F9"/>
                    </a:solidFill>
                  </a:tcPr>
                </a:tc>
                <a:tc>
                  <a:txBody>
                    <a:bodyPr/>
                    <a:lstStyle/>
                    <a:p>
                      <a:pPr algn="r"/>
                      <a:r>
                        <a:rPr sz="1050" b="0" i="0">
                          <a:solidFill>
                            <a:srgbClr val="0D3C4C"/>
                          </a:solidFill>
                          <a:latin typeface="Nanum Gothic"/>
                        </a:rPr>
                        <a:t>0.793-0.808</a:t>
                      </a:r>
                    </a:p>
                  </a:txBody>
                  <a:tcPr marT="18288" marB="18288" anchor="ctr">
                    <a:solidFill>
                      <a:srgbClr val="EEF6F9"/>
                    </a:solidFill>
                  </a:tcPr>
                </a:tc>
                <a:tc>
                  <a:txBody>
                    <a:bodyPr/>
                    <a:lstStyle/>
                    <a:p>
                      <a:pPr algn="r"/>
                      <a:r>
                        <a:rPr sz="1050" b="0" i="0">
                          <a:solidFill>
                            <a:srgbClr val="0D3C4C"/>
                          </a:solidFill>
                          <a:latin typeface="Nanum Gothic"/>
                        </a:rPr>
                        <a:t>0.800</a:t>
                      </a:r>
                    </a:p>
                  </a:txBody>
                  <a:tcPr marT="18288" marB="18288" anchor="ctr">
                    <a:solidFill>
                      <a:srgbClr val="EEF6F9"/>
                    </a:solidFill>
                  </a:tcPr>
                </a:tc>
                <a:tc>
                  <a:txBody>
                    <a:bodyPr/>
                    <a:lstStyle/>
                    <a:p>
                      <a:pPr algn="r"/>
                      <a:r>
                        <a:rPr sz="1050" b="0" i="0">
                          <a:solidFill>
                            <a:srgbClr val="0D3C4C"/>
                          </a:solidFill>
                          <a:latin typeface="Nanum Gothic"/>
                        </a:rPr>
                        <a:t>73.1%</a:t>
                      </a:r>
                    </a:p>
                  </a:txBody>
                  <a:tcPr marT="18288" marB="18288" anchor="ctr">
                    <a:solidFill>
                      <a:srgbClr val="EEF6F9"/>
                    </a:solidFill>
                  </a:tcPr>
                </a:tc>
                <a:tc>
                  <a:txBody>
                    <a:bodyPr/>
                    <a:lstStyle/>
                    <a:p>
                      <a:pPr algn="r"/>
                      <a:r>
                        <a:rPr sz="1050" b="0" i="0">
                          <a:solidFill>
                            <a:srgbClr val="0D3C4C"/>
                          </a:solidFill>
                          <a:latin typeface="Nanum Gothic"/>
                        </a:rPr>
                        <a:t>70.6%</a:t>
                      </a:r>
                    </a:p>
                  </a:txBody>
                  <a:tcPr marT="18288" marB="18288" anchor="ctr">
                    <a:solidFill>
                      <a:srgbClr val="EEF6F9"/>
                    </a:solidFill>
                  </a:tcPr>
                </a:tc>
                <a:tc>
                  <a:txBody>
                    <a:bodyPr/>
                    <a:lstStyle/>
                    <a:p>
                      <a:pPr algn="r"/>
                      <a:r>
                        <a:rPr sz="1050" b="0" i="0">
                          <a:solidFill>
                            <a:srgbClr val="0D3C4C"/>
                          </a:solidFill>
                          <a:latin typeface="Nanum Gothic"/>
                        </a:rPr>
                        <a:t>75.6%</a:t>
                      </a:r>
                    </a:p>
                  </a:txBody>
                  <a:tcPr marT="18288" marB="18288" anchor="ctr">
                    <a:solidFill>
                      <a:srgbClr val="EEF6F9"/>
                    </a:solidFill>
                  </a:tcPr>
                </a:tc>
              </a:tr>
              <a:tr h="310896">
                <a:tc>
                  <a:txBody>
                    <a:bodyPr/>
                    <a:lstStyle/>
                    <a:p>
                      <a:pPr algn="l"/>
                      <a:r>
                        <a:rPr sz="1050" b="0" i="0">
                          <a:solidFill>
                            <a:srgbClr val="0D3C4C"/>
                          </a:solidFill>
                          <a:latin typeface="Nanum Gothic"/>
                        </a:rPr>
                        <a:t>Logistic regression</a:t>
                      </a:r>
                    </a:p>
                  </a:txBody>
                  <a:tcPr marT="18288" marB="18288" anchor="ctr">
                    <a:solidFill>
                      <a:srgbClr val="FFFFFF"/>
                    </a:solidFill>
                  </a:tcPr>
                </a:tc>
                <a:tc>
                  <a:txBody>
                    <a:bodyPr/>
                    <a:lstStyle/>
                    <a:p>
                      <a:pPr algn="r"/>
                      <a:r>
                        <a:rPr sz="1050" b="0" i="0">
                          <a:solidFill>
                            <a:srgbClr val="0D3C4C"/>
                          </a:solidFill>
                          <a:latin typeface="Nanum Gothic"/>
                        </a:rPr>
                        <a:t>0.793</a:t>
                      </a:r>
                    </a:p>
                  </a:txBody>
                  <a:tcPr marT="18288" marB="18288" anchor="ctr">
                    <a:solidFill>
                      <a:srgbClr val="FFFFFF"/>
                    </a:solidFill>
                  </a:tcPr>
                </a:tc>
                <a:tc>
                  <a:txBody>
                    <a:bodyPr/>
                    <a:lstStyle/>
                    <a:p>
                      <a:pPr algn="r"/>
                      <a:r>
                        <a:rPr sz="1050" b="0" i="0">
                          <a:solidFill>
                            <a:srgbClr val="0D3C4C"/>
                          </a:solidFill>
                          <a:latin typeface="Nanum Gothic"/>
                        </a:rPr>
                        <a:t>0.785-0.800</a:t>
                      </a:r>
                    </a:p>
                  </a:txBody>
                  <a:tcPr marT="18288" marB="18288" anchor="ctr">
                    <a:solidFill>
                      <a:srgbClr val="FFFFFF"/>
                    </a:solidFill>
                  </a:tcPr>
                </a:tc>
                <a:tc>
                  <a:txBody>
                    <a:bodyPr/>
                    <a:lstStyle/>
                    <a:p>
                      <a:pPr algn="r"/>
                      <a:r>
                        <a:rPr sz="1050" b="0" i="0">
                          <a:solidFill>
                            <a:srgbClr val="0D3C4C"/>
                          </a:solidFill>
                          <a:latin typeface="Nanum Gothic"/>
                        </a:rPr>
                        <a:t>0.790</a:t>
                      </a:r>
                    </a:p>
                  </a:txBody>
                  <a:tcPr marT="18288" marB="18288" anchor="ctr">
                    <a:solidFill>
                      <a:srgbClr val="FFFFFF"/>
                    </a:solidFill>
                  </a:tcPr>
                </a:tc>
                <a:tc>
                  <a:txBody>
                    <a:bodyPr/>
                    <a:lstStyle/>
                    <a:p>
                      <a:pPr algn="r"/>
                      <a:r>
                        <a:rPr sz="1050" b="0" i="0">
                          <a:solidFill>
                            <a:srgbClr val="0D3C4C"/>
                          </a:solidFill>
                          <a:latin typeface="Nanum Gothic"/>
                        </a:rPr>
                        <a:t>72.6%</a:t>
                      </a:r>
                    </a:p>
                  </a:txBody>
                  <a:tcPr marT="18288" marB="18288" anchor="ctr">
                    <a:solidFill>
                      <a:srgbClr val="FFFFFF"/>
                    </a:solidFill>
                  </a:tcPr>
                </a:tc>
                <a:tc>
                  <a:txBody>
                    <a:bodyPr/>
                    <a:lstStyle/>
                    <a:p>
                      <a:pPr algn="r"/>
                      <a:r>
                        <a:rPr sz="1050" b="0" i="0">
                          <a:solidFill>
                            <a:srgbClr val="0D3C4C"/>
                          </a:solidFill>
                          <a:latin typeface="Nanum Gothic"/>
                        </a:rPr>
                        <a:t>66.8%</a:t>
                      </a:r>
                    </a:p>
                  </a:txBody>
                  <a:tcPr marT="18288" marB="18288" anchor="ctr">
                    <a:solidFill>
                      <a:srgbClr val="FFFFFF"/>
                    </a:solidFill>
                  </a:tcPr>
                </a:tc>
                <a:tc>
                  <a:txBody>
                    <a:bodyPr/>
                    <a:lstStyle/>
                    <a:p>
                      <a:pPr algn="r"/>
                      <a:r>
                        <a:rPr sz="1050" b="0" i="0">
                          <a:solidFill>
                            <a:srgbClr val="0D3C4C"/>
                          </a:solidFill>
                          <a:latin typeface="Nanum Gothic"/>
                        </a:rPr>
                        <a:t>78.2%</a:t>
                      </a:r>
                    </a:p>
                  </a:txBody>
                  <a:tcPr marT="18288" marB="18288" anchor="ctr">
                    <a:solidFill>
                      <a:srgbClr val="FFFFFF"/>
                    </a:solidFill>
                  </a:tcPr>
                </a:tc>
              </a:tr>
              <a:tr h="310896">
                <a:tc>
                  <a:txBody>
                    <a:bodyPr/>
                    <a:lstStyle/>
                    <a:p>
                      <a:pPr algn="l"/>
                      <a:r>
                        <a:rPr sz="1050" b="0" i="0">
                          <a:solidFill>
                            <a:srgbClr val="0D3C4C"/>
                          </a:solidFill>
                          <a:latin typeface="Nanum Gothic"/>
                        </a:rPr>
                        <a:t>Framingham form, refitted</a:t>
                      </a:r>
                    </a:p>
                  </a:txBody>
                  <a:tcPr marT="18288" marB="18288" anchor="ctr">
                    <a:solidFill>
                      <a:srgbClr val="EEF6F9"/>
                    </a:solidFill>
                  </a:tcPr>
                </a:tc>
                <a:tc>
                  <a:txBody>
                    <a:bodyPr/>
                    <a:lstStyle/>
                    <a:p>
                      <a:pPr algn="r"/>
                      <a:r>
                        <a:rPr sz="1050" b="0" i="0">
                          <a:solidFill>
                            <a:srgbClr val="0D3C4C"/>
                          </a:solidFill>
                          <a:latin typeface="Nanum Gothic"/>
                        </a:rPr>
                        <a:t>0.780</a:t>
                      </a:r>
                    </a:p>
                  </a:txBody>
                  <a:tcPr marT="18288" marB="18288" anchor="ctr">
                    <a:solidFill>
                      <a:srgbClr val="EEF6F9"/>
                    </a:solidFill>
                  </a:tcPr>
                </a:tc>
                <a:tc>
                  <a:txBody>
                    <a:bodyPr/>
                    <a:lstStyle/>
                    <a:p>
                      <a:pPr algn="r"/>
                      <a:r>
                        <a:rPr sz="1050" b="0" i="0">
                          <a:solidFill>
                            <a:srgbClr val="0D3C4C"/>
                          </a:solidFill>
                          <a:latin typeface="Nanum Gothic"/>
                        </a:rPr>
                        <a:t>0.773-0.788</a:t>
                      </a:r>
                    </a:p>
                  </a:txBody>
                  <a:tcPr marT="18288" marB="18288" anchor="ctr">
                    <a:solidFill>
                      <a:srgbClr val="EEF6F9"/>
                    </a:solidFill>
                  </a:tcPr>
                </a:tc>
                <a:tc>
                  <a:txBody>
                    <a:bodyPr/>
                    <a:lstStyle/>
                    <a:p>
                      <a:pPr algn="r"/>
                      <a:r>
                        <a:rPr sz="1050" b="0" i="0">
                          <a:solidFill>
                            <a:srgbClr val="0D3C4C"/>
                          </a:solidFill>
                          <a:latin typeface="Nanum Gothic"/>
                        </a:rPr>
                        <a:t>0.780</a:t>
                      </a:r>
                    </a:p>
                  </a:txBody>
                  <a:tcPr marT="18288" marB="18288" anchor="ctr">
                    <a:solidFill>
                      <a:srgbClr val="EEF6F9"/>
                    </a:solidFill>
                  </a:tcPr>
                </a:tc>
                <a:tc>
                  <a:txBody>
                    <a:bodyPr/>
                    <a:lstStyle/>
                    <a:p>
                      <a:pPr algn="r"/>
                      <a:r>
                        <a:rPr sz="1050" b="0" i="0">
                          <a:solidFill>
                            <a:srgbClr val="0D3C4C"/>
                          </a:solidFill>
                          <a:latin typeface="Nanum Gothic"/>
                        </a:rPr>
                        <a:t>71.4%</a:t>
                      </a:r>
                    </a:p>
                  </a:txBody>
                  <a:tcPr marT="18288" marB="18288" anchor="ctr">
                    <a:solidFill>
                      <a:srgbClr val="EEF6F9"/>
                    </a:solidFill>
                  </a:tcPr>
                </a:tc>
                <a:tc>
                  <a:txBody>
                    <a:bodyPr/>
                    <a:lstStyle/>
                    <a:p>
                      <a:pPr algn="r"/>
                      <a:r>
                        <a:rPr sz="1050" b="0" i="0">
                          <a:solidFill>
                            <a:srgbClr val="0D3C4C"/>
                          </a:solidFill>
                          <a:latin typeface="Nanum Gothic"/>
                        </a:rPr>
                        <a:t>66.3%</a:t>
                      </a:r>
                    </a:p>
                  </a:txBody>
                  <a:tcPr marT="18288" marB="18288" anchor="ctr">
                    <a:solidFill>
                      <a:srgbClr val="EEF6F9"/>
                    </a:solidFill>
                  </a:tcPr>
                </a:tc>
                <a:tc>
                  <a:txBody>
                    <a:bodyPr/>
                    <a:lstStyle/>
                    <a:p>
                      <a:pPr algn="r"/>
                      <a:r>
                        <a:rPr sz="1050" b="0" i="0">
                          <a:solidFill>
                            <a:srgbClr val="0D3C4C"/>
                          </a:solidFill>
                          <a:latin typeface="Nanum Gothic"/>
                        </a:rPr>
                        <a:t>76.3%</a:t>
                      </a:r>
                    </a:p>
                  </a:txBody>
                  <a:tcPr marT="18288" marB="18288" anchor="ctr">
                    <a:solidFill>
                      <a:srgbClr val="EEF6F9"/>
                    </a:solidFill>
                  </a:tcPr>
                </a:tc>
              </a:tr>
              <a:tr h="310896">
                <a:tc>
                  <a:txBody>
                    <a:bodyPr/>
                    <a:lstStyle/>
                    <a:p>
                      <a:pPr algn="l"/>
                      <a:r>
                        <a:rPr sz="1050" b="0" i="0">
                          <a:solidFill>
                            <a:srgbClr val="0D3C4C"/>
                          </a:solidFill>
                          <a:latin typeface="Nanum Gothic"/>
                        </a:rPr>
                        <a:t>Systolic pressure alone</a:t>
                      </a:r>
                    </a:p>
                  </a:txBody>
                  <a:tcPr marT="18288" marB="18288" anchor="ctr">
                    <a:solidFill>
                      <a:srgbClr val="FFFFFF"/>
                    </a:solidFill>
                  </a:tcPr>
                </a:tc>
                <a:tc>
                  <a:txBody>
                    <a:bodyPr/>
                    <a:lstStyle/>
                    <a:p>
                      <a:pPr algn="r"/>
                      <a:r>
                        <a:rPr sz="1050" b="0" i="0">
                          <a:solidFill>
                            <a:srgbClr val="0D3C4C"/>
                          </a:solidFill>
                          <a:latin typeface="Nanum Gothic"/>
                        </a:rPr>
                        <a:t>0.754</a:t>
                      </a:r>
                    </a:p>
                  </a:txBody>
                  <a:tcPr marT="18288" marB="18288" anchor="ctr">
                    <a:solidFill>
                      <a:srgbClr val="FFFFFF"/>
                    </a:solidFill>
                  </a:tcPr>
                </a:tc>
                <a:tc>
                  <a:txBody>
                    <a:bodyPr/>
                    <a:lstStyle/>
                    <a:p>
                      <a:pPr algn="r"/>
                      <a:r>
                        <a:rPr sz="1050" b="0" i="0">
                          <a:solidFill>
                            <a:srgbClr val="0D3C4C"/>
                          </a:solidFill>
                          <a:latin typeface="Nanum Gothic"/>
                        </a:rPr>
                        <a:t>0.746-0.761</a:t>
                      </a:r>
                    </a:p>
                  </a:txBody>
                  <a:tcPr marT="18288" marB="18288" anchor="ctr">
                    <a:solidFill>
                      <a:srgbClr val="FFFFFF"/>
                    </a:solidFill>
                  </a:tcPr>
                </a:tc>
                <a:tc>
                  <a:txBody>
                    <a:bodyPr/>
                    <a:lstStyle/>
                    <a:p>
                      <a:pPr algn="r"/>
                      <a:r>
                        <a:rPr sz="1050" b="0" i="0">
                          <a:solidFill>
                            <a:srgbClr val="0D3C4C"/>
                          </a:solidFill>
                          <a:latin typeface="Nanum Gothic"/>
                        </a:rPr>
                        <a:t>0.751</a:t>
                      </a:r>
                    </a:p>
                  </a:txBody>
                  <a:tcPr marT="18288" marB="18288" anchor="ctr">
                    <a:solidFill>
                      <a:srgbClr val="FFFFFF"/>
                    </a:solidFill>
                  </a:tcPr>
                </a:tc>
                <a:tc>
                  <a:txBody>
                    <a:bodyPr/>
                    <a:lstStyle/>
                    <a:p>
                      <a:pPr algn="r"/>
                      <a:r>
                        <a:rPr sz="1050" b="0" i="0">
                          <a:solidFill>
                            <a:srgbClr val="0D3C4C"/>
                          </a:solidFill>
                          <a:latin typeface="Nanum Gothic"/>
                        </a:rPr>
                        <a:t>71.3%</a:t>
                      </a:r>
                    </a:p>
                  </a:txBody>
                  <a:tcPr marT="18288" marB="18288" anchor="ctr">
                    <a:solidFill>
                      <a:srgbClr val="FFFFFF"/>
                    </a:solidFill>
                  </a:tcPr>
                </a:tc>
                <a:tc>
                  <a:txBody>
                    <a:bodyPr/>
                    <a:lstStyle/>
                    <a:p>
                      <a:pPr algn="r"/>
                      <a:r>
                        <a:rPr sz="1050" b="0" i="0">
                          <a:solidFill>
                            <a:srgbClr val="0D3C4C"/>
                          </a:solidFill>
                          <a:latin typeface="Nanum Gothic"/>
                        </a:rPr>
                        <a:t>61.8%</a:t>
                      </a:r>
                    </a:p>
                  </a:txBody>
                  <a:tcPr marT="18288" marB="18288" anchor="ctr">
                    <a:solidFill>
                      <a:srgbClr val="FFFFFF"/>
                    </a:solidFill>
                  </a:tcPr>
                </a:tc>
                <a:tc>
                  <a:txBody>
                    <a:bodyPr/>
                    <a:lstStyle/>
                    <a:p>
                      <a:pPr algn="r"/>
                      <a:r>
                        <a:rPr sz="1050" b="0" i="0">
                          <a:solidFill>
                            <a:srgbClr val="0D3C4C"/>
                          </a:solidFill>
                          <a:latin typeface="Nanum Gothic"/>
                        </a:rPr>
                        <a:t>80.6%</a:t>
                      </a:r>
                    </a:p>
                  </a:txBody>
                  <a:tcPr marT="18288" marB="18288" anchor="ctr">
                    <a:solidFill>
                      <a:srgbClr val="FFFFFF"/>
                    </a:solidFill>
                  </a:tcPr>
                </a:tc>
              </a:tr>
              <a:tr h="310896">
                <a:tc>
                  <a:txBody>
                    <a:bodyPr/>
                    <a:lstStyle/>
                    <a:p>
                      <a:pPr algn="l"/>
                      <a:r>
                        <a:rPr sz="1050" b="0" i="0">
                          <a:solidFill>
                            <a:srgbClr val="0D3C4C"/>
                          </a:solidFill>
                          <a:latin typeface="Nanum Gothic"/>
                        </a:rPr>
                        <a:t>Rule: systolic ≥ 130 mmHg</a:t>
                      </a:r>
                    </a:p>
                  </a:txBody>
                  <a:tcPr marT="18288" marB="18288" anchor="ctr">
                    <a:solidFill>
                      <a:srgbClr val="EEF6F9"/>
                    </a:solidFill>
                  </a:tcPr>
                </a:tc>
                <a:tc>
                  <a:txBody>
                    <a:bodyPr/>
                    <a:lstStyle/>
                    <a:p>
                      <a:pPr algn="r"/>
                      <a:r>
                        <a:rPr sz="1050" b="0" i="0">
                          <a:solidFill>
                            <a:srgbClr val="0D3C4C"/>
                          </a:solidFill>
                          <a:latin typeface="Nanum Gothic"/>
                        </a:rPr>
                        <a:t>0.712</a:t>
                      </a:r>
                    </a:p>
                  </a:txBody>
                  <a:tcPr marT="18288" marB="18288" anchor="ctr">
                    <a:solidFill>
                      <a:srgbClr val="EEF6F9"/>
                    </a:solidFill>
                  </a:tcPr>
                </a:tc>
                <a:tc>
                  <a:txBody>
                    <a:bodyPr/>
                    <a:lstStyle/>
                    <a:p>
                      <a:pPr algn="r"/>
                      <a:r>
                        <a:rPr sz="1050" b="0" i="0">
                          <a:solidFill>
                            <a:srgbClr val="0D3C4C"/>
                          </a:solidFill>
                          <a:latin typeface="Nanum Gothic"/>
                        </a:rPr>
                        <a:t>0.704-0.719</a:t>
                      </a:r>
                    </a:p>
                  </a:txBody>
                  <a:tcPr marT="18288" marB="18288" anchor="ctr">
                    <a:solidFill>
                      <a:srgbClr val="EEF6F9"/>
                    </a:solidFill>
                  </a:tcPr>
                </a:tc>
                <a:tc>
                  <a:txBody>
                    <a:bodyPr/>
                    <a:lstStyle/>
                    <a:p>
                      <a:pPr algn="r"/>
                      <a:r>
                        <a:rPr sz="1050" b="0" i="0">
                          <a:solidFill>
                            <a:srgbClr val="0D3C4C"/>
                          </a:solidFill>
                          <a:latin typeface="Nanum Gothic"/>
                        </a:rPr>
                        <a:t>0.712</a:t>
                      </a:r>
                    </a:p>
                  </a:txBody>
                  <a:tcPr marT="18288" marB="18288" anchor="ctr">
                    <a:solidFill>
                      <a:srgbClr val="EEF6F9"/>
                    </a:solidFill>
                  </a:tcPr>
                </a:tc>
                <a:tc>
                  <a:txBody>
                    <a:bodyPr/>
                    <a:lstStyle/>
                    <a:p>
                      <a:pPr algn="r"/>
                      <a:r>
                        <a:rPr sz="1050" b="0" i="0">
                          <a:solidFill>
                            <a:srgbClr val="0D3C4C"/>
                          </a:solidFill>
                          <a:latin typeface="Nanum Gothic"/>
                        </a:rPr>
                        <a:t>71.3%</a:t>
                      </a:r>
                    </a:p>
                  </a:txBody>
                  <a:tcPr marT="18288" marB="18288" anchor="ctr">
                    <a:solidFill>
                      <a:srgbClr val="EEF6F9"/>
                    </a:solidFill>
                  </a:tcPr>
                </a:tc>
                <a:tc>
                  <a:txBody>
                    <a:bodyPr/>
                    <a:lstStyle/>
                    <a:p>
                      <a:pPr algn="r"/>
                      <a:r>
                        <a:rPr sz="1050" b="0" i="0">
                          <a:solidFill>
                            <a:srgbClr val="0D3C4C"/>
                          </a:solidFill>
                          <a:latin typeface="Nanum Gothic"/>
                        </a:rPr>
                        <a:t>61.8%</a:t>
                      </a:r>
                    </a:p>
                  </a:txBody>
                  <a:tcPr marT="18288" marB="18288" anchor="ctr">
                    <a:solidFill>
                      <a:srgbClr val="EEF6F9"/>
                    </a:solidFill>
                  </a:tcPr>
                </a:tc>
                <a:tc>
                  <a:txBody>
                    <a:bodyPr/>
                    <a:lstStyle/>
                    <a:p>
                      <a:pPr algn="r"/>
                      <a:r>
                        <a:rPr sz="1050" b="0" i="0">
                          <a:solidFill>
                            <a:srgbClr val="0D3C4C"/>
                          </a:solidFill>
                          <a:latin typeface="Nanum Gothic"/>
                        </a:rPr>
                        <a:t>80.6%</a:t>
                      </a:r>
                    </a:p>
                  </a:txBody>
                  <a:tcPr marT="18288" marB="18288" anchor="ctr">
                    <a:solidFill>
                      <a:srgbClr val="EEF6F9"/>
                    </a:solidFill>
                  </a:tcPr>
                </a:tc>
              </a:tr>
              <a:tr h="310896">
                <a:tc>
                  <a:txBody>
                    <a:bodyPr/>
                    <a:lstStyle/>
                    <a:p>
                      <a:pPr algn="l"/>
                      <a:r>
                        <a:rPr sz="1050" b="0" i="0">
                          <a:solidFill>
                            <a:srgbClr val="0D3C4C"/>
                          </a:solidFill>
                          <a:latin typeface="Nanum Gothic"/>
                        </a:rPr>
                        <a:t>Framingham, as published</a:t>
                      </a:r>
                    </a:p>
                  </a:txBody>
                  <a:tcPr marT="18288" marB="18288" anchor="ctr">
                    <a:solidFill>
                      <a:srgbClr val="FFFFFF"/>
                    </a:solidFill>
                  </a:tcPr>
                </a:tc>
                <a:tc>
                  <a:txBody>
                    <a:bodyPr/>
                    <a:lstStyle/>
                    <a:p>
                      <a:pPr algn="r"/>
                      <a:r>
                        <a:rPr sz="1050" b="0" i="0">
                          <a:solidFill>
                            <a:srgbClr val="0D3C4C"/>
                          </a:solidFill>
                          <a:latin typeface="Nanum Gothic"/>
                        </a:rPr>
                        <a:t>0.693</a:t>
                      </a:r>
                    </a:p>
                  </a:txBody>
                  <a:tcPr marT="18288" marB="18288" anchor="ctr">
                    <a:solidFill>
                      <a:srgbClr val="FFFFFF"/>
                    </a:solidFill>
                  </a:tcPr>
                </a:tc>
                <a:tc>
                  <a:txBody>
                    <a:bodyPr/>
                    <a:lstStyle/>
                    <a:p>
                      <a:pPr algn="r"/>
                      <a:r>
                        <a:rPr sz="1050" b="0" i="0">
                          <a:solidFill>
                            <a:srgbClr val="0D3C4C"/>
                          </a:solidFill>
                          <a:latin typeface="Nanum Gothic"/>
                        </a:rPr>
                        <a:t>0.684-0.701</a:t>
                      </a:r>
                    </a:p>
                  </a:txBody>
                  <a:tcPr marT="18288" marB="18288" anchor="ctr">
                    <a:solidFill>
                      <a:srgbClr val="FFFFFF"/>
                    </a:solidFill>
                  </a:tcPr>
                </a:tc>
                <a:tc>
                  <a:txBody>
                    <a:bodyPr/>
                    <a:lstStyle/>
                    <a:p>
                      <a:pPr algn="r"/>
                      <a:r>
                        <a:rPr sz="1050" b="0" i="0">
                          <a:solidFill>
                            <a:srgbClr val="0D3C4C"/>
                          </a:solidFill>
                          <a:latin typeface="Nanum Gothic"/>
                        </a:rPr>
                        <a:t>0.696</a:t>
                      </a:r>
                    </a:p>
                  </a:txBody>
                  <a:tcPr marT="18288" marB="18288" anchor="ctr">
                    <a:solidFill>
                      <a:srgbClr val="FFFFFF"/>
                    </a:solidFill>
                  </a:tcPr>
                </a:tc>
                <a:tc>
                  <a:txBody>
                    <a:bodyPr/>
                    <a:lstStyle/>
                    <a:p>
                      <a:pPr algn="r"/>
                      <a:r>
                        <a:rPr sz="1050" b="0" i="0">
                          <a:solidFill>
                            <a:srgbClr val="0D3C4C"/>
                          </a:solidFill>
                          <a:latin typeface="Nanum Gothic"/>
                        </a:rPr>
                        <a:t>64.6%</a:t>
                      </a:r>
                    </a:p>
                  </a:txBody>
                  <a:tcPr marT="18288" marB="18288" anchor="ctr">
                    <a:solidFill>
                      <a:srgbClr val="FFFFFF"/>
                    </a:solidFill>
                  </a:tcPr>
                </a:tc>
                <a:tc>
                  <a:txBody>
                    <a:bodyPr/>
                    <a:lstStyle/>
                    <a:p>
                      <a:pPr algn="r"/>
                      <a:r>
                        <a:rPr sz="1050" b="0" i="0">
                          <a:solidFill>
                            <a:srgbClr val="0D3C4C"/>
                          </a:solidFill>
                          <a:latin typeface="Nanum Gothic"/>
                        </a:rPr>
                        <a:t>74.0%</a:t>
                      </a:r>
                    </a:p>
                  </a:txBody>
                  <a:tcPr marT="18288" marB="18288" anchor="ctr">
                    <a:solidFill>
                      <a:srgbClr val="FFFFFF"/>
                    </a:solidFill>
                  </a:tcPr>
                </a:tc>
                <a:tc>
                  <a:txBody>
                    <a:bodyPr/>
                    <a:lstStyle/>
                    <a:p>
                      <a:pPr algn="r"/>
                      <a:r>
                        <a:rPr sz="1050" b="0" i="0">
                          <a:solidFill>
                            <a:srgbClr val="0D3C4C"/>
                          </a:solidFill>
                          <a:latin typeface="Nanum Gothic"/>
                        </a:rPr>
                        <a:t>55.5%</a:t>
                      </a:r>
                    </a:p>
                  </a:txBody>
                  <a:tcPr marT="18288" marB="18288" anchor="ctr">
                    <a:solidFill>
                      <a:srgbClr val="FFFFFF"/>
                    </a:solidFill>
                  </a:tcPr>
                </a:tc>
              </a:tr>
            </a:tbl>
          </a:graphicData>
        </a:graphic>
      </p:graphicFrame>
      <p:sp>
        <p:nvSpPr>
          <p:cNvPr id="4" name="TextBox 3"/>
          <p:cNvSpPr txBox="1"/>
          <p:nvPr/>
        </p:nvSpPr>
        <p:spPr>
          <a:xfrm>
            <a:off x="722376" y="4343400"/>
            <a:ext cx="7708392" cy="365760"/>
          </a:xfrm>
          <a:prstGeom prst="rect">
            <a:avLst/>
          </a:prstGeom>
          <a:noFill/>
        </p:spPr>
        <p:txBody>
          <a:bodyPr wrap="square" anchor="t" lIns="0" rIns="0" tIns="0" bIns="0">
            <a:spAutoFit/>
          </a:bodyPr>
          <a:lstStyle/>
          <a:p>
            <a:pPr algn="l"/>
            <a:r>
              <a:rPr sz="1050" b="0" i="0">
                <a:solidFill>
                  <a:srgbClr val="4F6A73"/>
                </a:solidFill>
                <a:latin typeface="Nanum Gothic"/>
              </a:rPr>
              <a:t>Clinical points card (4 factors): AUC 0.793 (0.785-0.800), accuracy 72.4%. Accuracy of gradient boosting: 95% CI 72.9-74.4%.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Backup: cleaning strategies</a:t>
            </a:r>
          </a:p>
        </p:txBody>
      </p:sp>
      <p:graphicFrame>
        <p:nvGraphicFramePr>
          <p:cNvPr id="3" name="Table 2"/>
          <p:cNvGraphicFramePr>
            <a:graphicFrameLocks noGrp="1"/>
          </p:cNvGraphicFramePr>
          <p:nvPr/>
        </p:nvGraphicFramePr>
        <p:xfrm>
          <a:off x="722376" y="1188720"/>
          <a:ext cx="7708392" cy="1536192"/>
        </p:xfrm>
        <a:graphic>
          <a:graphicData uri="http://schemas.openxmlformats.org/drawingml/2006/table">
            <a:tbl>
              <a:tblPr firstRow="1" bandRow="1">
                <a:tableStyleId>{5C22544A-7EE6-4342-B048-85BDC9FD1C3A}</a:tableStyleId>
              </a:tblPr>
              <a:tblGrid>
                <a:gridCol w="3063240"/>
                <a:gridCol w="1417320"/>
                <a:gridCol w="868680"/>
                <a:gridCol w="1508760"/>
                <a:gridCol w="850392"/>
              </a:tblGrid>
              <a:tr h="384048">
                <a:tc>
                  <a:txBody>
                    <a:bodyPr/>
                    <a:lstStyle/>
                    <a:p>
                      <a:pPr algn="l"/>
                      <a:r>
                        <a:rPr sz="1100" b="1" i="0">
                          <a:solidFill>
                            <a:srgbClr val="FFFFFF"/>
                          </a:solidFill>
                          <a:latin typeface="Cabin"/>
                        </a:rPr>
                        <a:t>Training data</a:t>
                      </a:r>
                    </a:p>
                  </a:txBody>
                  <a:tcPr marT="18288" marB="18288" anchor="ctr">
                    <a:solidFill>
                      <a:srgbClr val="0D3C4C"/>
                    </a:solidFill>
                  </a:tcPr>
                </a:tc>
                <a:tc>
                  <a:txBody>
                    <a:bodyPr/>
                    <a:lstStyle/>
                    <a:p>
                      <a:pPr algn="r"/>
                      <a:r>
                        <a:rPr sz="1100" b="1" i="0">
                          <a:solidFill>
                            <a:srgbClr val="FFFFFF"/>
                          </a:solidFill>
                          <a:latin typeface="Cabin"/>
                        </a:rPr>
                        <a:t>Gradient boosting AUC</a:t>
                      </a:r>
                    </a:p>
                  </a:txBody>
                  <a:tcPr marT="18288" marB="18288" anchor="ctr">
                    <a:solidFill>
                      <a:srgbClr val="0D3C4C"/>
                    </a:solidFill>
                  </a:tcPr>
                </a:tc>
                <a:tc>
                  <a:txBody>
                    <a:bodyPr/>
                    <a:lstStyle/>
                    <a:p>
                      <a:pPr algn="r"/>
                      <a:r>
                        <a:rPr sz="1100" b="1" i="0">
                          <a:solidFill>
                            <a:srgbClr val="FFFFFF"/>
                          </a:solidFill>
                          <a:latin typeface="Cabin"/>
                        </a:rPr>
                        <a:t>Accuracy</a:t>
                      </a:r>
                    </a:p>
                  </a:txBody>
                  <a:tcPr marT="18288" marB="18288" anchor="ctr">
                    <a:solidFill>
                      <a:srgbClr val="0D3C4C"/>
                    </a:solidFill>
                  </a:tcPr>
                </a:tc>
                <a:tc>
                  <a:txBody>
                    <a:bodyPr/>
                    <a:lstStyle/>
                    <a:p>
                      <a:pPr algn="r"/>
                      <a:r>
                        <a:rPr sz="1100" b="1" i="0">
                          <a:solidFill>
                            <a:srgbClr val="FFFFFF"/>
                          </a:solidFill>
                          <a:latin typeface="Cabin"/>
                        </a:rPr>
                        <a:t>Logistic regression AUC</a:t>
                      </a:r>
                    </a:p>
                  </a:txBody>
                  <a:tcPr marT="18288" marB="18288" anchor="ctr">
                    <a:solidFill>
                      <a:srgbClr val="0D3C4C"/>
                    </a:solidFill>
                  </a:tcPr>
                </a:tc>
                <a:tc>
                  <a:txBody>
                    <a:bodyPr/>
                    <a:lstStyle/>
                    <a:p>
                      <a:pPr algn="r"/>
                      <a:r>
                        <a:rPr sz="1100" b="1" i="0">
                          <a:solidFill>
                            <a:srgbClr val="FFFFFF"/>
                          </a:solidFill>
                          <a:latin typeface="Cabin"/>
                        </a:rPr>
                        <a:t>Accuracy</a:t>
                      </a:r>
                    </a:p>
                  </a:txBody>
                  <a:tcPr marT="18288" marB="18288" anchor="ctr">
                    <a:solidFill>
                      <a:srgbClr val="0D3C4C"/>
                    </a:solidFill>
                  </a:tcPr>
                </a:tc>
              </a:tr>
              <a:tr h="384048">
                <a:tc>
                  <a:txBody>
                    <a:bodyPr/>
                    <a:lstStyle/>
                    <a:p>
                      <a:pPr algn="l"/>
                      <a:r>
                        <a:rPr sz="1100" b="0" i="0">
                          <a:solidFill>
                            <a:srgbClr val="0D3C4C"/>
                          </a:solidFill>
                          <a:latin typeface="Nanum Gothic"/>
                        </a:rPr>
                        <a:t>Raw (55,980 training patients)</a:t>
                      </a:r>
                    </a:p>
                  </a:txBody>
                  <a:tcPr marT="18288" marB="18288" anchor="ctr">
                    <a:solidFill>
                      <a:srgbClr val="EEF6F9"/>
                    </a:solidFill>
                  </a:tcPr>
                </a:tc>
                <a:tc>
                  <a:txBody>
                    <a:bodyPr/>
                    <a:lstStyle/>
                    <a:p>
                      <a:pPr algn="r"/>
                      <a:r>
                        <a:rPr sz="1100" b="0" i="0">
                          <a:solidFill>
                            <a:srgbClr val="0D3C4C"/>
                          </a:solidFill>
                          <a:latin typeface="Nanum Gothic"/>
                        </a:rPr>
                        <a:t>0.804</a:t>
                      </a:r>
                    </a:p>
                  </a:txBody>
                  <a:tcPr marT="18288" marB="18288" anchor="ctr">
                    <a:solidFill>
                      <a:srgbClr val="EEF6F9"/>
                    </a:solidFill>
                  </a:tcPr>
                </a:tc>
                <a:tc>
                  <a:txBody>
                    <a:bodyPr/>
                    <a:lstStyle/>
                    <a:p>
                      <a:pPr algn="r"/>
                      <a:r>
                        <a:rPr sz="1100" b="0" i="0">
                          <a:solidFill>
                            <a:srgbClr val="0D3C4C"/>
                          </a:solidFill>
                          <a:latin typeface="Nanum Gothic"/>
                        </a:rPr>
                        <a:t>73.6%</a:t>
                      </a:r>
                    </a:p>
                  </a:txBody>
                  <a:tcPr marT="18288" marB="18288" anchor="ctr">
                    <a:solidFill>
                      <a:srgbClr val="EEF6F9"/>
                    </a:solidFill>
                  </a:tcPr>
                </a:tc>
                <a:tc>
                  <a:txBody>
                    <a:bodyPr/>
                    <a:lstStyle/>
                    <a:p>
                      <a:pPr algn="r"/>
                      <a:r>
                        <a:rPr sz="1100" b="0" i="0">
                          <a:solidFill>
                            <a:srgbClr val="0D3C4C"/>
                          </a:solidFill>
                          <a:latin typeface="Nanum Gothic"/>
                        </a:rPr>
                        <a:t>0.776</a:t>
                      </a:r>
                    </a:p>
                  </a:txBody>
                  <a:tcPr marT="18288" marB="18288" anchor="ctr">
                    <a:solidFill>
                      <a:srgbClr val="EEF6F9"/>
                    </a:solidFill>
                  </a:tcPr>
                </a:tc>
                <a:tc>
                  <a:txBody>
                    <a:bodyPr/>
                    <a:lstStyle/>
                    <a:p>
                      <a:pPr algn="r"/>
                      <a:r>
                        <a:rPr sz="1100" b="0" i="0">
                          <a:solidFill>
                            <a:srgbClr val="0D3C4C"/>
                          </a:solidFill>
                          <a:latin typeface="Nanum Gothic"/>
                        </a:rPr>
                        <a:t>71.8%</a:t>
                      </a:r>
                    </a:p>
                  </a:txBody>
                  <a:tcPr marT="18288" marB="18288" anchor="ctr">
                    <a:solidFill>
                      <a:srgbClr val="EEF6F9"/>
                    </a:solidFill>
                  </a:tcPr>
                </a:tc>
              </a:tr>
              <a:tr h="384048">
                <a:tc>
                  <a:txBody>
                    <a:bodyPr/>
                    <a:lstStyle/>
                    <a:p>
                      <a:pPr algn="l"/>
                      <a:r>
                        <a:rPr sz="1100" b="0" i="0">
                          <a:solidFill>
                            <a:srgbClr val="0D3C4C"/>
                          </a:solidFill>
                          <a:latin typeface="Nanum Gothic"/>
                        </a:rPr>
                        <a:t>Implausible records dropped (54,859)</a:t>
                      </a:r>
                    </a:p>
                  </a:txBody>
                  <a:tcPr marT="18288" marB="18288" anchor="ctr">
                    <a:solidFill>
                      <a:srgbClr val="FFFFFF"/>
                    </a:solidFill>
                  </a:tcPr>
                </a:tc>
                <a:tc>
                  <a:txBody>
                    <a:bodyPr/>
                    <a:lstStyle/>
                    <a:p>
                      <a:pPr algn="r"/>
                      <a:r>
                        <a:rPr sz="1100" b="0" i="0">
                          <a:solidFill>
                            <a:srgbClr val="0D3C4C"/>
                          </a:solidFill>
                          <a:latin typeface="Nanum Gothic"/>
                        </a:rPr>
                        <a:t>0.804</a:t>
                      </a:r>
                    </a:p>
                  </a:txBody>
                  <a:tcPr marT="18288" marB="18288" anchor="ctr">
                    <a:solidFill>
                      <a:srgbClr val="FFFFFF"/>
                    </a:solidFill>
                  </a:tcPr>
                </a:tc>
                <a:tc>
                  <a:txBody>
                    <a:bodyPr/>
                    <a:lstStyle/>
                    <a:p>
                      <a:pPr algn="r"/>
                      <a:r>
                        <a:rPr sz="1100" b="0" i="0">
                          <a:solidFill>
                            <a:srgbClr val="0D3C4C"/>
                          </a:solidFill>
                          <a:latin typeface="Nanum Gothic"/>
                        </a:rPr>
                        <a:t>73.6%</a:t>
                      </a:r>
                    </a:p>
                  </a:txBody>
                  <a:tcPr marT="18288" marB="18288" anchor="ctr">
                    <a:solidFill>
                      <a:srgbClr val="FFFFFF"/>
                    </a:solidFill>
                  </a:tcPr>
                </a:tc>
                <a:tc>
                  <a:txBody>
                    <a:bodyPr/>
                    <a:lstStyle/>
                    <a:p>
                      <a:pPr algn="r"/>
                      <a:r>
                        <a:rPr sz="1100" b="0" i="0">
                          <a:solidFill>
                            <a:srgbClr val="0D3C4C"/>
                          </a:solidFill>
                          <a:latin typeface="Nanum Gothic"/>
                        </a:rPr>
                        <a:t>0.793</a:t>
                      </a:r>
                    </a:p>
                  </a:txBody>
                  <a:tcPr marT="18288" marB="18288" anchor="ctr">
                    <a:solidFill>
                      <a:srgbClr val="FFFFFF"/>
                    </a:solidFill>
                  </a:tcPr>
                </a:tc>
                <a:tc>
                  <a:txBody>
                    <a:bodyPr/>
                    <a:lstStyle/>
                    <a:p>
                      <a:pPr algn="r"/>
                      <a:r>
                        <a:rPr sz="1100" b="0" i="0">
                          <a:solidFill>
                            <a:srgbClr val="0D3C4C"/>
                          </a:solidFill>
                          <a:latin typeface="Nanum Gothic"/>
                        </a:rPr>
                        <a:t>72.6%</a:t>
                      </a:r>
                    </a:p>
                  </a:txBody>
                  <a:tcPr marT="18288" marB="18288" anchor="ctr">
                    <a:solidFill>
                      <a:srgbClr val="FFFFFF"/>
                    </a:solidFill>
                  </a:tcPr>
                </a:tc>
              </a:tr>
              <a:tr h="384048">
                <a:tc>
                  <a:txBody>
                    <a:bodyPr/>
                    <a:lstStyle/>
                    <a:p>
                      <a:pPr algn="l"/>
                      <a:r>
                        <a:rPr sz="1100" b="0" i="0">
                          <a:solidFill>
                            <a:srgbClr val="0D3C4C"/>
                          </a:solidFill>
                          <a:latin typeface="Nanum Gothic"/>
                        </a:rPr>
                        <a:t>Entry errors repaired (55,865)</a:t>
                      </a:r>
                    </a:p>
                  </a:txBody>
                  <a:tcPr marT="18288" marB="18288" anchor="ctr">
                    <a:solidFill>
                      <a:srgbClr val="EEF6F9"/>
                    </a:solidFill>
                  </a:tcPr>
                </a:tc>
                <a:tc>
                  <a:txBody>
                    <a:bodyPr/>
                    <a:lstStyle/>
                    <a:p>
                      <a:pPr algn="r"/>
                      <a:r>
                        <a:rPr sz="1100" b="0" i="0">
                          <a:solidFill>
                            <a:srgbClr val="0D3C4C"/>
                          </a:solidFill>
                          <a:latin typeface="Nanum Gothic"/>
                        </a:rPr>
                        <a:t>0.804</a:t>
                      </a:r>
                    </a:p>
                  </a:txBody>
                  <a:tcPr marT="18288" marB="18288" anchor="ctr">
                    <a:solidFill>
                      <a:srgbClr val="EEF6F9"/>
                    </a:solidFill>
                  </a:tcPr>
                </a:tc>
                <a:tc>
                  <a:txBody>
                    <a:bodyPr/>
                    <a:lstStyle/>
                    <a:p>
                      <a:pPr algn="r"/>
                      <a:r>
                        <a:rPr sz="1100" b="0" i="0">
                          <a:solidFill>
                            <a:srgbClr val="0D3C4C"/>
                          </a:solidFill>
                          <a:latin typeface="Nanum Gothic"/>
                        </a:rPr>
                        <a:t>73.6%</a:t>
                      </a:r>
                    </a:p>
                  </a:txBody>
                  <a:tcPr marT="18288" marB="18288" anchor="ctr">
                    <a:solidFill>
                      <a:srgbClr val="EEF6F9"/>
                    </a:solidFill>
                  </a:tcPr>
                </a:tc>
                <a:tc>
                  <a:txBody>
                    <a:bodyPr/>
                    <a:lstStyle/>
                    <a:p>
                      <a:pPr algn="r"/>
                      <a:r>
                        <a:rPr sz="1100" b="0" i="0">
                          <a:solidFill>
                            <a:srgbClr val="0D3C4C"/>
                          </a:solidFill>
                          <a:latin typeface="Nanum Gothic"/>
                        </a:rPr>
                        <a:t>0.793</a:t>
                      </a:r>
                    </a:p>
                  </a:txBody>
                  <a:tcPr marT="18288" marB="18288" anchor="ctr">
                    <a:solidFill>
                      <a:srgbClr val="EEF6F9"/>
                    </a:solidFill>
                  </a:tcPr>
                </a:tc>
                <a:tc>
                  <a:txBody>
                    <a:bodyPr/>
                    <a:lstStyle/>
                    <a:p>
                      <a:pPr algn="r"/>
                      <a:r>
                        <a:rPr sz="1100" b="0" i="0">
                          <a:solidFill>
                            <a:srgbClr val="0D3C4C"/>
                          </a:solidFill>
                          <a:latin typeface="Nanum Gothic"/>
                        </a:rPr>
                        <a:t>72.6%</a:t>
                      </a:r>
                    </a:p>
                  </a:txBody>
                  <a:tcPr marT="18288" marB="18288" anchor="ctr">
                    <a:solidFill>
                      <a:srgbClr val="EEF6F9"/>
                    </a:solidFill>
                  </a:tcPr>
                </a:tc>
              </a:tr>
            </a:tbl>
          </a:graphicData>
        </a:graphic>
      </p:graphicFrame>
      <p:sp>
        <p:nvSpPr>
          <p:cNvPr id="4" name="TextBox 3"/>
          <p:cNvSpPr txBox="1"/>
          <p:nvPr/>
        </p:nvSpPr>
        <p:spPr>
          <a:xfrm>
            <a:off x="722376" y="2971800"/>
            <a:ext cx="7708392" cy="1554480"/>
          </a:xfrm>
          <a:prstGeom prst="rect">
            <a:avLst/>
          </a:prstGeom>
          <a:noFill/>
        </p:spPr>
        <p:txBody>
          <a:bodyPr wrap="square" anchor="t" lIns="0" rIns="0" tIns="0" bIns="0">
            <a:spAutoFit/>
          </a:bodyPr>
          <a:lstStyle/>
          <a:p>
            <a:pPr algn="l"/>
            <a:r>
              <a:rPr sz="1150" b="0" i="0">
                <a:solidFill>
                  <a:srgbClr val="0D3C4C"/>
                </a:solidFill>
                <a:latin typeface="Nanum Gothic"/>
              </a:rPr>
              <a:t>All six models are scored on the same 13,722 test patients, those whose records pass every check. Raw data costs gradient boosting 0.0008 AUC (95% CI 0.0001-0.0014) and logistic regression 0.017 (95% CI 0.014-0.019).</a:t>
            </a:r>
          </a:p>
          <a:p>
            <a:pPr algn="l">
              <a:spcBef>
                <a:spcPts val="800"/>
              </a:spcBef>
            </a:pPr>
            <a:r>
              <a:rPr sz="1150" b="0" i="0">
                <a:solidFill>
                  <a:srgbClr val="0D3C4C"/>
                </a:solidFill>
                <a:latin typeface="Nanum Gothic"/>
              </a:rPr>
              <a:t>Trees split on the order of values, so absurd readings simply land in the top branch. A straight-line model is pulled by them: its weights for the pressure readings shrink to 3-35% of their clean size, and the blood-pressure stage, which caps any reading at stage 3, takes over much of the signal.</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buNone/>
            </a:pPr>
            <a:r>
              <a:t>Backup: who the model serves well</a:t>
            </a:r>
          </a:p>
        </p:txBody>
      </p:sp>
      <p:graphicFrame>
        <p:nvGraphicFramePr>
          <p:cNvPr id="3" name="Table 2"/>
          <p:cNvGraphicFramePr>
            <a:graphicFrameLocks noGrp="1"/>
          </p:cNvGraphicFramePr>
          <p:nvPr/>
        </p:nvGraphicFramePr>
        <p:xfrm>
          <a:off x="722376" y="1188720"/>
          <a:ext cx="7708392" cy="2432304"/>
        </p:xfrm>
        <a:graphic>
          <a:graphicData uri="http://schemas.openxmlformats.org/drawingml/2006/table">
            <a:tbl>
              <a:tblPr firstRow="1" bandRow="1">
                <a:tableStyleId>{5C22544A-7EE6-4342-B048-85BDC9FD1C3A}</a:tableStyleId>
              </a:tblPr>
              <a:tblGrid>
                <a:gridCol w="1417320"/>
                <a:gridCol w="731520"/>
                <a:gridCol w="777240"/>
                <a:gridCol w="822960"/>
                <a:gridCol w="1600200"/>
                <a:gridCol w="960120"/>
                <a:gridCol w="685800"/>
                <a:gridCol w="713232"/>
              </a:tblGrid>
              <a:tr h="347472">
                <a:tc>
                  <a:txBody>
                    <a:bodyPr/>
                    <a:lstStyle/>
                    <a:p>
                      <a:pPr algn="l"/>
                      <a:r>
                        <a:rPr sz="1050" b="1" i="0">
                          <a:solidFill>
                            <a:srgbClr val="FFFFFF"/>
                          </a:solidFill>
                          <a:latin typeface="Cabin"/>
                        </a:rPr>
                        <a:t>Group</a:t>
                      </a:r>
                    </a:p>
                  </a:txBody>
                  <a:tcPr marT="18288" marB="18288" anchor="ctr">
                    <a:solidFill>
                      <a:srgbClr val="0D3C4C"/>
                    </a:solidFill>
                  </a:tcPr>
                </a:tc>
                <a:tc>
                  <a:txBody>
                    <a:bodyPr/>
                    <a:lstStyle/>
                    <a:p>
                      <a:pPr algn="r"/>
                      <a:r>
                        <a:rPr sz="1050" b="1" i="0">
                          <a:solidFill>
                            <a:srgbClr val="FFFFFF"/>
                          </a:solidFill>
                          <a:latin typeface="Cabin"/>
                        </a:rPr>
                        <a:t>Patients</a:t>
                      </a:r>
                    </a:p>
                  </a:txBody>
                  <a:tcPr marT="18288" marB="18288" anchor="ctr">
                    <a:solidFill>
                      <a:srgbClr val="0D3C4C"/>
                    </a:solidFill>
                  </a:tcPr>
                </a:tc>
                <a:tc>
                  <a:txBody>
                    <a:bodyPr/>
                    <a:lstStyle/>
                    <a:p>
                      <a:pPr algn="r"/>
                      <a:r>
                        <a:rPr sz="1050" b="1" i="0">
                          <a:solidFill>
                            <a:srgbClr val="FFFFFF"/>
                          </a:solidFill>
                          <a:latin typeface="Cabin"/>
                        </a:rPr>
                        <a:t>With CVD</a:t>
                      </a:r>
                    </a:p>
                  </a:txBody>
                  <a:tcPr marT="18288" marB="18288" anchor="ctr">
                    <a:solidFill>
                      <a:srgbClr val="0D3C4C"/>
                    </a:solidFill>
                  </a:tcPr>
                </a:tc>
                <a:tc>
                  <a:txBody>
                    <a:bodyPr/>
                    <a:lstStyle/>
                    <a:p>
                      <a:pPr algn="r"/>
                      <a:r>
                        <a:rPr sz="1050" b="1" i="0">
                          <a:solidFill>
                            <a:srgbClr val="FFFFFF"/>
                          </a:solidFill>
                          <a:latin typeface="Cabin"/>
                        </a:rPr>
                        <a:t>Predicted</a:t>
                      </a:r>
                    </a:p>
                  </a:txBody>
                  <a:tcPr marT="18288" marB="18288" anchor="ctr">
                    <a:solidFill>
                      <a:srgbClr val="0D3C4C"/>
                    </a:solidFill>
                  </a:tcPr>
                </a:tc>
                <a:tc>
                  <a:txBody>
                    <a:bodyPr/>
                    <a:lstStyle/>
                    <a:p>
                      <a:pPr algn="r"/>
                      <a:r>
                        <a:rPr sz="1050" b="1" i="0">
                          <a:solidFill>
                            <a:srgbClr val="FFFFFF"/>
                          </a:solidFill>
                          <a:latin typeface="Cabin"/>
                        </a:rPr>
                        <a:t>AUC (95% CI)</a:t>
                      </a:r>
                    </a:p>
                  </a:txBody>
                  <a:tcPr marT="18288" marB="18288" anchor="ctr">
                    <a:solidFill>
                      <a:srgbClr val="0D3C4C"/>
                    </a:solidFill>
                  </a:tcPr>
                </a:tc>
                <a:tc>
                  <a:txBody>
                    <a:bodyPr/>
                    <a:lstStyle/>
                    <a:p>
                      <a:pPr algn="r"/>
                      <a:r>
                        <a:rPr sz="1050" b="1" i="0">
                          <a:solidFill>
                            <a:srgbClr val="FFFFFF"/>
                          </a:solidFill>
                          <a:latin typeface="Cabin"/>
                        </a:rPr>
                        <a:t>Systolic alone</a:t>
                      </a:r>
                    </a:p>
                  </a:txBody>
                  <a:tcPr marT="18288" marB="18288" anchor="ctr">
                    <a:solidFill>
                      <a:srgbClr val="0D3C4C"/>
                    </a:solidFill>
                  </a:tcPr>
                </a:tc>
                <a:tc>
                  <a:txBody>
                    <a:bodyPr/>
                    <a:lstStyle/>
                    <a:p>
                      <a:pPr algn="r"/>
                      <a:r>
                        <a:rPr sz="1050" b="1" i="0">
                          <a:solidFill>
                            <a:srgbClr val="FFFFFF"/>
                          </a:solidFill>
                          <a:latin typeface="Cabin"/>
                        </a:rPr>
                        <a:t>Sens.</a:t>
                      </a:r>
                    </a:p>
                  </a:txBody>
                  <a:tcPr marT="18288" marB="18288" anchor="ctr">
                    <a:solidFill>
                      <a:srgbClr val="0D3C4C"/>
                    </a:solidFill>
                  </a:tcPr>
                </a:tc>
                <a:tc>
                  <a:txBody>
                    <a:bodyPr/>
                    <a:lstStyle/>
                    <a:p>
                      <a:pPr algn="r"/>
                      <a:r>
                        <a:rPr sz="1050" b="1" i="0">
                          <a:solidFill>
                            <a:srgbClr val="FFFFFF"/>
                          </a:solidFill>
                          <a:latin typeface="Cabin"/>
                        </a:rPr>
                        <a:t>Spec.</a:t>
                      </a:r>
                    </a:p>
                  </a:txBody>
                  <a:tcPr marT="18288" marB="18288" anchor="ctr">
                    <a:solidFill>
                      <a:srgbClr val="0D3C4C"/>
                    </a:solidFill>
                  </a:tcPr>
                </a:tc>
              </a:tr>
              <a:tr h="347472">
                <a:tc>
                  <a:txBody>
                    <a:bodyPr/>
                    <a:lstStyle/>
                    <a:p>
                      <a:pPr algn="l"/>
                      <a:r>
                        <a:rPr sz="1050" b="0" i="0">
                          <a:solidFill>
                            <a:srgbClr val="0D3C4C"/>
                          </a:solidFill>
                          <a:latin typeface="Nanum Gothic"/>
                        </a:rPr>
                        <a:t>Women</a:t>
                      </a:r>
                    </a:p>
                  </a:txBody>
                  <a:tcPr marT="18288" marB="18288" anchor="ctr">
                    <a:solidFill>
                      <a:srgbClr val="EEF6F9"/>
                    </a:solidFill>
                  </a:tcPr>
                </a:tc>
                <a:tc>
                  <a:txBody>
                    <a:bodyPr/>
                    <a:lstStyle/>
                    <a:p>
                      <a:pPr algn="r"/>
                      <a:r>
                        <a:rPr sz="1050" b="0" i="0">
                          <a:solidFill>
                            <a:srgbClr val="0D3C4C"/>
                          </a:solidFill>
                          <a:latin typeface="Nanum Gothic"/>
                        </a:rPr>
                        <a:t>8,858</a:t>
                      </a:r>
                    </a:p>
                  </a:txBody>
                  <a:tcPr marT="18288" marB="18288" anchor="ctr">
                    <a:solidFill>
                      <a:srgbClr val="EEF6F9"/>
                    </a:solidFill>
                  </a:tcPr>
                </a:tc>
                <a:tc>
                  <a:txBody>
                    <a:bodyPr/>
                    <a:lstStyle/>
                    <a:p>
                      <a:pPr algn="r"/>
                      <a:r>
                        <a:rPr sz="1050" b="0" i="0">
                          <a:solidFill>
                            <a:srgbClr val="0D3C4C"/>
                          </a:solidFill>
                          <a:latin typeface="Nanum Gothic"/>
                        </a:rPr>
                        <a:t>49.2%</a:t>
                      </a:r>
                    </a:p>
                  </a:txBody>
                  <a:tcPr marT="18288" marB="18288" anchor="ctr">
                    <a:solidFill>
                      <a:srgbClr val="EEF6F9"/>
                    </a:solidFill>
                  </a:tcPr>
                </a:tc>
                <a:tc>
                  <a:txBody>
                    <a:bodyPr/>
                    <a:lstStyle/>
                    <a:p>
                      <a:pPr algn="r"/>
                      <a:r>
                        <a:rPr sz="1050" b="0" i="0">
                          <a:solidFill>
                            <a:srgbClr val="0D3C4C"/>
                          </a:solidFill>
                          <a:latin typeface="Nanum Gothic"/>
                        </a:rPr>
                        <a:t>48.7%</a:t>
                      </a:r>
                    </a:p>
                  </a:txBody>
                  <a:tcPr marT="18288" marB="18288" anchor="ctr">
                    <a:solidFill>
                      <a:srgbClr val="EEF6F9"/>
                    </a:solidFill>
                  </a:tcPr>
                </a:tc>
                <a:tc>
                  <a:txBody>
                    <a:bodyPr/>
                    <a:lstStyle/>
                    <a:p>
                      <a:pPr algn="r"/>
                      <a:r>
                        <a:rPr sz="1050" b="0" i="0">
                          <a:solidFill>
                            <a:srgbClr val="0D3C4C"/>
                          </a:solidFill>
                          <a:latin typeface="Nanum Gothic"/>
                        </a:rPr>
                        <a:t>0.803 (0.794-0.812)</a:t>
                      </a:r>
                    </a:p>
                  </a:txBody>
                  <a:tcPr marT="18288" marB="18288" anchor="ctr">
                    <a:solidFill>
                      <a:srgbClr val="EEF6F9"/>
                    </a:solidFill>
                  </a:tcPr>
                </a:tc>
                <a:tc>
                  <a:txBody>
                    <a:bodyPr/>
                    <a:lstStyle/>
                    <a:p>
                      <a:pPr algn="r"/>
                      <a:r>
                        <a:rPr sz="1050" b="0" i="0">
                          <a:solidFill>
                            <a:srgbClr val="0D3C4C"/>
                          </a:solidFill>
                          <a:latin typeface="Nanum Gothic"/>
                        </a:rPr>
                        <a:t>0.756</a:t>
                      </a:r>
                    </a:p>
                  </a:txBody>
                  <a:tcPr marT="18288" marB="18288" anchor="ctr">
                    <a:solidFill>
                      <a:srgbClr val="EEF6F9"/>
                    </a:solidFill>
                  </a:tcPr>
                </a:tc>
                <a:tc>
                  <a:txBody>
                    <a:bodyPr/>
                    <a:lstStyle/>
                    <a:p>
                      <a:pPr algn="r"/>
                      <a:r>
                        <a:rPr sz="1050" b="0" i="0">
                          <a:solidFill>
                            <a:srgbClr val="0D3C4C"/>
                          </a:solidFill>
                          <a:latin typeface="Nanum Gothic"/>
                        </a:rPr>
                        <a:t>68.0%</a:t>
                      </a:r>
                    </a:p>
                  </a:txBody>
                  <a:tcPr marT="18288" marB="18288" anchor="ctr">
                    <a:solidFill>
                      <a:srgbClr val="EEF6F9"/>
                    </a:solidFill>
                  </a:tcPr>
                </a:tc>
                <a:tc>
                  <a:txBody>
                    <a:bodyPr/>
                    <a:lstStyle/>
                    <a:p>
                      <a:pPr algn="r"/>
                      <a:r>
                        <a:rPr sz="1050" b="0" i="0">
                          <a:solidFill>
                            <a:srgbClr val="0D3C4C"/>
                          </a:solidFill>
                          <a:latin typeface="Nanum Gothic"/>
                        </a:rPr>
                        <a:t>78.6%</a:t>
                      </a:r>
                    </a:p>
                  </a:txBody>
                  <a:tcPr marT="18288" marB="18288" anchor="ctr">
                    <a:solidFill>
                      <a:srgbClr val="EEF6F9"/>
                    </a:solidFill>
                  </a:tcPr>
                </a:tc>
              </a:tr>
              <a:tr h="347472">
                <a:tc>
                  <a:txBody>
                    <a:bodyPr/>
                    <a:lstStyle/>
                    <a:p>
                      <a:pPr algn="l"/>
                      <a:r>
                        <a:rPr sz="1050" b="0" i="0">
                          <a:solidFill>
                            <a:srgbClr val="0D3C4C"/>
                          </a:solidFill>
                          <a:latin typeface="Nanum Gothic"/>
                        </a:rPr>
                        <a:t>Men</a:t>
                      </a:r>
                    </a:p>
                  </a:txBody>
                  <a:tcPr marT="18288" marB="18288" anchor="ctr">
                    <a:solidFill>
                      <a:srgbClr val="FFFFFF"/>
                    </a:solidFill>
                  </a:tcPr>
                </a:tc>
                <a:tc>
                  <a:txBody>
                    <a:bodyPr/>
                    <a:lstStyle/>
                    <a:p>
                      <a:pPr algn="r"/>
                      <a:r>
                        <a:rPr sz="1050" b="0" i="0">
                          <a:solidFill>
                            <a:srgbClr val="0D3C4C"/>
                          </a:solidFill>
                          <a:latin typeface="Nanum Gothic"/>
                        </a:rPr>
                        <a:t>4,864</a:t>
                      </a:r>
                    </a:p>
                  </a:txBody>
                  <a:tcPr marT="18288" marB="18288" anchor="ctr">
                    <a:solidFill>
                      <a:srgbClr val="FFFFFF"/>
                    </a:solidFill>
                  </a:tcPr>
                </a:tc>
                <a:tc>
                  <a:txBody>
                    <a:bodyPr/>
                    <a:lstStyle/>
                    <a:p>
                      <a:pPr algn="r"/>
                      <a:r>
                        <a:rPr sz="1050" b="0" i="0">
                          <a:solidFill>
                            <a:srgbClr val="0D3C4C"/>
                          </a:solidFill>
                          <a:latin typeface="Nanum Gothic"/>
                        </a:rPr>
                        <a:t>49.9%</a:t>
                      </a:r>
                    </a:p>
                  </a:txBody>
                  <a:tcPr marT="18288" marB="18288" anchor="ctr">
                    <a:solidFill>
                      <a:srgbClr val="FFFFFF"/>
                    </a:solidFill>
                  </a:tcPr>
                </a:tc>
                <a:tc>
                  <a:txBody>
                    <a:bodyPr/>
                    <a:lstStyle/>
                    <a:p>
                      <a:pPr algn="r"/>
                      <a:r>
                        <a:rPr sz="1050" b="0" i="0">
                          <a:solidFill>
                            <a:srgbClr val="0D3C4C"/>
                          </a:solidFill>
                          <a:latin typeface="Nanum Gothic"/>
                        </a:rPr>
                        <a:t>50.7%</a:t>
                      </a:r>
                    </a:p>
                  </a:txBody>
                  <a:tcPr marT="18288" marB="18288" anchor="ctr">
                    <a:solidFill>
                      <a:srgbClr val="FFFFFF"/>
                    </a:solidFill>
                  </a:tcPr>
                </a:tc>
                <a:tc>
                  <a:txBody>
                    <a:bodyPr/>
                    <a:lstStyle/>
                    <a:p>
                      <a:pPr algn="r"/>
                      <a:r>
                        <a:rPr sz="1050" b="0" i="0">
                          <a:solidFill>
                            <a:srgbClr val="0D3C4C"/>
                          </a:solidFill>
                          <a:latin typeface="Nanum Gothic"/>
                        </a:rPr>
                        <a:t>0.808 (0.796-0.819)</a:t>
                      </a:r>
                    </a:p>
                  </a:txBody>
                  <a:tcPr marT="18288" marB="18288" anchor="ctr">
                    <a:solidFill>
                      <a:srgbClr val="FFFFFF"/>
                    </a:solidFill>
                  </a:tcPr>
                </a:tc>
                <a:tc>
                  <a:txBody>
                    <a:bodyPr/>
                    <a:lstStyle/>
                    <a:p>
                      <a:pPr algn="r"/>
                      <a:r>
                        <a:rPr sz="1050" b="0" i="0">
                          <a:solidFill>
                            <a:srgbClr val="0D3C4C"/>
                          </a:solidFill>
                          <a:latin typeface="Nanum Gothic"/>
                        </a:rPr>
                        <a:t>0.752</a:t>
                      </a:r>
                    </a:p>
                  </a:txBody>
                  <a:tcPr marT="18288" marB="18288" anchor="ctr">
                    <a:solidFill>
                      <a:srgbClr val="FFFFFF"/>
                    </a:solidFill>
                  </a:tcPr>
                </a:tc>
                <a:tc>
                  <a:txBody>
                    <a:bodyPr/>
                    <a:lstStyle/>
                    <a:p>
                      <a:pPr algn="r"/>
                      <a:r>
                        <a:rPr sz="1050" b="0" i="0">
                          <a:solidFill>
                            <a:srgbClr val="0D3C4C"/>
                          </a:solidFill>
                          <a:latin typeface="Nanum Gothic"/>
                        </a:rPr>
                        <a:t>70.4%</a:t>
                      </a:r>
                    </a:p>
                  </a:txBody>
                  <a:tcPr marT="18288" marB="18288" anchor="ctr">
                    <a:solidFill>
                      <a:srgbClr val="FFFFFF"/>
                    </a:solidFill>
                  </a:tcPr>
                </a:tc>
                <a:tc>
                  <a:txBody>
                    <a:bodyPr/>
                    <a:lstStyle/>
                    <a:p>
                      <a:pPr algn="r"/>
                      <a:r>
                        <a:rPr sz="1050" b="0" i="0">
                          <a:solidFill>
                            <a:srgbClr val="0D3C4C"/>
                          </a:solidFill>
                          <a:latin typeface="Nanum Gothic"/>
                        </a:rPr>
                        <a:t>77.6%</a:t>
                      </a:r>
                    </a:p>
                  </a:txBody>
                  <a:tcPr marT="18288" marB="18288" anchor="ctr">
                    <a:solidFill>
                      <a:srgbClr val="FFFFFF"/>
                    </a:solidFill>
                  </a:tcPr>
                </a:tc>
              </a:tr>
              <a:tr h="347472">
                <a:tc>
                  <a:txBody>
                    <a:bodyPr/>
                    <a:lstStyle/>
                    <a:p>
                      <a:pPr algn="l"/>
                      <a:r>
                        <a:rPr sz="1050" b="0" i="0">
                          <a:solidFill>
                            <a:srgbClr val="0D3C4C"/>
                          </a:solidFill>
                          <a:latin typeface="Nanum Gothic"/>
                        </a:rPr>
                        <a:t>Age under 50</a:t>
                      </a:r>
                    </a:p>
                  </a:txBody>
                  <a:tcPr marT="18288" marB="18288" anchor="ctr">
                    <a:solidFill>
                      <a:srgbClr val="EEF6F9"/>
                    </a:solidFill>
                  </a:tcPr>
                </a:tc>
                <a:tc>
                  <a:txBody>
                    <a:bodyPr/>
                    <a:lstStyle/>
                    <a:p>
                      <a:pPr algn="r"/>
                      <a:r>
                        <a:rPr sz="1050" b="0" i="0">
                          <a:solidFill>
                            <a:srgbClr val="0D3C4C"/>
                          </a:solidFill>
                          <a:latin typeface="Nanum Gothic"/>
                        </a:rPr>
                        <a:t>4,361</a:t>
                      </a:r>
                    </a:p>
                  </a:txBody>
                  <a:tcPr marT="18288" marB="18288" anchor="ctr">
                    <a:solidFill>
                      <a:srgbClr val="EEF6F9"/>
                    </a:solidFill>
                  </a:tcPr>
                </a:tc>
                <a:tc>
                  <a:txBody>
                    <a:bodyPr/>
                    <a:lstStyle/>
                    <a:p>
                      <a:pPr algn="r"/>
                      <a:r>
                        <a:rPr sz="1050" b="0" i="0">
                          <a:solidFill>
                            <a:srgbClr val="0D3C4C"/>
                          </a:solidFill>
                          <a:latin typeface="Nanum Gothic"/>
                        </a:rPr>
                        <a:t>36.8%</a:t>
                      </a:r>
                    </a:p>
                  </a:txBody>
                  <a:tcPr marT="18288" marB="18288" anchor="ctr">
                    <a:solidFill>
                      <a:srgbClr val="EEF6F9"/>
                    </a:solidFill>
                  </a:tcPr>
                </a:tc>
                <a:tc>
                  <a:txBody>
                    <a:bodyPr/>
                    <a:lstStyle/>
                    <a:p>
                      <a:pPr algn="r"/>
                      <a:r>
                        <a:rPr sz="1050" b="0" i="0">
                          <a:solidFill>
                            <a:srgbClr val="0D3C4C"/>
                          </a:solidFill>
                          <a:latin typeface="Nanum Gothic"/>
                        </a:rPr>
                        <a:t>36.3%</a:t>
                      </a:r>
                    </a:p>
                  </a:txBody>
                  <a:tcPr marT="18288" marB="18288" anchor="ctr">
                    <a:solidFill>
                      <a:srgbClr val="EEF6F9"/>
                    </a:solidFill>
                  </a:tcPr>
                </a:tc>
                <a:tc>
                  <a:txBody>
                    <a:bodyPr/>
                    <a:lstStyle/>
                    <a:p>
                      <a:pPr algn="r"/>
                      <a:r>
                        <a:rPr sz="1050" b="0" i="0">
                          <a:solidFill>
                            <a:srgbClr val="0D3C4C"/>
                          </a:solidFill>
                          <a:latin typeface="Nanum Gothic"/>
                        </a:rPr>
                        <a:t>0.835 (0.822-0.847)</a:t>
                      </a:r>
                    </a:p>
                  </a:txBody>
                  <a:tcPr marT="18288" marB="18288" anchor="ctr">
                    <a:solidFill>
                      <a:srgbClr val="EEF6F9"/>
                    </a:solidFill>
                  </a:tcPr>
                </a:tc>
                <a:tc>
                  <a:txBody>
                    <a:bodyPr/>
                    <a:lstStyle/>
                    <a:p>
                      <a:pPr algn="r"/>
                      <a:r>
                        <a:rPr sz="1050" b="0" i="0">
                          <a:solidFill>
                            <a:srgbClr val="0D3C4C"/>
                          </a:solidFill>
                          <a:latin typeface="Nanum Gothic"/>
                        </a:rPr>
                        <a:t>0.796</a:t>
                      </a:r>
                    </a:p>
                  </a:txBody>
                  <a:tcPr marT="18288" marB="18288" anchor="ctr">
                    <a:solidFill>
                      <a:srgbClr val="EEF6F9"/>
                    </a:solidFill>
                  </a:tcPr>
                </a:tc>
                <a:tc>
                  <a:txBody>
                    <a:bodyPr/>
                    <a:lstStyle/>
                    <a:p>
                      <a:pPr algn="r"/>
                      <a:r>
                        <a:rPr sz="1050" b="0" i="0">
                          <a:solidFill>
                            <a:srgbClr val="0D3C4C"/>
                          </a:solidFill>
                          <a:latin typeface="Nanum Gothic"/>
                        </a:rPr>
                        <a:t>59.0%</a:t>
                      </a:r>
                    </a:p>
                  </a:txBody>
                  <a:tcPr marT="18288" marB="18288" anchor="ctr">
                    <a:solidFill>
                      <a:srgbClr val="EEF6F9"/>
                    </a:solidFill>
                  </a:tcPr>
                </a:tc>
                <a:tc>
                  <a:txBody>
                    <a:bodyPr/>
                    <a:lstStyle/>
                    <a:p>
                      <a:pPr algn="r"/>
                      <a:r>
                        <a:rPr sz="1050" b="0" i="0">
                          <a:solidFill>
                            <a:srgbClr val="0D3C4C"/>
                          </a:solidFill>
                          <a:latin typeface="Nanum Gothic"/>
                        </a:rPr>
                        <a:t>91.4%</a:t>
                      </a:r>
                    </a:p>
                  </a:txBody>
                  <a:tcPr marT="18288" marB="18288" anchor="ctr">
                    <a:solidFill>
                      <a:srgbClr val="EEF6F9"/>
                    </a:solidFill>
                  </a:tcPr>
                </a:tc>
              </a:tr>
              <a:tr h="347472">
                <a:tc>
                  <a:txBody>
                    <a:bodyPr/>
                    <a:lstStyle/>
                    <a:p>
                      <a:pPr algn="l"/>
                      <a:r>
                        <a:rPr sz="1050" b="0" i="0">
                          <a:solidFill>
                            <a:srgbClr val="0D3C4C"/>
                          </a:solidFill>
                          <a:latin typeface="Nanum Gothic"/>
                        </a:rPr>
                        <a:t>Age 50-59</a:t>
                      </a:r>
                    </a:p>
                  </a:txBody>
                  <a:tcPr marT="18288" marB="18288" anchor="ctr">
                    <a:solidFill>
                      <a:srgbClr val="FFFFFF"/>
                    </a:solidFill>
                  </a:tcPr>
                </a:tc>
                <a:tc>
                  <a:txBody>
                    <a:bodyPr/>
                    <a:lstStyle/>
                    <a:p>
                      <a:pPr algn="r"/>
                      <a:r>
                        <a:rPr sz="1050" b="0" i="0">
                          <a:solidFill>
                            <a:srgbClr val="0D3C4C"/>
                          </a:solidFill>
                          <a:latin typeface="Nanum Gothic"/>
                        </a:rPr>
                        <a:t>6,900</a:t>
                      </a:r>
                    </a:p>
                  </a:txBody>
                  <a:tcPr marT="18288" marB="18288" anchor="ctr">
                    <a:solidFill>
                      <a:srgbClr val="FFFFFF"/>
                    </a:solidFill>
                  </a:tcPr>
                </a:tc>
                <a:tc>
                  <a:txBody>
                    <a:bodyPr/>
                    <a:lstStyle/>
                    <a:p>
                      <a:pPr algn="r"/>
                      <a:r>
                        <a:rPr sz="1050" b="0" i="0">
                          <a:solidFill>
                            <a:srgbClr val="0D3C4C"/>
                          </a:solidFill>
                          <a:latin typeface="Nanum Gothic"/>
                        </a:rPr>
                        <a:t>50.8%</a:t>
                      </a:r>
                    </a:p>
                  </a:txBody>
                  <a:tcPr marT="18288" marB="18288" anchor="ctr">
                    <a:solidFill>
                      <a:srgbClr val="FFFFFF"/>
                    </a:solidFill>
                  </a:tcPr>
                </a:tc>
                <a:tc>
                  <a:txBody>
                    <a:bodyPr/>
                    <a:lstStyle/>
                    <a:p>
                      <a:pPr algn="r"/>
                      <a:r>
                        <a:rPr sz="1050" b="0" i="0">
                          <a:solidFill>
                            <a:srgbClr val="0D3C4C"/>
                          </a:solidFill>
                          <a:latin typeface="Nanum Gothic"/>
                        </a:rPr>
                        <a:t>51.6%</a:t>
                      </a:r>
                    </a:p>
                  </a:txBody>
                  <a:tcPr marT="18288" marB="18288" anchor="ctr">
                    <a:solidFill>
                      <a:srgbClr val="FFFFFF"/>
                    </a:solidFill>
                  </a:tcPr>
                </a:tc>
                <a:tc>
                  <a:txBody>
                    <a:bodyPr/>
                    <a:lstStyle/>
                    <a:p>
                      <a:pPr algn="r"/>
                      <a:r>
                        <a:rPr sz="1050" b="0" i="0">
                          <a:solidFill>
                            <a:srgbClr val="0D3C4C"/>
                          </a:solidFill>
                          <a:latin typeface="Nanum Gothic"/>
                        </a:rPr>
                        <a:t>0.768 (0.756-0.779)</a:t>
                      </a:r>
                    </a:p>
                  </a:txBody>
                  <a:tcPr marT="18288" marB="18288" anchor="ctr">
                    <a:solidFill>
                      <a:srgbClr val="FFFFFF"/>
                    </a:solidFill>
                  </a:tcPr>
                </a:tc>
                <a:tc>
                  <a:txBody>
                    <a:bodyPr/>
                    <a:lstStyle/>
                    <a:p>
                      <a:pPr algn="r"/>
                      <a:r>
                        <a:rPr sz="1050" b="0" i="0">
                          <a:solidFill>
                            <a:srgbClr val="0D3C4C"/>
                          </a:solidFill>
                          <a:latin typeface="Nanum Gothic"/>
                        </a:rPr>
                        <a:t>0.730</a:t>
                      </a:r>
                    </a:p>
                  </a:txBody>
                  <a:tcPr marT="18288" marB="18288" anchor="ctr">
                    <a:solidFill>
                      <a:srgbClr val="FFFFFF"/>
                    </a:solidFill>
                  </a:tcPr>
                </a:tc>
                <a:tc>
                  <a:txBody>
                    <a:bodyPr/>
                    <a:lstStyle/>
                    <a:p>
                      <a:pPr algn="r"/>
                      <a:r>
                        <a:rPr sz="1050" b="0" i="0">
                          <a:solidFill>
                            <a:srgbClr val="0D3C4C"/>
                          </a:solidFill>
                          <a:latin typeface="Nanum Gothic"/>
                        </a:rPr>
                        <a:t>64.2%</a:t>
                      </a:r>
                    </a:p>
                  </a:txBody>
                  <a:tcPr marT="18288" marB="18288" anchor="ctr">
                    <a:solidFill>
                      <a:srgbClr val="FFFFFF"/>
                    </a:solidFill>
                  </a:tcPr>
                </a:tc>
                <a:tc>
                  <a:txBody>
                    <a:bodyPr/>
                    <a:lstStyle/>
                    <a:p>
                      <a:pPr algn="r"/>
                      <a:r>
                        <a:rPr sz="1050" b="0" i="0">
                          <a:solidFill>
                            <a:srgbClr val="0D3C4C"/>
                          </a:solidFill>
                          <a:latin typeface="Nanum Gothic"/>
                        </a:rPr>
                        <a:t>77.7%</a:t>
                      </a:r>
                    </a:p>
                  </a:txBody>
                  <a:tcPr marT="18288" marB="18288" anchor="ctr">
                    <a:solidFill>
                      <a:srgbClr val="FFFFFF"/>
                    </a:solidFill>
                  </a:tcPr>
                </a:tc>
              </a:tr>
              <a:tr h="347472">
                <a:tc>
                  <a:txBody>
                    <a:bodyPr/>
                    <a:lstStyle/>
                    <a:p>
                      <a:pPr algn="l"/>
                      <a:r>
                        <a:rPr sz="1050" b="0" i="0">
                          <a:solidFill>
                            <a:srgbClr val="0D3C4C"/>
                          </a:solidFill>
                          <a:latin typeface="Nanum Gothic"/>
                        </a:rPr>
                        <a:t>Age 60 and over</a:t>
                      </a:r>
                    </a:p>
                  </a:txBody>
                  <a:tcPr marT="18288" marB="18288" anchor="ctr">
                    <a:solidFill>
                      <a:srgbClr val="EEF6F9"/>
                    </a:solidFill>
                  </a:tcPr>
                </a:tc>
                <a:tc>
                  <a:txBody>
                    <a:bodyPr/>
                    <a:lstStyle/>
                    <a:p>
                      <a:pPr algn="r"/>
                      <a:r>
                        <a:rPr sz="1050" b="0" i="0">
                          <a:solidFill>
                            <a:srgbClr val="0D3C4C"/>
                          </a:solidFill>
                          <a:latin typeface="Nanum Gothic"/>
                        </a:rPr>
                        <a:t>2,461</a:t>
                      </a:r>
                    </a:p>
                  </a:txBody>
                  <a:tcPr marT="18288" marB="18288" anchor="ctr">
                    <a:solidFill>
                      <a:srgbClr val="EEF6F9"/>
                    </a:solidFill>
                  </a:tcPr>
                </a:tc>
                <a:tc>
                  <a:txBody>
                    <a:bodyPr/>
                    <a:lstStyle/>
                    <a:p>
                      <a:pPr algn="r"/>
                      <a:r>
                        <a:rPr sz="1050" b="0" i="0">
                          <a:solidFill>
                            <a:srgbClr val="0D3C4C"/>
                          </a:solidFill>
                          <a:latin typeface="Nanum Gothic"/>
                        </a:rPr>
                        <a:t>67.9%</a:t>
                      </a:r>
                    </a:p>
                  </a:txBody>
                  <a:tcPr marT="18288" marB="18288" anchor="ctr">
                    <a:solidFill>
                      <a:srgbClr val="EEF6F9"/>
                    </a:solidFill>
                  </a:tcPr>
                </a:tc>
                <a:tc>
                  <a:txBody>
                    <a:bodyPr/>
                    <a:lstStyle/>
                    <a:p>
                      <a:pPr algn="r"/>
                      <a:r>
                        <a:rPr sz="1050" b="0" i="0">
                          <a:solidFill>
                            <a:srgbClr val="0D3C4C"/>
                          </a:solidFill>
                          <a:latin typeface="Nanum Gothic"/>
                        </a:rPr>
                        <a:t>66.5%</a:t>
                      </a:r>
                    </a:p>
                  </a:txBody>
                  <a:tcPr marT="18288" marB="18288" anchor="ctr">
                    <a:solidFill>
                      <a:srgbClr val="EEF6F9"/>
                    </a:solidFill>
                  </a:tcPr>
                </a:tc>
                <a:tc>
                  <a:txBody>
                    <a:bodyPr/>
                    <a:lstStyle/>
                    <a:p>
                      <a:pPr algn="r"/>
                      <a:r>
                        <a:rPr sz="1050" b="0" i="0">
                          <a:solidFill>
                            <a:srgbClr val="0D3C4C"/>
                          </a:solidFill>
                          <a:latin typeface="Nanum Gothic"/>
                        </a:rPr>
                        <a:t>0.718 (0.696-0.740)</a:t>
                      </a:r>
                    </a:p>
                  </a:txBody>
                  <a:tcPr marT="18288" marB="18288" anchor="ctr">
                    <a:solidFill>
                      <a:srgbClr val="EEF6F9"/>
                    </a:solidFill>
                  </a:tcPr>
                </a:tc>
                <a:tc>
                  <a:txBody>
                    <a:bodyPr/>
                    <a:lstStyle/>
                    <a:p>
                      <a:pPr algn="r"/>
                      <a:r>
                        <a:rPr sz="1050" b="0" i="0">
                          <a:solidFill>
                            <a:srgbClr val="0D3C4C"/>
                          </a:solidFill>
                          <a:latin typeface="Nanum Gothic"/>
                        </a:rPr>
                        <a:t>0.681</a:t>
                      </a:r>
                    </a:p>
                  </a:txBody>
                  <a:tcPr marT="18288" marB="18288" anchor="ctr">
                    <a:solidFill>
                      <a:srgbClr val="EEF6F9"/>
                    </a:solidFill>
                  </a:tcPr>
                </a:tc>
                <a:tc>
                  <a:txBody>
                    <a:bodyPr/>
                    <a:lstStyle/>
                    <a:p>
                      <a:pPr algn="r"/>
                      <a:r>
                        <a:rPr sz="1050" b="0" i="0">
                          <a:solidFill>
                            <a:srgbClr val="0D3C4C"/>
                          </a:solidFill>
                          <a:latin typeface="Nanum Gothic"/>
                        </a:rPr>
                        <a:t>88.1%</a:t>
                      </a:r>
                    </a:p>
                  </a:txBody>
                  <a:tcPr marT="18288" marB="18288" anchor="ctr">
                    <a:solidFill>
                      <a:srgbClr val="EEF6F9"/>
                    </a:solidFill>
                  </a:tcPr>
                </a:tc>
                <a:tc>
                  <a:txBody>
                    <a:bodyPr/>
                    <a:lstStyle/>
                    <a:p>
                      <a:pPr algn="r"/>
                      <a:r>
                        <a:rPr sz="1050" b="0" i="0">
                          <a:solidFill>
                            <a:srgbClr val="0D3C4C"/>
                          </a:solidFill>
                          <a:latin typeface="Nanum Gothic"/>
                        </a:rPr>
                        <a:t>34.7%</a:t>
                      </a:r>
                    </a:p>
                  </a:txBody>
                  <a:tcPr marT="18288" marB="18288" anchor="ctr">
                    <a:solidFill>
                      <a:srgbClr val="EEF6F9"/>
                    </a:solidFill>
                  </a:tcPr>
                </a:tc>
              </a:tr>
              <a:tr h="347472">
                <a:tc>
                  <a:txBody>
                    <a:bodyPr/>
                    <a:lstStyle/>
                    <a:p>
                      <a:pPr algn="l"/>
                      <a:r>
                        <a:rPr sz="1050" b="0" i="0">
                          <a:solidFill>
                            <a:srgbClr val="0D3C4C"/>
                          </a:solidFill>
                          <a:latin typeface="Nanum Gothic"/>
                        </a:rPr>
                        <a:t>Everyone</a:t>
                      </a:r>
                    </a:p>
                  </a:txBody>
                  <a:tcPr marT="18288" marB="18288" anchor="ctr">
                    <a:solidFill>
                      <a:srgbClr val="FFFFFF"/>
                    </a:solidFill>
                  </a:tcPr>
                </a:tc>
                <a:tc>
                  <a:txBody>
                    <a:bodyPr/>
                    <a:lstStyle/>
                    <a:p>
                      <a:pPr algn="r"/>
                      <a:r>
                        <a:rPr sz="1050" b="0" i="0">
                          <a:solidFill>
                            <a:srgbClr val="0D3C4C"/>
                          </a:solidFill>
                          <a:latin typeface="Nanum Gothic"/>
                        </a:rPr>
                        <a:t>13,722</a:t>
                      </a:r>
                    </a:p>
                  </a:txBody>
                  <a:tcPr marT="18288" marB="18288" anchor="ctr">
                    <a:solidFill>
                      <a:srgbClr val="FFFFFF"/>
                    </a:solidFill>
                  </a:tcPr>
                </a:tc>
                <a:tc>
                  <a:txBody>
                    <a:bodyPr/>
                    <a:lstStyle/>
                    <a:p>
                      <a:pPr algn="r"/>
                      <a:r>
                        <a:rPr sz="1050" b="0" i="0">
                          <a:solidFill>
                            <a:srgbClr val="0D3C4C"/>
                          </a:solidFill>
                          <a:latin typeface="Nanum Gothic"/>
                        </a:rPr>
                        <a:t>49.4%</a:t>
                      </a:r>
                    </a:p>
                  </a:txBody>
                  <a:tcPr marT="18288" marB="18288" anchor="ctr">
                    <a:solidFill>
                      <a:srgbClr val="FFFFFF"/>
                    </a:solidFill>
                  </a:tcPr>
                </a:tc>
                <a:tc>
                  <a:txBody>
                    <a:bodyPr/>
                    <a:lstStyle/>
                    <a:p>
                      <a:pPr algn="r"/>
                      <a:r>
                        <a:rPr sz="1050" b="0" i="0">
                          <a:solidFill>
                            <a:srgbClr val="0D3C4C"/>
                          </a:solidFill>
                          <a:latin typeface="Nanum Gothic"/>
                        </a:rPr>
                        <a:t>49.4%</a:t>
                      </a:r>
                    </a:p>
                  </a:txBody>
                  <a:tcPr marT="18288" marB="18288" anchor="ctr">
                    <a:solidFill>
                      <a:srgbClr val="FFFFFF"/>
                    </a:solidFill>
                  </a:tcPr>
                </a:tc>
                <a:tc>
                  <a:txBody>
                    <a:bodyPr/>
                    <a:lstStyle/>
                    <a:p>
                      <a:pPr algn="r"/>
                      <a:r>
                        <a:rPr sz="1050" b="0" i="0">
                          <a:solidFill>
                            <a:srgbClr val="0D3C4C"/>
                          </a:solidFill>
                          <a:latin typeface="Nanum Gothic"/>
                        </a:rPr>
                        <a:t>0.804 (0.797-0.811)</a:t>
                      </a:r>
                    </a:p>
                  </a:txBody>
                  <a:tcPr marT="18288" marB="18288" anchor="ctr">
                    <a:solidFill>
                      <a:srgbClr val="FFFFFF"/>
                    </a:solidFill>
                  </a:tcPr>
                </a:tc>
                <a:tc>
                  <a:txBody>
                    <a:bodyPr/>
                    <a:lstStyle/>
                    <a:p>
                      <a:pPr algn="r"/>
                      <a:r>
                        <a:rPr sz="1050" b="0" i="0">
                          <a:solidFill>
                            <a:srgbClr val="0D3C4C"/>
                          </a:solidFill>
                          <a:latin typeface="Nanum Gothic"/>
                        </a:rPr>
                        <a:t>0.754</a:t>
                      </a:r>
                    </a:p>
                  </a:txBody>
                  <a:tcPr marT="18288" marB="18288" anchor="ctr">
                    <a:solidFill>
                      <a:srgbClr val="FFFFFF"/>
                    </a:solidFill>
                  </a:tcPr>
                </a:tc>
                <a:tc>
                  <a:txBody>
                    <a:bodyPr/>
                    <a:lstStyle/>
                    <a:p>
                      <a:pPr algn="r"/>
                      <a:r>
                        <a:rPr sz="1050" b="0" i="0">
                          <a:solidFill>
                            <a:srgbClr val="0D3C4C"/>
                          </a:solidFill>
                          <a:latin typeface="Nanum Gothic"/>
                        </a:rPr>
                        <a:t>68.9%</a:t>
                      </a:r>
                    </a:p>
                  </a:txBody>
                  <a:tcPr marT="18288" marB="18288" anchor="ctr">
                    <a:solidFill>
                      <a:srgbClr val="FFFFFF"/>
                    </a:solidFill>
                  </a:tcPr>
                </a:tc>
                <a:tc>
                  <a:txBody>
                    <a:bodyPr/>
                    <a:lstStyle/>
                    <a:p>
                      <a:pPr algn="r"/>
                      <a:r>
                        <a:rPr sz="1050" b="0" i="0">
                          <a:solidFill>
                            <a:srgbClr val="0D3C4C"/>
                          </a:solidFill>
                          <a:latin typeface="Nanum Gothic"/>
                        </a:rPr>
                        <a:t>78.2%</a:t>
                      </a:r>
                    </a:p>
                  </a:txBody>
                  <a:tcPr marT="18288" marB="18288" anchor="ctr">
                    <a:solidFill>
                      <a:srgbClr val="FFFFFF"/>
                    </a:solidFill>
                  </a:tcPr>
                </a:tc>
              </a:tr>
            </a:tbl>
          </a:graphicData>
        </a:graphic>
      </p:graphicFrame>
      <p:sp>
        <p:nvSpPr>
          <p:cNvPr id="4" name="TextBox 3"/>
          <p:cNvSpPr txBox="1"/>
          <p:nvPr/>
        </p:nvSpPr>
        <p:spPr>
          <a:xfrm>
            <a:off x="722376" y="3840480"/>
            <a:ext cx="7708392" cy="731520"/>
          </a:xfrm>
          <a:prstGeom prst="rect">
            <a:avLst/>
          </a:prstGeom>
          <a:noFill/>
        </p:spPr>
        <p:txBody>
          <a:bodyPr wrap="square" anchor="t" lIns="0" rIns="0" tIns="0" bIns="0">
            <a:spAutoFit/>
          </a:bodyPr>
          <a:lstStyle/>
          <a:p>
            <a:pPr algn="l"/>
            <a:r>
              <a:rPr sz="1050" b="0" i="0">
                <a:solidFill>
                  <a:srgbClr val="4F6A73"/>
                </a:solidFill>
                <a:latin typeface="Nanum Gothic"/>
              </a:rPr>
              <a:t>AUC, men minus women: +0.005 (95% CI -0.011 to +0.020). "Predicted" is the mean predicted risk (calibration-in-the-large).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ild Meningitis Case Study by Slidesgo">
  <a:themeElements>
    <a:clrScheme name="Simple Light">
      <a:dk1>
        <a:srgbClr val="0D3C4C"/>
      </a:dk1>
      <a:lt1>
        <a:srgbClr val="FFFFFF"/>
      </a:lt1>
      <a:dk2>
        <a:srgbClr val="E05A4F"/>
      </a:dk2>
      <a:lt2>
        <a:srgbClr val="99D0E2"/>
      </a:lt2>
      <a:accent1>
        <a:srgbClr val="ADBAC1"/>
      </a:accent1>
      <a:accent2>
        <a:srgbClr val="ADD9E8"/>
      </a:accent2>
      <a:accent3>
        <a:srgbClr val="FFFFFF"/>
      </a:accent3>
      <a:accent4>
        <a:srgbClr val="FFFFFF"/>
      </a:accent4>
      <a:accent5>
        <a:srgbClr val="FFFFFF"/>
      </a:accent5>
      <a:accent6>
        <a:srgbClr val="FFFFFF"/>
      </a:accent6>
      <a:hlink>
        <a:srgbClr val="14576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