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56" r:id="rId35"/>
    <p:sldId id="257" r:id="rId36"/>
    <p:sldId id="258" r:id="rId37"/>
    <p:sldId id="259" r:id="rId38"/>
    <p:sldId id="260" r:id="rId39"/>
    <p:sldId id="261" r:id="rId40"/>
    <p:sldId id="262" r:id="rId41"/>
    <p:sldId id="263" r:id="rId42"/>
    <p:sldId id="264" r:id="rId43"/>
    <p:sldId id="265" r:id="rId44"/>
    <p:sldId id="266" r:id="rId45"/>
    <p:sldId id="267" r:id="rId46"/>
    <p:sldId id="268" r:id="rId34"/>
    <p:sldId id="269" r:id="rId33"/>
    <p:sldId id="270" r:id="rId32"/>
    <p:sldId id="271" r:id="rId31"/>
    <p:sldId id="272" r:id="rId30"/>
    <p:sldId id="273" r:id="rId29"/>
  </p:sldIdLst>
  <p:sldSz cy="5143500" cx="9144000"/>
  <p:notesSz cx="6858000" cy="9144000"/>
  <p:embeddedFontLst>
    <p:embeddedFont>
      <p:font typeface="Raleway"/>
      <p:regular r:id="rId47"/>
      <p:bold r:id="rId48"/>
      <p:italic r:id="rId49"/>
      <p:boldItalic r:id="rId50"/>
    </p:embeddedFont>
    <p:embeddedFont>
      <p:font typeface="Proxima Nova"/>
      <p:regular r:id="rId51"/>
      <p:bold r:id="rId52"/>
      <p:italic r:id="rId53"/>
      <p:boldItalic r:id="rId54"/>
    </p:embeddedFont>
    <p:embeddedFont>
      <p:font typeface="Roboto Medium"/>
      <p:regular r:id="rId55"/>
      <p:bold r:id="rId56"/>
      <p:italic r:id="rId57"/>
      <p:boldItalic r:id="rId58"/>
    </p:embeddedFont>
    <p:embeddedFont>
      <p:font typeface="Amatic SC"/>
      <p:regular r:id="rId59"/>
      <p:bold r:id="rId60"/>
    </p:embeddedFont>
    <p:embeddedFont>
      <p:font typeface="Cabin"/>
      <p:regular r:id="rId61"/>
      <p:bold r:id="rId62"/>
      <p:italic r:id="rId63"/>
      <p:boldItalic r:id="rId64"/>
    </p:embeddedFont>
    <p:embeddedFont>
      <p:font typeface="Paytone One"/>
      <p:regular r:id="rId65"/>
    </p:embeddedFont>
    <p:embeddedFont>
      <p:font typeface="Proxima Nova Semibold"/>
      <p:regular r:id="rId66"/>
      <p:bold r:id="rId67"/>
      <p:boldItalic r:id="rId68"/>
    </p:embeddedFont>
    <p:embeddedFont>
      <p:font typeface="Nanum Gothic"/>
      <p:regular r:id="rId69"/>
      <p:bold r:id="rId70"/>
    </p:embeddedFont>
    <p:embeddedFont>
      <p:font typeface="Open Sans"/>
      <p:regular r:id="rId71"/>
      <p:bold r:id="rId72"/>
      <p:italic r:id="rId73"/>
      <p:boldItalic r:id="rId7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360676-FC1D-4813-9C7A-D1655A5118BE}">
  <a:tblStyle styleId="{51360676-FC1D-4813-9C7A-D1655A5118B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4B207771-6E49-4809-92DE-D7EDE40BEC60}" styleName="Table_1">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18.xml"/><Relationship Id="rId30" Type="http://schemas.openxmlformats.org/officeDocument/2006/relationships/slide" Target="slides/slide17.xml"/><Relationship Id="rId31" Type="http://schemas.openxmlformats.org/officeDocument/2006/relationships/slide" Target="slides/slide16.xml"/><Relationship Id="rId32" Type="http://schemas.openxmlformats.org/officeDocument/2006/relationships/slide" Target="slides/slide15.xml"/><Relationship Id="rId33" Type="http://schemas.openxmlformats.org/officeDocument/2006/relationships/slide" Target="slides/slide14.xml"/><Relationship Id="rId34" Type="http://schemas.openxmlformats.org/officeDocument/2006/relationships/slide" Target="slides/slide13.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font" Target="fonts/Raleway-regular.fntdata"/><Relationship Id="rId48" Type="http://schemas.openxmlformats.org/officeDocument/2006/relationships/font" Target="fonts/Raleway-bold.fntdata"/><Relationship Id="rId49" Type="http://schemas.openxmlformats.org/officeDocument/2006/relationships/font" Target="fonts/Raleway-italic.fntdata"/><Relationship Id="rId50" Type="http://schemas.openxmlformats.org/officeDocument/2006/relationships/font" Target="fonts/Raleway-boldItalic.fntdata"/><Relationship Id="rId51" Type="http://schemas.openxmlformats.org/officeDocument/2006/relationships/font" Target="fonts/ProximaNova-regular.fntdata"/><Relationship Id="rId52" Type="http://schemas.openxmlformats.org/officeDocument/2006/relationships/font" Target="fonts/ProximaNova-bold.fntdata"/><Relationship Id="rId53" Type="http://schemas.openxmlformats.org/officeDocument/2006/relationships/font" Target="fonts/ProximaNova-italic.fntdata"/><Relationship Id="rId54" Type="http://schemas.openxmlformats.org/officeDocument/2006/relationships/font" Target="fonts/ProximaNova-boldItalic.fntdata"/><Relationship Id="rId55" Type="http://schemas.openxmlformats.org/officeDocument/2006/relationships/font" Target="fonts/RobotoMedium-regular.fntdata"/><Relationship Id="rId56" Type="http://schemas.openxmlformats.org/officeDocument/2006/relationships/font" Target="fonts/RobotoMedium-bold.fntdata"/><Relationship Id="rId57" Type="http://schemas.openxmlformats.org/officeDocument/2006/relationships/font" Target="fonts/RobotoMedium-italic.fntdata"/><Relationship Id="rId58" Type="http://schemas.openxmlformats.org/officeDocument/2006/relationships/font" Target="fonts/RobotoMedium-boldItalic.fntdata"/><Relationship Id="rId59" Type="http://schemas.openxmlformats.org/officeDocument/2006/relationships/font" Target="fonts/AmaticSC-regular.fntdata"/><Relationship Id="rId60" Type="http://schemas.openxmlformats.org/officeDocument/2006/relationships/font" Target="fonts/AmaticSC-bold.fntdata"/><Relationship Id="rId61" Type="http://schemas.openxmlformats.org/officeDocument/2006/relationships/font" Target="fonts/Cabin-regular.fntdata"/><Relationship Id="rId62" Type="http://schemas.openxmlformats.org/officeDocument/2006/relationships/font" Target="fonts/Cabin-bold.fntdata"/><Relationship Id="rId63" Type="http://schemas.openxmlformats.org/officeDocument/2006/relationships/font" Target="fonts/Cabin-italic.fntdata"/><Relationship Id="rId64" Type="http://schemas.openxmlformats.org/officeDocument/2006/relationships/font" Target="fonts/Cabin-boldItalic.fntdata"/><Relationship Id="rId65" Type="http://schemas.openxmlformats.org/officeDocument/2006/relationships/font" Target="fonts/PaytoneOne-regular.fntdata"/><Relationship Id="rId66" Type="http://schemas.openxmlformats.org/officeDocument/2006/relationships/font" Target="fonts/ProximaNovaSemibold-regular.fntdata"/><Relationship Id="rId67" Type="http://schemas.openxmlformats.org/officeDocument/2006/relationships/font" Target="fonts/ProximaNovaSemibold-bold.fntdata"/><Relationship Id="rId68" Type="http://schemas.openxmlformats.org/officeDocument/2006/relationships/font" Target="fonts/ProximaNovaSemibold-boldItalic.fntdata"/><Relationship Id="rId69" Type="http://schemas.openxmlformats.org/officeDocument/2006/relationships/font" Target="fonts/NanumGothic-regular.fntdata"/><Relationship Id="rId70" Type="http://schemas.openxmlformats.org/officeDocument/2006/relationships/font" Target="fonts/NanumGothic-bold.fntdata"/><Relationship Id="rId71" Type="http://schemas.openxmlformats.org/officeDocument/2006/relationships/font" Target="fonts/OpenSans-regular.fntdata"/><Relationship Id="rId72" Type="http://schemas.openxmlformats.org/officeDocument/2006/relationships/font" Target="fonts/OpenSans-bold.fntdata"/><Relationship Id="rId73" Type="http://schemas.openxmlformats.org/officeDocument/2006/relationships/font" Target="fonts/OpenSans-italic.fntdata"/><Relationship Id="rId74"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morning. My project is topic two, patient's sickness prediction. The question is simple: from the values a doctor records at a routine check-up, can a model tell whether a patient has cardiovascular disease? And just as important: how good is it really, compared with what doctors already use?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Cardiovascular diseases are the world's leading cause of death: about 17.9 million people a year. Many of those deaths can be delayed if patients at risk are found early. So the objective is a model that uses one examination's values to detect the disease. Three questions guide the evaluation. First, what does machine learning add over what a doctor already has: a blood-pressure threshold and a standard risk score? Second, how much do data-handling choices change the result? Third, can the predictions be trusted?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dataset has seventy thousand patients. For each, eleven values: age, sex, height, weight, the two blood-pressure readings, cholesterol and glucose in three levels, and three yes-or-no answers about smoking, alcohol and physical activity. Half the patients have cardiovascular disease. Two warnings from the start: we don't know where the data comes from, and we don't know how disease was defined. I come back to both at the end.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first finding came before any model. About two percent of the records hold blood pressures no living person can have: sixteen thousand, minus one hundred and fifty, zero. They are not random. Most are typing errors with a pattern: an extra zero, centimetres of mercury instead of millimetres, a stray minus sign, or the two readings swapped. I compared dropping these records with repairing them by rule. Either way the effect is dramatic: in the raw data systolic pressure barely correlates with the diagnosis, 0.05. After cleaning it is the strongest predictor, 0.43.</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the clean data, on the training patients only. The disease rate climbs steadily with systolic pressure, from about a quarter below 120 to 86 percent at 160 and above. It almost triples with age, rises with weight, and three quarters of patients with very high cholesterol have the disease. The lifestyle answers barely move it, and two point the wrong way: smokers and drinkers have slightly less disease.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is the smoking paradox. Smoking causes heart disease, so I checked for a confounder. Almost only men smoke in this data, so I compared within men, age group by age group. The paradox survives: smokers have less disease at every age. The likely reason is how the data was collected. Diagnosis and answers come from the same visit, and patients who were diagnosed have usually been told to quit. Two consequences: this is detection of existing disease, not prediction of future disease, and every effect we find is an association, not a cause.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models. Everything was tuned with five-fold cross-validation on the training patients, and these accuracies are on 13,722 test patients the models never saw. At the bottom, the Framingham score as published: 64.6 percent. It was built for a different question, a first event within ten years, and it does not transfer. The guideline rule, systolic at least 130, already gets 71.3. Logistic regression 72.6. Random forest, the neural network and gradient boosting are tied, around 73.5. The best is gradient boosting: 73.6 percent, AUC 0.804. Machine learning helps, but by about two points.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unseen patients, gradient boosting reaches an AUC of 0.804, with a confidence interval from 0.797 to 0.811, and 73.6 percent accuracy, the same as in cross-validation, so it did not overfit. The most concrete way to see the gain: at exactly the rule's specificity, the model finds 301 more of the 6,785 diseased patients. And the learning curve is flat, so more data of the same kind would not help: the ceiling is set by what the examination records.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does the model rely on? Scramble the blood-pressure features and the AUC drops by 0.21. Age and cholesterol follow, at 0.036 and 0.030. Glucose, the lifestyle answers and sex add almost nothing. The shape matters too: predicted risk stays around a third below 125, jumps to 84 percent by 150, and then stays flat. It works like a switch at the guideline's thresholds, which is exactly what a straight-line model cannot capture.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Since the gains are small, I also built something a doctor can use with a pen. Four factors, and each band earns whole points: age, systolic pressure, BMI and cholesterol. I left out the lifestyle answers, because in this data they would earn negative points, and no one can hand out a score that rewards smoking. Add up the points and the total maps to a risk. This card reaches an AUC of 0.793, the same as logistic regression on all fifteen features, and only 0.011 below the best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 to the second question. Papers on this same dataset report 88 and even 94.5 percent. I reproduced three common mistakes. Choosing the luckiest of 50 random splits barely matters: 73.4. Oversampling with SMOTE before splitting puts near-copies of training patients into the test set: 86.7 percent. Scoring a model on its own training patients gives 99.9. Same data, same models, only the evaluation changed. I cannot know what those papers did, but on this data an accuracy far above 74 percent should be read as a sign of leakage.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Third question: can the risks be trusted? The model is well calibrated: patients given 20 percent have the disease about 20 percent of the time. Women and men are served equally. It is weaker for patients over 60, an AUC of 0.72 against 0.84 under 50, because most older patients have high pressure and most have the disease. And in a check-up population where one patient in five is sick, only 44 percent of flagged patients would really have it. So a positive result means: worth a closer look, not a diagnosis.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last section of the notebook turns the model into a check of a new patient. It saves the model, then assesses an examination in two lines. It rejects impossible readings, with the same rules as the cleaning, and returns the risk, the verdict at two cut-offs, one for accuracy and one for screening, and the clinical points with their breakdown. Here a 62-year-old man with stage 2 hypertension and high cholesterol gets 87 percent.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conclude. Machine learning adds something real but small: two points over the guideline rule, and the ceiling of about 74 percent is set by the data. Data handling matters more than the algorithm: cleaning rescues linear models, and leakage can manufacture almost any accuracy. And the predictions are trustworthy within limits. The main limitations: this detects existing disease and cannot forecast, the data's source and diagnosis definition are unknown, and treatment is not recorded. The next step would be data from a known clinic, followed over time.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I am happy to take questions.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Every candidate scored once on the test patients, with bootstrap intervals for the AUC and the cross-validated AUC for comparison. Gradient boosting's lead over random forest and the neural network is under 0.002: statistically detectable, clinically meaningless.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Gradient boosting is unaffected by the cleaning strategy; logistic regression loses 0.017 AUC on the raw data. Repairing and dropping give the same result.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Calibrated in every group: the mean predicted risk is within 1.5 points of the observed share. Discrimination falls with age, and at the 0.5 cut-off older patients are mostly flagged.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10" name="Google Shape;10;p2"/>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1" name="Google Shape;11;p2"/>
          <p:cNvGrpSpPr/>
          <p:nvPr/>
        </p:nvGrpSpPr>
        <p:grpSpPr>
          <a:xfrm>
            <a:off x="7858386" y="4140601"/>
            <a:ext cx="1617386" cy="1624770"/>
            <a:chOff x="3992334" y="189904"/>
            <a:chExt cx="1116902" cy="1122001"/>
          </a:xfrm>
        </p:grpSpPr>
        <p:sp>
          <p:nvSpPr>
            <p:cNvPr id="12" name="Google Shape;12;p2"/>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 name="Google Shape;23;p2"/>
          <p:cNvGrpSpPr/>
          <p:nvPr/>
        </p:nvGrpSpPr>
        <p:grpSpPr>
          <a:xfrm>
            <a:off x="-45478" y="4162264"/>
            <a:ext cx="1105788" cy="1058857"/>
            <a:chOff x="4252810" y="2035226"/>
            <a:chExt cx="624951" cy="598394"/>
          </a:xfrm>
        </p:grpSpPr>
        <p:sp>
          <p:nvSpPr>
            <p:cNvPr id="24" name="Google Shape;24;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 name="Google Shape;66;p2"/>
          <p:cNvGrpSpPr/>
          <p:nvPr/>
        </p:nvGrpSpPr>
        <p:grpSpPr>
          <a:xfrm>
            <a:off x="8864897" y="97489"/>
            <a:ext cx="1105788" cy="1058857"/>
            <a:chOff x="4252810" y="2035226"/>
            <a:chExt cx="624951" cy="598394"/>
          </a:xfrm>
        </p:grpSpPr>
        <p:sp>
          <p:nvSpPr>
            <p:cNvPr id="67" name="Google Shape;67;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 name="Google Shape;109;p2"/>
          <p:cNvSpPr txBox="1"/>
          <p:nvPr>
            <p:ph type="ctrTitle"/>
          </p:nvPr>
        </p:nvSpPr>
        <p:spPr>
          <a:xfrm>
            <a:off x="1816292" y="1292400"/>
            <a:ext cx="5511300" cy="2068500"/>
          </a:xfrm>
          <a:prstGeom prst="rect">
            <a:avLst/>
          </a:prstGeom>
        </p:spPr>
        <p:txBody>
          <a:bodyPr anchorCtr="0" anchor="b" bIns="91425" lIns="91425" spcFirstLastPara="1" rIns="91425" wrap="square" tIns="91425">
            <a:noAutofit/>
          </a:bodyPr>
          <a:lstStyle>
            <a:lvl1pPr lvl="0" algn="ctr">
              <a:lnSpc>
                <a:spcPct val="90000"/>
              </a:lnSpc>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10" name="Google Shape;110;p2"/>
          <p:cNvSpPr txBox="1"/>
          <p:nvPr>
            <p:ph idx="1" type="subTitle"/>
          </p:nvPr>
        </p:nvSpPr>
        <p:spPr>
          <a:xfrm>
            <a:off x="1816408" y="3441600"/>
            <a:ext cx="5511300" cy="409500"/>
          </a:xfrm>
          <a:prstGeom prst="rect">
            <a:avLst/>
          </a:prstGeom>
          <a:solidFill>
            <a:schemeClr val="accent2"/>
          </a:solidFill>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b="1"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11" name="Shape 111"/>
        <p:cNvGrpSpPr/>
        <p:nvPr/>
      </p:nvGrpSpPr>
      <p:grpSpPr>
        <a:xfrm>
          <a:off x="0" y="0"/>
          <a:ext cx="0" cy="0"/>
          <a:chOff x="0" y="0"/>
          <a:chExt cx="0" cy="0"/>
        </a:xfrm>
      </p:grpSpPr>
      <p:sp>
        <p:nvSpPr>
          <p:cNvPr id="112" name="Google Shape;112;p3"/>
          <p:cNvSpPr txBox="1"/>
          <p:nvPr>
            <p:ph type="title"/>
          </p:nvPr>
        </p:nvSpPr>
        <p:spPr>
          <a:xfrm>
            <a:off x="3603825" y="2570950"/>
            <a:ext cx="4830300" cy="1023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3" name="Google Shape;113;p3"/>
          <p:cNvSpPr txBox="1"/>
          <p:nvPr>
            <p:ph hasCustomPrompt="1" idx="2" type="title"/>
          </p:nvPr>
        </p:nvSpPr>
        <p:spPr>
          <a:xfrm>
            <a:off x="5334539" y="1549550"/>
            <a:ext cx="1368900" cy="8418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6000">
                <a:solidFill>
                  <a:schemeClr val="dk2"/>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14" name="Google Shape;114;p3"/>
          <p:cNvSpPr/>
          <p:nvPr>
            <p:ph idx="3" type="pic"/>
          </p:nvPr>
        </p:nvSpPr>
        <p:spPr>
          <a:xfrm>
            <a:off x="715100" y="511400"/>
            <a:ext cx="3341100" cy="4097100"/>
          </a:xfrm>
          <a:prstGeom prst="round2SameRect">
            <a:avLst>
              <a:gd fmla="val 16667" name="adj1"/>
              <a:gd fmla="val 0" name="adj2"/>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17" name="Google Shape;117;p4"/>
          <p:cNvSpPr txBox="1"/>
          <p:nvPr>
            <p:ph idx="1" type="body"/>
          </p:nvPr>
        </p:nvSpPr>
        <p:spPr>
          <a:xfrm>
            <a:off x="720000" y="1000075"/>
            <a:ext cx="7704000" cy="353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Clr>
                <a:srgbClr val="434343"/>
              </a:buClr>
              <a:buSzPts val="1400"/>
              <a:buChar char="●"/>
              <a:defRPr b="1"/>
            </a:lvl1pPr>
            <a:lvl2pPr indent="-304800" lvl="1" marL="914400" rtl="0">
              <a:lnSpc>
                <a:spcPct val="115000"/>
              </a:lnSpc>
              <a:spcBef>
                <a:spcPts val="0"/>
              </a:spcBef>
              <a:spcAft>
                <a:spcPts val="0"/>
              </a:spcAft>
              <a:buClr>
                <a:srgbClr val="434343"/>
              </a:buClr>
              <a:buSzPts val="1200"/>
              <a:buChar char="○"/>
              <a:defRPr>
                <a:solidFill>
                  <a:srgbClr val="434343"/>
                </a:solidFill>
              </a:defRPr>
            </a:lvl2pPr>
            <a:lvl3pPr indent="-304800" lvl="2" marL="1371600" rtl="0">
              <a:lnSpc>
                <a:spcPct val="115000"/>
              </a:lnSpc>
              <a:spcBef>
                <a:spcPts val="0"/>
              </a:spcBef>
              <a:spcAft>
                <a:spcPts val="0"/>
              </a:spcAft>
              <a:buClr>
                <a:srgbClr val="434343"/>
              </a:buClr>
              <a:buSzPts val="1200"/>
              <a:buChar char="■"/>
              <a:defRPr>
                <a:solidFill>
                  <a:srgbClr val="434343"/>
                </a:solidFill>
              </a:defRPr>
            </a:lvl3pPr>
            <a:lvl4pPr indent="-304800" lvl="3" marL="1828800" rtl="0">
              <a:lnSpc>
                <a:spcPct val="115000"/>
              </a:lnSpc>
              <a:spcBef>
                <a:spcPts val="0"/>
              </a:spcBef>
              <a:spcAft>
                <a:spcPts val="0"/>
              </a:spcAft>
              <a:buClr>
                <a:srgbClr val="434343"/>
              </a:buClr>
              <a:buSzPts val="1200"/>
              <a:buChar char="●"/>
              <a:defRPr>
                <a:solidFill>
                  <a:srgbClr val="434343"/>
                </a:solidFill>
              </a:defRPr>
            </a:lvl4pPr>
            <a:lvl5pPr indent="-304800" lvl="4" marL="2286000" rtl="0">
              <a:lnSpc>
                <a:spcPct val="115000"/>
              </a:lnSpc>
              <a:spcBef>
                <a:spcPts val="0"/>
              </a:spcBef>
              <a:spcAft>
                <a:spcPts val="0"/>
              </a:spcAft>
              <a:buClr>
                <a:srgbClr val="434343"/>
              </a:buClr>
              <a:buSzPts val="1200"/>
              <a:buChar char="○"/>
              <a:defRPr>
                <a:solidFill>
                  <a:srgbClr val="434343"/>
                </a:solidFill>
              </a:defRPr>
            </a:lvl5pPr>
            <a:lvl6pPr indent="-304800" lvl="5" marL="2743200" rtl="0">
              <a:lnSpc>
                <a:spcPct val="115000"/>
              </a:lnSpc>
              <a:spcBef>
                <a:spcPts val="0"/>
              </a:spcBef>
              <a:spcAft>
                <a:spcPts val="0"/>
              </a:spcAft>
              <a:buClr>
                <a:srgbClr val="434343"/>
              </a:buClr>
              <a:buSzPts val="1200"/>
              <a:buChar char="■"/>
              <a:defRPr>
                <a:solidFill>
                  <a:srgbClr val="434343"/>
                </a:solidFill>
              </a:defRPr>
            </a:lvl6pPr>
            <a:lvl7pPr indent="-304800" lvl="6" marL="3200400" rtl="0">
              <a:lnSpc>
                <a:spcPct val="115000"/>
              </a:lnSpc>
              <a:spcBef>
                <a:spcPts val="0"/>
              </a:spcBef>
              <a:spcAft>
                <a:spcPts val="0"/>
              </a:spcAft>
              <a:buClr>
                <a:srgbClr val="434343"/>
              </a:buClr>
              <a:buSzPts val="1200"/>
              <a:buChar char="●"/>
              <a:defRPr>
                <a:solidFill>
                  <a:srgbClr val="434343"/>
                </a:solidFill>
              </a:defRPr>
            </a:lvl7pPr>
            <a:lvl8pPr indent="-304800" lvl="7" marL="3657600" rtl="0">
              <a:lnSpc>
                <a:spcPct val="115000"/>
              </a:lnSpc>
              <a:spcBef>
                <a:spcPts val="0"/>
              </a:spcBef>
              <a:spcAft>
                <a:spcPts val="0"/>
              </a:spcAft>
              <a:buClr>
                <a:srgbClr val="434343"/>
              </a:buClr>
              <a:buSzPts val="1200"/>
              <a:buChar char="○"/>
              <a:defRPr>
                <a:solidFill>
                  <a:srgbClr val="434343"/>
                </a:solidFill>
              </a:defRPr>
            </a:lvl8pPr>
            <a:lvl9pPr indent="-304800" lvl="8" marL="4114800" rtl="0">
              <a:lnSpc>
                <a:spcPct val="115000"/>
              </a:lnSpc>
              <a:spcBef>
                <a:spcPts val="0"/>
              </a:spcBef>
              <a:spcAft>
                <a:spcPts val="0"/>
              </a:spcAft>
              <a:buClr>
                <a:srgbClr val="434343"/>
              </a:buClr>
              <a:buSzPts val="1200"/>
              <a:buChar char="■"/>
              <a:defRPr>
                <a:solidFill>
                  <a:srgbClr val="434343"/>
                </a:solidFill>
              </a:defRPr>
            </a:lvl9pPr>
          </a:lstStyle>
          <a:p/>
        </p:txBody>
      </p:sp>
      <p:grpSp>
        <p:nvGrpSpPr>
          <p:cNvPr id="118" name="Google Shape;118;p4"/>
          <p:cNvGrpSpPr/>
          <p:nvPr/>
        </p:nvGrpSpPr>
        <p:grpSpPr>
          <a:xfrm>
            <a:off x="-824078" y="4079064"/>
            <a:ext cx="1105788" cy="1058857"/>
            <a:chOff x="4252810" y="2035226"/>
            <a:chExt cx="624951" cy="598394"/>
          </a:xfrm>
        </p:grpSpPr>
        <p:sp>
          <p:nvSpPr>
            <p:cNvPr id="119" name="Google Shape;119;p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1" name="Google Shape;161;p4"/>
          <p:cNvSpPr/>
          <p:nvPr/>
        </p:nvSpPr>
        <p:spPr>
          <a:xfrm rot="10800000">
            <a:off x="7416900" y="-20033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62" name="Shape 162"/>
        <p:cNvGrpSpPr/>
        <p:nvPr/>
      </p:nvGrpSpPr>
      <p:grpSpPr>
        <a:xfrm>
          <a:off x="0" y="0"/>
          <a:ext cx="0" cy="0"/>
          <a:chOff x="0" y="0"/>
          <a:chExt cx="0" cy="0"/>
        </a:xfrm>
      </p:grpSpPr>
      <p:grpSp>
        <p:nvGrpSpPr>
          <p:cNvPr id="163" name="Google Shape;163;p5"/>
          <p:cNvGrpSpPr/>
          <p:nvPr/>
        </p:nvGrpSpPr>
        <p:grpSpPr>
          <a:xfrm>
            <a:off x="6061922" y="4608489"/>
            <a:ext cx="2337963" cy="1058857"/>
            <a:chOff x="867497" y="4760889"/>
            <a:chExt cx="2337963" cy="1058857"/>
          </a:xfrm>
        </p:grpSpPr>
        <p:grpSp>
          <p:nvGrpSpPr>
            <p:cNvPr id="164" name="Google Shape;164;p5"/>
            <p:cNvGrpSpPr/>
            <p:nvPr/>
          </p:nvGrpSpPr>
          <p:grpSpPr>
            <a:xfrm>
              <a:off x="2099672" y="4760889"/>
              <a:ext cx="1105788" cy="1058857"/>
              <a:chOff x="4252810" y="2035226"/>
              <a:chExt cx="624951" cy="598394"/>
            </a:xfrm>
          </p:grpSpPr>
          <p:sp>
            <p:nvSpPr>
              <p:cNvPr id="165" name="Google Shape;165;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 name="Google Shape;207;p5"/>
            <p:cNvGrpSpPr/>
            <p:nvPr/>
          </p:nvGrpSpPr>
          <p:grpSpPr>
            <a:xfrm>
              <a:off x="867497" y="4760889"/>
              <a:ext cx="1105788" cy="1058857"/>
              <a:chOff x="4252810" y="2035226"/>
              <a:chExt cx="624951" cy="598394"/>
            </a:xfrm>
          </p:grpSpPr>
          <p:sp>
            <p:nvSpPr>
              <p:cNvPr id="208" name="Google Shape;208;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50" name="Google Shape;250;p5"/>
          <p:cNvGrpSpPr/>
          <p:nvPr/>
        </p:nvGrpSpPr>
        <p:grpSpPr>
          <a:xfrm>
            <a:off x="-902289" y="1083363"/>
            <a:ext cx="1617386" cy="1624770"/>
            <a:chOff x="3992334" y="189904"/>
            <a:chExt cx="1116902" cy="1122001"/>
          </a:xfrm>
        </p:grpSpPr>
        <p:sp>
          <p:nvSpPr>
            <p:cNvPr id="251" name="Google Shape;251;p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2" name="Google Shape;262;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63" name="Google Shape;263;p5"/>
          <p:cNvSpPr txBox="1"/>
          <p:nvPr>
            <p:ph idx="1" type="subTitle"/>
          </p:nvPr>
        </p:nvSpPr>
        <p:spPr>
          <a:xfrm>
            <a:off x="4923138" y="2574150"/>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4" name="Google Shape;264;p5"/>
          <p:cNvSpPr txBox="1"/>
          <p:nvPr>
            <p:ph idx="2" type="subTitle"/>
          </p:nvPr>
        </p:nvSpPr>
        <p:spPr>
          <a:xfrm>
            <a:off x="1715262" y="2574149"/>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5" name="Google Shape;265;p5"/>
          <p:cNvSpPr txBox="1"/>
          <p:nvPr>
            <p:ph idx="3" type="subTitle"/>
          </p:nvPr>
        </p:nvSpPr>
        <p:spPr>
          <a:xfrm>
            <a:off x="1715262"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266" name="Google Shape;266;p5"/>
          <p:cNvSpPr txBox="1"/>
          <p:nvPr>
            <p:ph idx="4" type="subTitle"/>
          </p:nvPr>
        </p:nvSpPr>
        <p:spPr>
          <a:xfrm>
            <a:off x="4923137"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7" name="Shape 267"/>
        <p:cNvGrpSpPr/>
        <p:nvPr/>
      </p:nvGrpSpPr>
      <p:grpSpPr>
        <a:xfrm>
          <a:off x="0" y="0"/>
          <a:ext cx="0" cy="0"/>
          <a:chOff x="0" y="0"/>
          <a:chExt cx="0" cy="0"/>
        </a:xfrm>
      </p:grpSpPr>
      <p:sp>
        <p:nvSpPr>
          <p:cNvPr id="268" name="Google Shape;26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269" name="Google Shape;269;p6"/>
          <p:cNvGrpSpPr/>
          <p:nvPr/>
        </p:nvGrpSpPr>
        <p:grpSpPr>
          <a:xfrm>
            <a:off x="-961364" y="3518726"/>
            <a:ext cx="1617386" cy="1624770"/>
            <a:chOff x="3992334" y="189904"/>
            <a:chExt cx="1116902" cy="1122001"/>
          </a:xfrm>
        </p:grpSpPr>
        <p:sp>
          <p:nvSpPr>
            <p:cNvPr id="270" name="Google Shape;270;p6"/>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6"/>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6"/>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6"/>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6"/>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6"/>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6"/>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6"/>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6"/>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6"/>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1" name="Google Shape;281;p6"/>
          <p:cNvGrpSpPr/>
          <p:nvPr/>
        </p:nvGrpSpPr>
        <p:grpSpPr>
          <a:xfrm>
            <a:off x="8428897" y="5564"/>
            <a:ext cx="1105788" cy="1058857"/>
            <a:chOff x="4252810" y="2035226"/>
            <a:chExt cx="624951" cy="598394"/>
          </a:xfrm>
        </p:grpSpPr>
        <p:sp>
          <p:nvSpPr>
            <p:cNvPr id="282" name="Google Shape;282;p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4" name="Shape 324"/>
        <p:cNvGrpSpPr/>
        <p:nvPr/>
      </p:nvGrpSpPr>
      <p:grpSpPr>
        <a:xfrm>
          <a:off x="0" y="0"/>
          <a:ext cx="0" cy="0"/>
          <a:chOff x="0" y="0"/>
          <a:chExt cx="0" cy="0"/>
        </a:xfrm>
      </p:grpSpPr>
      <p:sp>
        <p:nvSpPr>
          <p:cNvPr id="325" name="Google Shape;325;p7"/>
          <p:cNvSpPr/>
          <p:nvPr/>
        </p:nvSpPr>
        <p:spPr>
          <a:xfrm rot="10800000">
            <a:off x="8603150" y="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326" name="Google Shape;326;p7"/>
          <p:cNvGrpSpPr/>
          <p:nvPr/>
        </p:nvGrpSpPr>
        <p:grpSpPr>
          <a:xfrm>
            <a:off x="3884522" y="4608389"/>
            <a:ext cx="1105788" cy="1058857"/>
            <a:chOff x="4252810" y="2035226"/>
            <a:chExt cx="624951" cy="598394"/>
          </a:xfrm>
        </p:grpSpPr>
        <p:sp>
          <p:nvSpPr>
            <p:cNvPr id="327" name="Google Shape;327;p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9" name="Google Shape;369;p7"/>
          <p:cNvSpPr txBox="1"/>
          <p:nvPr>
            <p:ph type="title"/>
          </p:nvPr>
        </p:nvSpPr>
        <p:spPr>
          <a:xfrm>
            <a:off x="720000" y="445025"/>
            <a:ext cx="3849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70" name="Google Shape;370;p7"/>
          <p:cNvSpPr txBox="1"/>
          <p:nvPr>
            <p:ph idx="1" type="body"/>
          </p:nvPr>
        </p:nvSpPr>
        <p:spPr>
          <a:xfrm>
            <a:off x="720000" y="1611800"/>
            <a:ext cx="3852000" cy="27063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b="1" sz="1400">
                <a:solidFill>
                  <a:srgbClr val="434343"/>
                </a:solidFill>
              </a:defRPr>
            </a:lvl1pPr>
            <a:lvl2pPr indent="-304800" lvl="1" marL="914400" rtl="0">
              <a:lnSpc>
                <a:spcPct val="115000"/>
              </a:lnSpc>
              <a:spcBef>
                <a:spcPts val="0"/>
              </a:spcBef>
              <a:spcAft>
                <a:spcPts val="0"/>
              </a:spcAft>
              <a:buSzPts val="1200"/>
              <a:buChar char="○"/>
              <a:defRPr>
                <a:solidFill>
                  <a:srgbClr val="434343"/>
                </a:solidFill>
              </a:defRPr>
            </a:lvl2pPr>
            <a:lvl3pPr indent="-304800" lvl="2" marL="1371600" rtl="0">
              <a:lnSpc>
                <a:spcPct val="115000"/>
              </a:lnSpc>
              <a:spcBef>
                <a:spcPts val="0"/>
              </a:spcBef>
              <a:spcAft>
                <a:spcPts val="0"/>
              </a:spcAft>
              <a:buSzPts val="1200"/>
              <a:buChar char="■"/>
              <a:defRPr>
                <a:solidFill>
                  <a:srgbClr val="434343"/>
                </a:solidFill>
              </a:defRPr>
            </a:lvl3pPr>
            <a:lvl4pPr indent="-304800" lvl="3" marL="1828800" rtl="0">
              <a:lnSpc>
                <a:spcPct val="115000"/>
              </a:lnSpc>
              <a:spcBef>
                <a:spcPts val="0"/>
              </a:spcBef>
              <a:spcAft>
                <a:spcPts val="0"/>
              </a:spcAft>
              <a:buSzPts val="1200"/>
              <a:buChar char="●"/>
              <a:defRPr>
                <a:solidFill>
                  <a:srgbClr val="434343"/>
                </a:solidFill>
              </a:defRPr>
            </a:lvl4pPr>
            <a:lvl5pPr indent="-304800" lvl="4" marL="2286000" rtl="0">
              <a:lnSpc>
                <a:spcPct val="115000"/>
              </a:lnSpc>
              <a:spcBef>
                <a:spcPts val="0"/>
              </a:spcBef>
              <a:spcAft>
                <a:spcPts val="0"/>
              </a:spcAft>
              <a:buSzPts val="1200"/>
              <a:buChar char="○"/>
              <a:defRPr>
                <a:solidFill>
                  <a:srgbClr val="434343"/>
                </a:solidFill>
              </a:defRPr>
            </a:lvl5pPr>
            <a:lvl6pPr indent="-304800" lvl="5" marL="2743200" rtl="0">
              <a:lnSpc>
                <a:spcPct val="115000"/>
              </a:lnSpc>
              <a:spcBef>
                <a:spcPts val="0"/>
              </a:spcBef>
              <a:spcAft>
                <a:spcPts val="0"/>
              </a:spcAft>
              <a:buSzPts val="1200"/>
              <a:buChar char="■"/>
              <a:defRPr>
                <a:solidFill>
                  <a:srgbClr val="434343"/>
                </a:solidFill>
              </a:defRPr>
            </a:lvl6pPr>
            <a:lvl7pPr indent="-304800" lvl="6" marL="3200400" rtl="0">
              <a:lnSpc>
                <a:spcPct val="115000"/>
              </a:lnSpc>
              <a:spcBef>
                <a:spcPts val="0"/>
              </a:spcBef>
              <a:spcAft>
                <a:spcPts val="0"/>
              </a:spcAft>
              <a:buSzPts val="1200"/>
              <a:buChar char="●"/>
              <a:defRPr>
                <a:solidFill>
                  <a:srgbClr val="434343"/>
                </a:solidFill>
              </a:defRPr>
            </a:lvl7pPr>
            <a:lvl8pPr indent="-304800" lvl="7" marL="3657600" rtl="0">
              <a:lnSpc>
                <a:spcPct val="115000"/>
              </a:lnSpc>
              <a:spcBef>
                <a:spcPts val="0"/>
              </a:spcBef>
              <a:spcAft>
                <a:spcPts val="0"/>
              </a:spcAft>
              <a:buSzPts val="1200"/>
              <a:buChar char="○"/>
              <a:defRPr>
                <a:solidFill>
                  <a:srgbClr val="434343"/>
                </a:solidFill>
              </a:defRPr>
            </a:lvl8pPr>
            <a:lvl9pPr indent="-304800" lvl="8" marL="4114800" rtl="0">
              <a:lnSpc>
                <a:spcPct val="115000"/>
              </a:lnSpc>
              <a:spcBef>
                <a:spcPts val="0"/>
              </a:spcBef>
              <a:spcAft>
                <a:spcPts val="0"/>
              </a:spcAft>
              <a:buSzPts val="1200"/>
              <a:buChar char="■"/>
              <a:defRPr>
                <a:solidFill>
                  <a:srgbClr val="434343"/>
                </a:solidFill>
              </a:defRPr>
            </a:lvl9pPr>
          </a:lstStyle>
          <a:p/>
        </p:txBody>
      </p:sp>
      <p:sp>
        <p:nvSpPr>
          <p:cNvPr id="371" name="Google Shape;371;p7"/>
          <p:cNvSpPr/>
          <p:nvPr>
            <p:ph idx="2" type="pic"/>
          </p:nvPr>
        </p:nvSpPr>
        <p:spPr>
          <a:xfrm>
            <a:off x="5063025" y="535000"/>
            <a:ext cx="3366000" cy="4073400"/>
          </a:xfrm>
          <a:prstGeom prst="round2SameRect">
            <a:avLst>
              <a:gd fmla="val 16667" name="adj1"/>
              <a:gd fmla="val 0" name="adj2"/>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72" name="Shape 372"/>
        <p:cNvGrpSpPr/>
        <p:nvPr/>
      </p:nvGrpSpPr>
      <p:grpSpPr>
        <a:xfrm>
          <a:off x="0" y="0"/>
          <a:ext cx="0" cy="0"/>
          <a:chOff x="0" y="0"/>
          <a:chExt cx="0" cy="0"/>
        </a:xfrm>
      </p:grpSpPr>
      <p:sp>
        <p:nvSpPr>
          <p:cNvPr id="373" name="Google Shape;373;p8"/>
          <p:cNvSpPr txBox="1"/>
          <p:nvPr>
            <p:ph type="title"/>
          </p:nvPr>
        </p:nvSpPr>
        <p:spPr>
          <a:xfrm>
            <a:off x="2724150" y="1307100"/>
            <a:ext cx="3695700" cy="2529300"/>
          </a:xfrm>
          <a:prstGeom prst="rect">
            <a:avLst/>
          </a:prstGeom>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4" name="Shape 374"/>
        <p:cNvGrpSpPr/>
        <p:nvPr/>
      </p:nvGrpSpPr>
      <p:grpSpPr>
        <a:xfrm>
          <a:off x="0" y="0"/>
          <a:ext cx="0" cy="0"/>
          <a:chOff x="0" y="0"/>
          <a:chExt cx="0" cy="0"/>
        </a:xfrm>
      </p:grpSpPr>
      <p:sp>
        <p:nvSpPr>
          <p:cNvPr id="375" name="Google Shape;375;p9"/>
          <p:cNvSpPr txBox="1"/>
          <p:nvPr>
            <p:ph type="title"/>
          </p:nvPr>
        </p:nvSpPr>
        <p:spPr>
          <a:xfrm>
            <a:off x="2201850" y="1584874"/>
            <a:ext cx="4740300" cy="841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376" name="Google Shape;376;p9"/>
          <p:cNvSpPr txBox="1"/>
          <p:nvPr>
            <p:ph idx="1" type="subTitle"/>
          </p:nvPr>
        </p:nvSpPr>
        <p:spPr>
          <a:xfrm>
            <a:off x="2201925" y="2427926"/>
            <a:ext cx="4740300" cy="1130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77" name="Shape 377"/>
        <p:cNvGrpSpPr/>
        <p:nvPr/>
      </p:nvGrpSpPr>
      <p:grpSpPr>
        <a:xfrm>
          <a:off x="0" y="0"/>
          <a:ext cx="0" cy="0"/>
          <a:chOff x="0" y="0"/>
          <a:chExt cx="0" cy="0"/>
        </a:xfrm>
      </p:grpSpPr>
      <p:sp>
        <p:nvSpPr>
          <p:cNvPr id="378" name="Google Shape;378;p10"/>
          <p:cNvSpPr/>
          <p:nvPr>
            <p:ph idx="2" type="pic"/>
          </p:nvPr>
        </p:nvSpPr>
        <p:spPr>
          <a:xfrm>
            <a:off x="-6875" y="0"/>
            <a:ext cx="9144000" cy="5157300"/>
          </a:xfrm>
          <a:prstGeom prst="rect">
            <a:avLst/>
          </a:prstGeom>
          <a:noFill/>
          <a:ln>
            <a:noFill/>
          </a:ln>
        </p:spPr>
      </p:sp>
      <p:sp>
        <p:nvSpPr>
          <p:cNvPr id="379" name="Google Shape;379;p10"/>
          <p:cNvSpPr txBox="1"/>
          <p:nvPr>
            <p:ph type="title"/>
          </p:nvPr>
        </p:nvSpPr>
        <p:spPr>
          <a:xfrm>
            <a:off x="720000" y="4038000"/>
            <a:ext cx="7704000" cy="572700"/>
          </a:xfrm>
          <a:prstGeom prst="rect">
            <a:avLst/>
          </a:prstGeom>
          <a:solidFill>
            <a:schemeClr val="accent2"/>
          </a:solidFill>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80" name="Shape 380"/>
        <p:cNvGrpSpPr/>
        <p:nvPr/>
      </p:nvGrpSpPr>
      <p:grpSpPr>
        <a:xfrm>
          <a:off x="0" y="0"/>
          <a:ext cx="0" cy="0"/>
          <a:chOff x="0" y="0"/>
          <a:chExt cx="0" cy="0"/>
        </a:xfrm>
      </p:grpSpPr>
      <p:sp>
        <p:nvSpPr>
          <p:cNvPr id="381" name="Google Shape;381;p11"/>
          <p:cNvSpPr txBox="1"/>
          <p:nvPr>
            <p:ph hasCustomPrompt="1" type="title"/>
          </p:nvPr>
        </p:nvSpPr>
        <p:spPr>
          <a:xfrm>
            <a:off x="1284000" y="1734375"/>
            <a:ext cx="6576000" cy="9627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82" name="Google Shape;382;p11"/>
          <p:cNvSpPr txBox="1"/>
          <p:nvPr>
            <p:ph idx="1" type="subTitle"/>
          </p:nvPr>
        </p:nvSpPr>
        <p:spPr>
          <a:xfrm>
            <a:off x="1284000" y="2695725"/>
            <a:ext cx="6576000" cy="713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b="1"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383" name="Google Shape;383;p11"/>
          <p:cNvGrpSpPr/>
          <p:nvPr/>
        </p:nvGrpSpPr>
        <p:grpSpPr>
          <a:xfrm>
            <a:off x="2001722" y="4608489"/>
            <a:ext cx="1105788" cy="1058857"/>
            <a:chOff x="4252810" y="2035226"/>
            <a:chExt cx="624951" cy="598394"/>
          </a:xfrm>
        </p:grpSpPr>
        <p:sp>
          <p:nvSpPr>
            <p:cNvPr id="384" name="Google Shape;384;p11"/>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1"/>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1"/>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1"/>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1"/>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1"/>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1"/>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1"/>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1"/>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1"/>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1"/>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1"/>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1"/>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1"/>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1"/>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1"/>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1"/>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1"/>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1"/>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1"/>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1"/>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1"/>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1"/>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1"/>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1"/>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1"/>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1"/>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1"/>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1"/>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1"/>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1"/>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1"/>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1"/>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1"/>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1"/>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1"/>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1"/>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1"/>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1"/>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1"/>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1"/>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1"/>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426" name="Shape 42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427" name="Shape 427"/>
        <p:cNvGrpSpPr/>
        <p:nvPr/>
      </p:nvGrpSpPr>
      <p:grpSpPr>
        <a:xfrm>
          <a:off x="0" y="0"/>
          <a:ext cx="0" cy="0"/>
          <a:chOff x="0" y="0"/>
          <a:chExt cx="0" cy="0"/>
        </a:xfrm>
      </p:grpSpPr>
      <p:grpSp>
        <p:nvGrpSpPr>
          <p:cNvPr id="428" name="Google Shape;428;p13"/>
          <p:cNvGrpSpPr/>
          <p:nvPr/>
        </p:nvGrpSpPr>
        <p:grpSpPr>
          <a:xfrm>
            <a:off x="7428836" y="-1089774"/>
            <a:ext cx="1617386" cy="1624770"/>
            <a:chOff x="3992334" y="189904"/>
            <a:chExt cx="1116902" cy="1122001"/>
          </a:xfrm>
        </p:grpSpPr>
        <p:sp>
          <p:nvSpPr>
            <p:cNvPr id="429" name="Google Shape;429;p1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 name="Google Shape;440;p13"/>
          <p:cNvGrpSpPr/>
          <p:nvPr/>
        </p:nvGrpSpPr>
        <p:grpSpPr>
          <a:xfrm>
            <a:off x="715097" y="4608489"/>
            <a:ext cx="1105788" cy="1058857"/>
            <a:chOff x="4252810" y="2035226"/>
            <a:chExt cx="624951" cy="598394"/>
          </a:xfrm>
        </p:grpSpPr>
        <p:sp>
          <p:nvSpPr>
            <p:cNvPr id="441" name="Google Shape;441;p1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3" name="Google Shape;483;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84" name="Google Shape;484;p13"/>
          <p:cNvSpPr txBox="1"/>
          <p:nvPr>
            <p:ph hasCustomPrompt="1" idx="2" type="title"/>
          </p:nvPr>
        </p:nvSpPr>
        <p:spPr>
          <a:xfrm>
            <a:off x="133395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5" name="Google Shape;485;p13"/>
          <p:cNvSpPr txBox="1"/>
          <p:nvPr>
            <p:ph hasCustomPrompt="1" idx="3" type="title"/>
          </p:nvPr>
        </p:nvSpPr>
        <p:spPr>
          <a:xfrm>
            <a:off x="133395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6" name="Google Shape;486;p13"/>
          <p:cNvSpPr txBox="1"/>
          <p:nvPr>
            <p:ph hasCustomPrompt="1" idx="4" type="title"/>
          </p:nvPr>
        </p:nvSpPr>
        <p:spPr>
          <a:xfrm>
            <a:off x="401880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7" name="Google Shape;487;p13"/>
          <p:cNvSpPr txBox="1"/>
          <p:nvPr>
            <p:ph hasCustomPrompt="1" idx="5" type="title"/>
          </p:nvPr>
        </p:nvSpPr>
        <p:spPr>
          <a:xfrm>
            <a:off x="401880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8" name="Google Shape;488;p13"/>
          <p:cNvSpPr txBox="1"/>
          <p:nvPr>
            <p:ph hasCustomPrompt="1" idx="6" type="title"/>
          </p:nvPr>
        </p:nvSpPr>
        <p:spPr>
          <a:xfrm>
            <a:off x="6708543"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9" name="Google Shape;489;p13"/>
          <p:cNvSpPr txBox="1"/>
          <p:nvPr>
            <p:ph hasCustomPrompt="1" idx="7" type="title"/>
          </p:nvPr>
        </p:nvSpPr>
        <p:spPr>
          <a:xfrm>
            <a:off x="6708543"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90" name="Google Shape;490;p13"/>
          <p:cNvSpPr txBox="1"/>
          <p:nvPr>
            <p:ph idx="1" type="subTitle"/>
          </p:nvPr>
        </p:nvSpPr>
        <p:spPr>
          <a:xfrm>
            <a:off x="72000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1" name="Google Shape;491;p13"/>
          <p:cNvSpPr txBox="1"/>
          <p:nvPr>
            <p:ph idx="8" type="subTitle"/>
          </p:nvPr>
        </p:nvSpPr>
        <p:spPr>
          <a:xfrm>
            <a:off x="340485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2" name="Google Shape;492;p13"/>
          <p:cNvSpPr txBox="1"/>
          <p:nvPr>
            <p:ph idx="9" type="subTitle"/>
          </p:nvPr>
        </p:nvSpPr>
        <p:spPr>
          <a:xfrm>
            <a:off x="6094593"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3" name="Google Shape;493;p13"/>
          <p:cNvSpPr txBox="1"/>
          <p:nvPr>
            <p:ph idx="13" type="subTitle"/>
          </p:nvPr>
        </p:nvSpPr>
        <p:spPr>
          <a:xfrm>
            <a:off x="72000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4" name="Google Shape;494;p13"/>
          <p:cNvSpPr txBox="1"/>
          <p:nvPr>
            <p:ph idx="14" type="subTitle"/>
          </p:nvPr>
        </p:nvSpPr>
        <p:spPr>
          <a:xfrm>
            <a:off x="340485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5" name="Google Shape;495;p13"/>
          <p:cNvSpPr txBox="1"/>
          <p:nvPr>
            <p:ph idx="15" type="subTitle"/>
          </p:nvPr>
        </p:nvSpPr>
        <p:spPr>
          <a:xfrm>
            <a:off x="6094593"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496" name="Shape 496"/>
        <p:cNvGrpSpPr/>
        <p:nvPr/>
      </p:nvGrpSpPr>
      <p:grpSpPr>
        <a:xfrm>
          <a:off x="0" y="0"/>
          <a:ext cx="0" cy="0"/>
          <a:chOff x="0" y="0"/>
          <a:chExt cx="0" cy="0"/>
        </a:xfrm>
      </p:grpSpPr>
      <p:sp>
        <p:nvSpPr>
          <p:cNvPr id="497" name="Google Shape;497;p14"/>
          <p:cNvSpPr txBox="1"/>
          <p:nvPr>
            <p:ph hasCustomPrompt="1" type="title"/>
          </p:nvPr>
        </p:nvSpPr>
        <p:spPr>
          <a:xfrm>
            <a:off x="1026838"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498" name="Google Shape;498;p14"/>
          <p:cNvSpPr txBox="1"/>
          <p:nvPr>
            <p:ph idx="1" type="subTitle"/>
          </p:nvPr>
        </p:nvSpPr>
        <p:spPr>
          <a:xfrm>
            <a:off x="1026838"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499" name="Google Shape;499;p14"/>
          <p:cNvSpPr txBox="1"/>
          <p:nvPr>
            <p:ph hasCustomPrompt="1" idx="2" type="title"/>
          </p:nvPr>
        </p:nvSpPr>
        <p:spPr>
          <a:xfrm>
            <a:off x="3054150" y="1037396"/>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0" name="Google Shape;500;p14"/>
          <p:cNvSpPr txBox="1"/>
          <p:nvPr>
            <p:ph idx="3" type="subTitle"/>
          </p:nvPr>
        </p:nvSpPr>
        <p:spPr>
          <a:xfrm>
            <a:off x="3054150" y="1796308"/>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1" name="Google Shape;501;p14"/>
          <p:cNvSpPr txBox="1"/>
          <p:nvPr>
            <p:ph hasCustomPrompt="1" idx="4" type="title"/>
          </p:nvPr>
        </p:nvSpPr>
        <p:spPr>
          <a:xfrm>
            <a:off x="5081463"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2" name="Google Shape;502;p14"/>
          <p:cNvSpPr txBox="1"/>
          <p:nvPr>
            <p:ph idx="5" type="subTitle"/>
          </p:nvPr>
        </p:nvSpPr>
        <p:spPr>
          <a:xfrm>
            <a:off x="5081463"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grpSp>
        <p:nvGrpSpPr>
          <p:cNvPr id="503" name="Google Shape;503;p14"/>
          <p:cNvGrpSpPr/>
          <p:nvPr/>
        </p:nvGrpSpPr>
        <p:grpSpPr>
          <a:xfrm>
            <a:off x="8343010" y="4084789"/>
            <a:ext cx="1105788" cy="1058857"/>
            <a:chOff x="4252810" y="2035226"/>
            <a:chExt cx="624951" cy="598394"/>
          </a:xfrm>
        </p:grpSpPr>
        <p:sp>
          <p:nvSpPr>
            <p:cNvPr id="504" name="Google Shape;504;p1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1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1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1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1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1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6" name="Google Shape;546;p14"/>
          <p:cNvSpPr/>
          <p:nvPr/>
        </p:nvSpPr>
        <p:spPr>
          <a:xfrm>
            <a:off x="8212075" y="2075550"/>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4_1">
    <p:spTree>
      <p:nvGrpSpPr>
        <p:cNvPr id="547" name="Shape 547"/>
        <p:cNvGrpSpPr/>
        <p:nvPr/>
      </p:nvGrpSpPr>
      <p:grpSpPr>
        <a:xfrm>
          <a:off x="0" y="0"/>
          <a:ext cx="0" cy="0"/>
          <a:chOff x="0" y="0"/>
          <a:chExt cx="0" cy="0"/>
        </a:xfrm>
      </p:grpSpPr>
      <p:grpSp>
        <p:nvGrpSpPr>
          <p:cNvPr id="548" name="Google Shape;548;p15"/>
          <p:cNvGrpSpPr/>
          <p:nvPr/>
        </p:nvGrpSpPr>
        <p:grpSpPr>
          <a:xfrm>
            <a:off x="6811511" y="-1089762"/>
            <a:ext cx="1617386" cy="1624770"/>
            <a:chOff x="3992334" y="189904"/>
            <a:chExt cx="1116902" cy="1122001"/>
          </a:xfrm>
        </p:grpSpPr>
        <p:sp>
          <p:nvSpPr>
            <p:cNvPr id="549" name="Google Shape;549;p1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1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0" name="Google Shape;560;p15"/>
          <p:cNvGrpSpPr/>
          <p:nvPr/>
        </p:nvGrpSpPr>
        <p:grpSpPr>
          <a:xfrm rot="5400000">
            <a:off x="7958137" y="3445097"/>
            <a:ext cx="2337963" cy="1058857"/>
            <a:chOff x="867497" y="4760889"/>
            <a:chExt cx="2337963" cy="1058857"/>
          </a:xfrm>
        </p:grpSpPr>
        <p:grpSp>
          <p:nvGrpSpPr>
            <p:cNvPr id="561" name="Google Shape;561;p15"/>
            <p:cNvGrpSpPr/>
            <p:nvPr/>
          </p:nvGrpSpPr>
          <p:grpSpPr>
            <a:xfrm>
              <a:off x="2099672" y="4760889"/>
              <a:ext cx="1105788" cy="1058857"/>
              <a:chOff x="4252810" y="2035226"/>
              <a:chExt cx="624951" cy="598394"/>
            </a:xfrm>
          </p:grpSpPr>
          <p:sp>
            <p:nvSpPr>
              <p:cNvPr id="562" name="Google Shape;562;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4" name="Google Shape;604;p15"/>
            <p:cNvGrpSpPr/>
            <p:nvPr/>
          </p:nvGrpSpPr>
          <p:grpSpPr>
            <a:xfrm>
              <a:off x="867497" y="4760889"/>
              <a:ext cx="1105788" cy="1058857"/>
              <a:chOff x="4252810" y="2035226"/>
              <a:chExt cx="624951" cy="598394"/>
            </a:xfrm>
          </p:grpSpPr>
          <p:sp>
            <p:nvSpPr>
              <p:cNvPr id="605" name="Google Shape;605;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47" name="Google Shape;647;p15"/>
          <p:cNvSpPr txBox="1"/>
          <p:nvPr>
            <p:ph type="title"/>
          </p:nvPr>
        </p:nvSpPr>
        <p:spPr>
          <a:xfrm>
            <a:off x="5305000" y="780350"/>
            <a:ext cx="3123900" cy="647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48" name="Google Shape;648;p15"/>
          <p:cNvSpPr txBox="1"/>
          <p:nvPr>
            <p:ph idx="1" type="subTitle"/>
          </p:nvPr>
        </p:nvSpPr>
        <p:spPr>
          <a:xfrm>
            <a:off x="5305000" y="1483750"/>
            <a:ext cx="3123900" cy="89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49" name="Google Shape;649;p15"/>
          <p:cNvSpPr/>
          <p:nvPr>
            <p:ph idx="2" type="pic"/>
          </p:nvPr>
        </p:nvSpPr>
        <p:spPr>
          <a:xfrm>
            <a:off x="715100" y="535000"/>
            <a:ext cx="2216700" cy="4104000"/>
          </a:xfrm>
          <a:prstGeom prst="rect">
            <a:avLst/>
          </a:prstGeom>
          <a:noFill/>
          <a:ln>
            <a:noFill/>
          </a:ln>
        </p:spPr>
      </p:sp>
      <p:sp>
        <p:nvSpPr>
          <p:cNvPr id="650" name="Google Shape;650;p15"/>
          <p:cNvSpPr/>
          <p:nvPr>
            <p:ph idx="3" type="pic"/>
          </p:nvPr>
        </p:nvSpPr>
        <p:spPr>
          <a:xfrm>
            <a:off x="3033300" y="535000"/>
            <a:ext cx="1894500" cy="2064000"/>
          </a:xfrm>
          <a:prstGeom prst="rect">
            <a:avLst/>
          </a:prstGeom>
          <a:noFill/>
          <a:ln>
            <a:noFill/>
          </a:ln>
        </p:spPr>
      </p:sp>
      <p:sp>
        <p:nvSpPr>
          <p:cNvPr id="651" name="Google Shape;651;p15"/>
          <p:cNvSpPr/>
          <p:nvPr>
            <p:ph idx="4" type="pic"/>
          </p:nvPr>
        </p:nvSpPr>
        <p:spPr>
          <a:xfrm>
            <a:off x="3033300" y="2701900"/>
            <a:ext cx="2775900" cy="1937100"/>
          </a:xfrm>
          <a:prstGeom prst="rect">
            <a:avLst/>
          </a:prstGeom>
          <a:noFill/>
          <a:ln>
            <a:noFill/>
          </a:ln>
        </p:spPr>
      </p:sp>
      <p:sp>
        <p:nvSpPr>
          <p:cNvPr id="652" name="Google Shape;652;p15"/>
          <p:cNvSpPr/>
          <p:nvPr>
            <p:ph idx="5" type="pic"/>
          </p:nvPr>
        </p:nvSpPr>
        <p:spPr>
          <a:xfrm>
            <a:off x="5910700" y="2714500"/>
            <a:ext cx="2518200" cy="1937100"/>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_1">
    <p:spTree>
      <p:nvGrpSpPr>
        <p:cNvPr id="653" name="Shape 653"/>
        <p:cNvGrpSpPr/>
        <p:nvPr/>
      </p:nvGrpSpPr>
      <p:grpSpPr>
        <a:xfrm>
          <a:off x="0" y="0"/>
          <a:ext cx="0" cy="0"/>
          <a:chOff x="0" y="0"/>
          <a:chExt cx="0" cy="0"/>
        </a:xfrm>
      </p:grpSpPr>
      <p:sp>
        <p:nvSpPr>
          <p:cNvPr id="654" name="Google Shape;654;p16"/>
          <p:cNvSpPr txBox="1"/>
          <p:nvPr>
            <p:ph type="title"/>
          </p:nvPr>
        </p:nvSpPr>
        <p:spPr>
          <a:xfrm>
            <a:off x="720000" y="1098525"/>
            <a:ext cx="3123900" cy="16368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55" name="Google Shape;655;p16"/>
          <p:cNvSpPr txBox="1"/>
          <p:nvPr>
            <p:ph idx="1" type="subTitle"/>
          </p:nvPr>
        </p:nvSpPr>
        <p:spPr>
          <a:xfrm>
            <a:off x="720000" y="2790975"/>
            <a:ext cx="3123900" cy="1254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56" name="Google Shape;656;p16"/>
          <p:cNvSpPr/>
          <p:nvPr>
            <p:ph idx="2" type="pic"/>
          </p:nvPr>
        </p:nvSpPr>
        <p:spPr>
          <a:xfrm>
            <a:off x="5063025" y="535000"/>
            <a:ext cx="3366000" cy="4073400"/>
          </a:xfrm>
          <a:prstGeom prst="round2SameRect">
            <a:avLst>
              <a:gd fmla="val 16667" name="adj1"/>
              <a:gd fmla="val 0" name="adj2"/>
            </a:avLst>
          </a:prstGeom>
          <a:noFill/>
          <a:ln>
            <a:noFill/>
          </a:ln>
        </p:spPr>
      </p:sp>
      <p:grpSp>
        <p:nvGrpSpPr>
          <p:cNvPr id="657" name="Google Shape;657;p16"/>
          <p:cNvGrpSpPr/>
          <p:nvPr/>
        </p:nvGrpSpPr>
        <p:grpSpPr>
          <a:xfrm>
            <a:off x="8576772" y="3549639"/>
            <a:ext cx="1105788" cy="1058857"/>
            <a:chOff x="4252810" y="2035226"/>
            <a:chExt cx="624951" cy="598394"/>
          </a:xfrm>
        </p:grpSpPr>
        <p:sp>
          <p:nvSpPr>
            <p:cNvPr id="658" name="Google Shape;658;p1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1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1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1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1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1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1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1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1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1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1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1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1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1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1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1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1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1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1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1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1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1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1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8">
    <p:spTree>
      <p:nvGrpSpPr>
        <p:cNvPr id="700" name="Shape 700"/>
        <p:cNvGrpSpPr/>
        <p:nvPr/>
      </p:nvGrpSpPr>
      <p:grpSpPr>
        <a:xfrm>
          <a:off x="0" y="0"/>
          <a:ext cx="0" cy="0"/>
          <a:chOff x="0" y="0"/>
          <a:chExt cx="0" cy="0"/>
        </a:xfrm>
      </p:grpSpPr>
      <p:grpSp>
        <p:nvGrpSpPr>
          <p:cNvPr id="701" name="Google Shape;701;p17"/>
          <p:cNvGrpSpPr/>
          <p:nvPr/>
        </p:nvGrpSpPr>
        <p:grpSpPr>
          <a:xfrm>
            <a:off x="5599111" y="-1089774"/>
            <a:ext cx="1617386" cy="1624770"/>
            <a:chOff x="3992334" y="189904"/>
            <a:chExt cx="1116902" cy="1122001"/>
          </a:xfrm>
        </p:grpSpPr>
        <p:sp>
          <p:nvSpPr>
            <p:cNvPr id="702" name="Google Shape;702;p1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1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1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1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1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3" name="Google Shape;713;p17"/>
          <p:cNvSpPr txBox="1"/>
          <p:nvPr>
            <p:ph type="title"/>
          </p:nvPr>
        </p:nvSpPr>
        <p:spPr>
          <a:xfrm>
            <a:off x="718843" y="445025"/>
            <a:ext cx="58848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14" name="Google Shape;714;p17"/>
          <p:cNvSpPr txBox="1"/>
          <p:nvPr>
            <p:ph idx="1" type="subTitle"/>
          </p:nvPr>
        </p:nvSpPr>
        <p:spPr>
          <a:xfrm>
            <a:off x="715100" y="1137548"/>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5" name="Google Shape;715;p17"/>
          <p:cNvSpPr txBox="1"/>
          <p:nvPr>
            <p:ph idx="2" type="subTitle"/>
          </p:nvPr>
        </p:nvSpPr>
        <p:spPr>
          <a:xfrm>
            <a:off x="715100" y="2135045"/>
            <a:ext cx="5884800" cy="1476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6" name="Google Shape;716;p17"/>
          <p:cNvSpPr txBox="1"/>
          <p:nvPr>
            <p:ph idx="3" type="subTitle"/>
          </p:nvPr>
        </p:nvSpPr>
        <p:spPr>
          <a:xfrm>
            <a:off x="715100" y="3611150"/>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
    <p:spTree>
      <p:nvGrpSpPr>
        <p:cNvPr id="717" name="Shape 717"/>
        <p:cNvGrpSpPr/>
        <p:nvPr/>
      </p:nvGrpSpPr>
      <p:grpSpPr>
        <a:xfrm>
          <a:off x="0" y="0"/>
          <a:ext cx="0" cy="0"/>
          <a:chOff x="0" y="0"/>
          <a:chExt cx="0" cy="0"/>
        </a:xfrm>
      </p:grpSpPr>
      <p:grpSp>
        <p:nvGrpSpPr>
          <p:cNvPr id="718" name="Google Shape;718;p18"/>
          <p:cNvGrpSpPr/>
          <p:nvPr/>
        </p:nvGrpSpPr>
        <p:grpSpPr>
          <a:xfrm>
            <a:off x="715097" y="4608489"/>
            <a:ext cx="1105788" cy="1058857"/>
            <a:chOff x="4252810" y="2035226"/>
            <a:chExt cx="624951" cy="598394"/>
          </a:xfrm>
        </p:grpSpPr>
        <p:sp>
          <p:nvSpPr>
            <p:cNvPr id="719" name="Google Shape;719;p18"/>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18"/>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18"/>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18"/>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8"/>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8"/>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8"/>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18"/>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18"/>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18"/>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18"/>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18"/>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18"/>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18"/>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8"/>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18"/>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18"/>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8"/>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18"/>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18"/>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8"/>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18"/>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18"/>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8"/>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18"/>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18"/>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18"/>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8"/>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18"/>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8"/>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8"/>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8"/>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8"/>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8"/>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8"/>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18"/>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18"/>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18"/>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8"/>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18"/>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18"/>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18"/>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1" name="Google Shape;761;p18"/>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62" name="Google Shape;762;p18"/>
          <p:cNvGrpSpPr/>
          <p:nvPr/>
        </p:nvGrpSpPr>
        <p:grpSpPr>
          <a:xfrm>
            <a:off x="7428836" y="-1089774"/>
            <a:ext cx="1617386" cy="1624770"/>
            <a:chOff x="3992334" y="189904"/>
            <a:chExt cx="1116902" cy="1122001"/>
          </a:xfrm>
        </p:grpSpPr>
        <p:sp>
          <p:nvSpPr>
            <p:cNvPr id="763" name="Google Shape;763;p18"/>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18"/>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8"/>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18"/>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18"/>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8"/>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18"/>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18"/>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8"/>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18"/>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18"/>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4" name="Google Shape;774;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75" name="Google Shape;775;p18"/>
          <p:cNvSpPr txBox="1"/>
          <p:nvPr>
            <p:ph idx="1" type="subTitle"/>
          </p:nvPr>
        </p:nvSpPr>
        <p:spPr>
          <a:xfrm>
            <a:off x="720000" y="2497328"/>
            <a:ext cx="23061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6" name="Google Shape;776;p18"/>
          <p:cNvSpPr txBox="1"/>
          <p:nvPr>
            <p:ph idx="2" type="subTitle"/>
          </p:nvPr>
        </p:nvSpPr>
        <p:spPr>
          <a:xfrm>
            <a:off x="3419248" y="2497325"/>
            <a:ext cx="2302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7" name="Google Shape;777;p18"/>
          <p:cNvSpPr txBox="1"/>
          <p:nvPr>
            <p:ph idx="3" type="subTitle"/>
          </p:nvPr>
        </p:nvSpPr>
        <p:spPr>
          <a:xfrm>
            <a:off x="6117899" y="2497325"/>
            <a:ext cx="2305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8" name="Google Shape;778;p18"/>
          <p:cNvSpPr txBox="1"/>
          <p:nvPr>
            <p:ph idx="4" type="subTitle"/>
          </p:nvPr>
        </p:nvSpPr>
        <p:spPr>
          <a:xfrm>
            <a:off x="720000" y="1924276"/>
            <a:ext cx="2302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79" name="Google Shape;779;p18"/>
          <p:cNvSpPr txBox="1"/>
          <p:nvPr>
            <p:ph idx="5" type="subTitle"/>
          </p:nvPr>
        </p:nvSpPr>
        <p:spPr>
          <a:xfrm>
            <a:off x="3419252" y="1924276"/>
            <a:ext cx="2305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80" name="Google Shape;780;p18"/>
          <p:cNvSpPr txBox="1"/>
          <p:nvPr>
            <p:ph idx="6" type="subTitle"/>
          </p:nvPr>
        </p:nvSpPr>
        <p:spPr>
          <a:xfrm>
            <a:off x="6117899" y="1924275"/>
            <a:ext cx="23061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81" name="Shape 781"/>
        <p:cNvGrpSpPr/>
        <p:nvPr/>
      </p:nvGrpSpPr>
      <p:grpSpPr>
        <a:xfrm>
          <a:off x="0" y="0"/>
          <a:ext cx="0" cy="0"/>
          <a:chOff x="0" y="0"/>
          <a:chExt cx="0" cy="0"/>
        </a:xfrm>
      </p:grpSpPr>
      <p:sp>
        <p:nvSpPr>
          <p:cNvPr id="782" name="Google Shape;782;p19"/>
          <p:cNvSpPr/>
          <p:nvPr/>
        </p:nvSpPr>
        <p:spPr>
          <a:xfrm rot="-5400000">
            <a:off x="7712100" y="-89690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83" name="Google Shape;783;p19"/>
          <p:cNvGrpSpPr/>
          <p:nvPr/>
        </p:nvGrpSpPr>
        <p:grpSpPr>
          <a:xfrm>
            <a:off x="-258605" y="3766327"/>
            <a:ext cx="973715" cy="978161"/>
            <a:chOff x="3992334" y="189904"/>
            <a:chExt cx="1116902" cy="1122001"/>
          </a:xfrm>
        </p:grpSpPr>
        <p:sp>
          <p:nvSpPr>
            <p:cNvPr id="784" name="Google Shape;784;p19"/>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9"/>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9"/>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9"/>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9"/>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9"/>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19"/>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19"/>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9"/>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19"/>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19"/>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5" name="Google Shape;795;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96" name="Google Shape;796;p19"/>
          <p:cNvSpPr txBox="1"/>
          <p:nvPr>
            <p:ph idx="1" type="subTitle"/>
          </p:nvPr>
        </p:nvSpPr>
        <p:spPr>
          <a:xfrm>
            <a:off x="1149022" y="1148895"/>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797" name="Google Shape;797;p19"/>
          <p:cNvSpPr txBox="1"/>
          <p:nvPr>
            <p:ph idx="2" type="subTitle"/>
          </p:nvPr>
        </p:nvSpPr>
        <p:spPr>
          <a:xfrm>
            <a:off x="1149024"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8" name="Google Shape;798;p19"/>
          <p:cNvSpPr txBox="1"/>
          <p:nvPr>
            <p:ph idx="3" type="subTitle"/>
          </p:nvPr>
        </p:nvSpPr>
        <p:spPr>
          <a:xfrm>
            <a:off x="5457000"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9" name="Google Shape;799;p19"/>
          <p:cNvSpPr txBox="1"/>
          <p:nvPr>
            <p:ph idx="4" type="subTitle"/>
          </p:nvPr>
        </p:nvSpPr>
        <p:spPr>
          <a:xfrm>
            <a:off x="1149024"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0" name="Google Shape;800;p19"/>
          <p:cNvSpPr txBox="1"/>
          <p:nvPr>
            <p:ph idx="5" type="subTitle"/>
          </p:nvPr>
        </p:nvSpPr>
        <p:spPr>
          <a:xfrm>
            <a:off x="5457000"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1" name="Google Shape;801;p19"/>
          <p:cNvSpPr txBox="1"/>
          <p:nvPr>
            <p:ph idx="6" type="subTitle"/>
          </p:nvPr>
        </p:nvSpPr>
        <p:spPr>
          <a:xfrm>
            <a:off x="1149022"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2" name="Google Shape;802;p19"/>
          <p:cNvSpPr txBox="1"/>
          <p:nvPr>
            <p:ph idx="7" type="subTitle"/>
          </p:nvPr>
        </p:nvSpPr>
        <p:spPr>
          <a:xfrm>
            <a:off x="5456998" y="1157758"/>
            <a:ext cx="2967000" cy="5259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3" name="Google Shape;803;p19"/>
          <p:cNvSpPr txBox="1"/>
          <p:nvPr>
            <p:ph idx="8" type="subTitle"/>
          </p:nvPr>
        </p:nvSpPr>
        <p:spPr>
          <a:xfrm>
            <a:off x="5456998"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804" name="Shape 804"/>
        <p:cNvGrpSpPr/>
        <p:nvPr/>
      </p:nvGrpSpPr>
      <p:grpSpPr>
        <a:xfrm>
          <a:off x="0" y="0"/>
          <a:ext cx="0" cy="0"/>
          <a:chOff x="0" y="0"/>
          <a:chExt cx="0" cy="0"/>
        </a:xfrm>
      </p:grpSpPr>
      <p:grpSp>
        <p:nvGrpSpPr>
          <p:cNvPr id="805" name="Google Shape;805;p20"/>
          <p:cNvGrpSpPr/>
          <p:nvPr/>
        </p:nvGrpSpPr>
        <p:grpSpPr>
          <a:xfrm>
            <a:off x="6081647" y="-523861"/>
            <a:ext cx="2337963" cy="1058857"/>
            <a:chOff x="867497" y="4760889"/>
            <a:chExt cx="2337963" cy="1058857"/>
          </a:xfrm>
        </p:grpSpPr>
        <p:grpSp>
          <p:nvGrpSpPr>
            <p:cNvPr id="806" name="Google Shape;806;p20"/>
            <p:cNvGrpSpPr/>
            <p:nvPr/>
          </p:nvGrpSpPr>
          <p:grpSpPr>
            <a:xfrm>
              <a:off x="2099672" y="4760889"/>
              <a:ext cx="1105788" cy="1058857"/>
              <a:chOff x="4252810" y="2035226"/>
              <a:chExt cx="624951" cy="598394"/>
            </a:xfrm>
          </p:grpSpPr>
          <p:sp>
            <p:nvSpPr>
              <p:cNvPr id="807" name="Google Shape;807;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9" name="Google Shape;849;p20"/>
            <p:cNvGrpSpPr/>
            <p:nvPr/>
          </p:nvGrpSpPr>
          <p:grpSpPr>
            <a:xfrm>
              <a:off x="867497" y="4760889"/>
              <a:ext cx="1105788" cy="1058857"/>
              <a:chOff x="4252810" y="2035226"/>
              <a:chExt cx="624951" cy="598394"/>
            </a:xfrm>
          </p:grpSpPr>
          <p:sp>
            <p:nvSpPr>
              <p:cNvPr id="850" name="Google Shape;850;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2" name="Google Shape;892;p20"/>
          <p:cNvGrpSpPr/>
          <p:nvPr/>
        </p:nvGrpSpPr>
        <p:grpSpPr>
          <a:xfrm>
            <a:off x="8419611" y="3357988"/>
            <a:ext cx="1617386" cy="1624770"/>
            <a:chOff x="3992334" y="189904"/>
            <a:chExt cx="1116902" cy="1122001"/>
          </a:xfrm>
        </p:grpSpPr>
        <p:sp>
          <p:nvSpPr>
            <p:cNvPr id="893" name="Google Shape;893;p20"/>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0"/>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20"/>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20"/>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20"/>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20"/>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0"/>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20"/>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0"/>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0"/>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0"/>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4" name="Google Shape;904;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05" name="Google Shape;905;p20"/>
          <p:cNvSpPr txBox="1"/>
          <p:nvPr>
            <p:ph idx="1" type="subTitle"/>
          </p:nvPr>
        </p:nvSpPr>
        <p:spPr>
          <a:xfrm>
            <a:off x="1101000"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6" name="Google Shape;906;p20"/>
          <p:cNvSpPr txBox="1"/>
          <p:nvPr>
            <p:ph idx="2" type="subTitle"/>
          </p:nvPr>
        </p:nvSpPr>
        <p:spPr>
          <a:xfrm>
            <a:off x="3717949"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7" name="Google Shape;907;p20"/>
          <p:cNvSpPr txBox="1"/>
          <p:nvPr>
            <p:ph idx="3" type="subTitle"/>
          </p:nvPr>
        </p:nvSpPr>
        <p:spPr>
          <a:xfrm>
            <a:off x="1101000"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8" name="Google Shape;908;p20"/>
          <p:cNvSpPr txBox="1"/>
          <p:nvPr>
            <p:ph idx="4" type="subTitle"/>
          </p:nvPr>
        </p:nvSpPr>
        <p:spPr>
          <a:xfrm>
            <a:off x="3717949"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9" name="Google Shape;909;p20"/>
          <p:cNvSpPr txBox="1"/>
          <p:nvPr>
            <p:ph idx="5" type="subTitle"/>
          </p:nvPr>
        </p:nvSpPr>
        <p:spPr>
          <a:xfrm>
            <a:off x="6334911"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0" name="Google Shape;910;p20"/>
          <p:cNvSpPr txBox="1"/>
          <p:nvPr>
            <p:ph idx="6" type="subTitle"/>
          </p:nvPr>
        </p:nvSpPr>
        <p:spPr>
          <a:xfrm>
            <a:off x="6334911" y="3584302"/>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1" name="Google Shape;911;p20"/>
          <p:cNvSpPr txBox="1"/>
          <p:nvPr>
            <p:ph idx="7" type="subTitle"/>
          </p:nvPr>
        </p:nvSpPr>
        <p:spPr>
          <a:xfrm>
            <a:off x="1101000"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2" name="Google Shape;912;p20"/>
          <p:cNvSpPr txBox="1"/>
          <p:nvPr>
            <p:ph idx="8" type="subTitle"/>
          </p:nvPr>
        </p:nvSpPr>
        <p:spPr>
          <a:xfrm>
            <a:off x="3717956"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3" name="Google Shape;913;p20"/>
          <p:cNvSpPr txBox="1"/>
          <p:nvPr>
            <p:ph idx="9" type="subTitle"/>
          </p:nvPr>
        </p:nvSpPr>
        <p:spPr>
          <a:xfrm>
            <a:off x="6334911"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4" name="Google Shape;914;p20"/>
          <p:cNvSpPr txBox="1"/>
          <p:nvPr>
            <p:ph idx="13" type="subTitle"/>
          </p:nvPr>
        </p:nvSpPr>
        <p:spPr>
          <a:xfrm>
            <a:off x="1101000"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5" name="Google Shape;915;p20"/>
          <p:cNvSpPr txBox="1"/>
          <p:nvPr>
            <p:ph idx="14" type="subTitle"/>
          </p:nvPr>
        </p:nvSpPr>
        <p:spPr>
          <a:xfrm>
            <a:off x="3717949"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6" name="Google Shape;916;p20"/>
          <p:cNvSpPr txBox="1"/>
          <p:nvPr>
            <p:ph idx="15" type="subTitle"/>
          </p:nvPr>
        </p:nvSpPr>
        <p:spPr>
          <a:xfrm>
            <a:off x="6334911"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9">
    <p:spTree>
      <p:nvGrpSpPr>
        <p:cNvPr id="917" name="Shape 917"/>
        <p:cNvGrpSpPr/>
        <p:nvPr/>
      </p:nvGrpSpPr>
      <p:grpSpPr>
        <a:xfrm>
          <a:off x="0" y="0"/>
          <a:ext cx="0" cy="0"/>
          <a:chOff x="0" y="0"/>
          <a:chExt cx="0" cy="0"/>
        </a:xfrm>
      </p:grpSpPr>
      <p:sp>
        <p:nvSpPr>
          <p:cNvPr id="918" name="Google Shape;918;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19" name="Google Shape;919;p21"/>
          <p:cNvSpPr/>
          <p:nvPr/>
        </p:nvSpPr>
        <p:spPr>
          <a:xfrm rot="5400000">
            <a:off x="141300" y="4200500"/>
            <a:ext cx="1901100" cy="3021900"/>
          </a:xfrm>
          <a:prstGeom prst="round2SameRect">
            <a:avLst>
              <a:gd fmla="val 50000" name="adj1"/>
              <a:gd fmla="val 0" name="adj2"/>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20" name="Google Shape;920;p21"/>
          <p:cNvGrpSpPr/>
          <p:nvPr/>
        </p:nvGrpSpPr>
        <p:grpSpPr>
          <a:xfrm>
            <a:off x="7565823" y="-1089762"/>
            <a:ext cx="1617386" cy="1624770"/>
            <a:chOff x="3992334" y="189904"/>
            <a:chExt cx="1116902" cy="1122001"/>
          </a:xfrm>
        </p:grpSpPr>
        <p:sp>
          <p:nvSpPr>
            <p:cNvPr id="921" name="Google Shape;921;p21"/>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1"/>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1"/>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21"/>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21"/>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21"/>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1"/>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1"/>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1"/>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21"/>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21"/>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932" name="Shape 932"/>
        <p:cNvGrpSpPr/>
        <p:nvPr/>
      </p:nvGrpSpPr>
      <p:grpSpPr>
        <a:xfrm>
          <a:off x="0" y="0"/>
          <a:ext cx="0" cy="0"/>
          <a:chOff x="0" y="0"/>
          <a:chExt cx="0" cy="0"/>
        </a:xfrm>
      </p:grpSpPr>
      <p:sp>
        <p:nvSpPr>
          <p:cNvPr id="933" name="Google Shape;933;p22"/>
          <p:cNvSpPr txBox="1"/>
          <p:nvPr>
            <p:ph type="ctrTitle"/>
          </p:nvPr>
        </p:nvSpPr>
        <p:spPr>
          <a:xfrm>
            <a:off x="2682900" y="535000"/>
            <a:ext cx="3778200" cy="9978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934" name="Google Shape;934;p22"/>
          <p:cNvSpPr txBox="1"/>
          <p:nvPr>
            <p:ph idx="1" type="subTitle"/>
          </p:nvPr>
        </p:nvSpPr>
        <p:spPr>
          <a:xfrm>
            <a:off x="2682900" y="1493525"/>
            <a:ext cx="3778200" cy="997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sz="1600"/>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935" name="Google Shape;935;p22"/>
          <p:cNvSpPr txBox="1"/>
          <p:nvPr/>
        </p:nvSpPr>
        <p:spPr>
          <a:xfrm>
            <a:off x="2471250" y="3496925"/>
            <a:ext cx="4201500" cy="615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1000">
                <a:solidFill>
                  <a:schemeClr val="dk1"/>
                </a:solidFill>
                <a:latin typeface="Nanum Gothic"/>
                <a:ea typeface="Nanum Gothic"/>
                <a:cs typeface="Nanum Gothic"/>
                <a:sym typeface="Nanum Gothic"/>
              </a:rPr>
              <a:t>CREDITS: This presentation template was created by </a:t>
            </a:r>
            <a:r>
              <a:rPr b="1" lang="en" sz="1000" u="sng">
                <a:solidFill>
                  <a:schemeClr val="dk1"/>
                </a:solidFill>
                <a:latin typeface="Nanum Gothic"/>
                <a:ea typeface="Nanum Gothic"/>
                <a:cs typeface="Nanum Gothic"/>
                <a:sym typeface="Nanum Gothic"/>
                <a:hlinkClick r:id="rId2">
                  <a:extLst>
                    <a:ext uri="{A12FA001-AC4F-418D-AE19-62706E023703}">
                      <ahyp:hlinkClr val="tx"/>
                    </a:ext>
                  </a:extLst>
                </a:hlinkClick>
              </a:rPr>
              <a:t>Slidesgo</a:t>
            </a:r>
            <a:r>
              <a:rPr b="1" lang="en" sz="1000" u="sng">
                <a:solidFill>
                  <a:schemeClr val="dk1"/>
                </a:solidFill>
                <a:latin typeface="Nanum Gothic"/>
                <a:ea typeface="Nanum Gothic"/>
                <a:cs typeface="Nanum Gothic"/>
                <a:sym typeface="Nanum Gothic"/>
              </a:rPr>
              <a:t>,</a:t>
            </a:r>
            <a:r>
              <a:rPr b="1" lang="en" sz="1000">
                <a:solidFill>
                  <a:schemeClr val="dk1"/>
                </a:solidFill>
                <a:latin typeface="Nanum Gothic"/>
                <a:ea typeface="Nanum Gothic"/>
                <a:cs typeface="Nanum Gothic"/>
                <a:sym typeface="Nanum Gothic"/>
              </a:rPr>
              <a:t> </a:t>
            </a:r>
            <a:r>
              <a:rPr b="1" lang="en" sz="1000">
                <a:solidFill>
                  <a:schemeClr val="dk1"/>
                </a:solidFill>
                <a:latin typeface="Nanum Gothic"/>
                <a:ea typeface="Nanum Gothic"/>
                <a:cs typeface="Nanum Gothic"/>
                <a:sym typeface="Nanum Gothic"/>
              </a:rPr>
              <a:t>and includes </a:t>
            </a:r>
            <a:r>
              <a:rPr b="1" lang="en" sz="1000">
                <a:solidFill>
                  <a:schemeClr val="dk1"/>
                </a:solidFill>
                <a:latin typeface="Nanum Gothic"/>
                <a:ea typeface="Nanum Gothic"/>
                <a:cs typeface="Nanum Gothic"/>
                <a:sym typeface="Nanum Gothic"/>
              </a:rPr>
              <a:t>icons by </a:t>
            </a:r>
            <a:r>
              <a:rPr b="1" lang="en" sz="1000" u="sng">
                <a:solidFill>
                  <a:schemeClr val="dk1"/>
                </a:solidFill>
                <a:latin typeface="Nanum Gothic"/>
                <a:ea typeface="Nanum Gothic"/>
                <a:cs typeface="Nanum Gothic"/>
                <a:sym typeface="Nanum Gothic"/>
                <a:hlinkClick r:id="rId3">
                  <a:extLst>
                    <a:ext uri="{A12FA001-AC4F-418D-AE19-62706E023703}">
                      <ahyp:hlinkClr val="tx"/>
                    </a:ext>
                  </a:extLst>
                </a:hlinkClick>
              </a:rPr>
              <a:t>Flaticon</a:t>
            </a:r>
            <a:r>
              <a:rPr b="1" lang="en" sz="1000">
                <a:solidFill>
                  <a:schemeClr val="dk1"/>
                </a:solidFill>
                <a:latin typeface="Nanum Gothic"/>
                <a:ea typeface="Nanum Gothic"/>
                <a:cs typeface="Nanum Gothic"/>
                <a:sym typeface="Nanum Gothic"/>
              </a:rPr>
              <a:t> and infographics &amp; images by </a:t>
            </a:r>
            <a:r>
              <a:rPr b="1" lang="en" sz="1000" u="sng">
                <a:solidFill>
                  <a:schemeClr val="dk1"/>
                </a:solidFill>
                <a:latin typeface="Nanum Gothic"/>
                <a:ea typeface="Nanum Gothic"/>
                <a:cs typeface="Nanum Gothic"/>
                <a:sym typeface="Nanum Gothic"/>
                <a:hlinkClick r:id="rId4">
                  <a:extLst>
                    <a:ext uri="{A12FA001-AC4F-418D-AE19-62706E023703}">
                      <ahyp:hlinkClr val="tx"/>
                    </a:ext>
                  </a:extLst>
                </a:hlinkClick>
              </a:rPr>
              <a:t>Freepik</a:t>
            </a:r>
            <a:endParaRPr b="1" sz="1000" u="sng">
              <a:solidFill>
                <a:schemeClr val="dk1"/>
              </a:solidFill>
              <a:highlight>
                <a:srgbClr val="DFDEFC"/>
              </a:highlight>
              <a:latin typeface="Nanum Gothic"/>
              <a:ea typeface="Nanum Gothic"/>
              <a:cs typeface="Nanum Gothic"/>
              <a:sym typeface="Nanum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936" name="Shape 936"/>
        <p:cNvGrpSpPr/>
        <p:nvPr/>
      </p:nvGrpSpPr>
      <p:grpSpPr>
        <a:xfrm>
          <a:off x="0" y="0"/>
          <a:ext cx="0" cy="0"/>
          <a:chOff x="0" y="0"/>
          <a:chExt cx="0" cy="0"/>
        </a:xfrm>
      </p:grpSpPr>
      <p:sp>
        <p:nvSpPr>
          <p:cNvPr id="937" name="Google Shape;937;p23"/>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938" name="Google Shape;938;p23"/>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39" name="Google Shape;939;p23"/>
          <p:cNvGrpSpPr/>
          <p:nvPr/>
        </p:nvGrpSpPr>
        <p:grpSpPr>
          <a:xfrm>
            <a:off x="7858386" y="4140601"/>
            <a:ext cx="1617386" cy="1624770"/>
            <a:chOff x="3992334" y="189904"/>
            <a:chExt cx="1116902" cy="1122001"/>
          </a:xfrm>
        </p:grpSpPr>
        <p:sp>
          <p:nvSpPr>
            <p:cNvPr id="940" name="Google Shape;940;p2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2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2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2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1" name="Google Shape;951;p23"/>
          <p:cNvGrpSpPr/>
          <p:nvPr/>
        </p:nvGrpSpPr>
        <p:grpSpPr>
          <a:xfrm>
            <a:off x="-45478" y="4162264"/>
            <a:ext cx="1105788" cy="1058857"/>
            <a:chOff x="4252810" y="2035226"/>
            <a:chExt cx="624951" cy="598394"/>
          </a:xfrm>
        </p:grpSpPr>
        <p:sp>
          <p:nvSpPr>
            <p:cNvPr id="952" name="Google Shape;952;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 name="Google Shape;994;p23"/>
          <p:cNvGrpSpPr/>
          <p:nvPr/>
        </p:nvGrpSpPr>
        <p:grpSpPr>
          <a:xfrm>
            <a:off x="8864897" y="97489"/>
            <a:ext cx="1105788" cy="1058857"/>
            <a:chOff x="4252810" y="2035226"/>
            <a:chExt cx="624951" cy="598394"/>
          </a:xfrm>
        </p:grpSpPr>
        <p:sp>
          <p:nvSpPr>
            <p:cNvPr id="995" name="Google Shape;995;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037" name="Shape 1037"/>
        <p:cNvGrpSpPr/>
        <p:nvPr/>
      </p:nvGrpSpPr>
      <p:grpSpPr>
        <a:xfrm>
          <a:off x="0" y="0"/>
          <a:ext cx="0" cy="0"/>
          <a:chOff x="0" y="0"/>
          <a:chExt cx="0" cy="0"/>
        </a:xfrm>
      </p:grpSpPr>
      <p:grpSp>
        <p:nvGrpSpPr>
          <p:cNvPr id="1038" name="Google Shape;1038;p24"/>
          <p:cNvGrpSpPr/>
          <p:nvPr/>
        </p:nvGrpSpPr>
        <p:grpSpPr>
          <a:xfrm>
            <a:off x="715097" y="4608489"/>
            <a:ext cx="1105788" cy="1058857"/>
            <a:chOff x="4252810" y="2035226"/>
            <a:chExt cx="624951" cy="598394"/>
          </a:xfrm>
        </p:grpSpPr>
        <p:sp>
          <p:nvSpPr>
            <p:cNvPr id="1039" name="Google Shape;1039;p2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2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2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2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2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2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2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2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2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2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2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2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2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2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2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2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2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2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2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2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2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2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2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2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2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2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2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2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2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2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2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2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2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1" name="Google Shape;1081;p24"/>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082" name="Google Shape;1082;p24"/>
          <p:cNvGrpSpPr/>
          <p:nvPr/>
        </p:nvGrpSpPr>
        <p:grpSpPr>
          <a:xfrm>
            <a:off x="7428836" y="-1089774"/>
            <a:ext cx="1617386" cy="1624770"/>
            <a:chOff x="3992334" y="189904"/>
            <a:chExt cx="1116902" cy="1122001"/>
          </a:xfrm>
        </p:grpSpPr>
        <p:sp>
          <p:nvSpPr>
            <p:cNvPr id="1083" name="Google Shape;1083;p24"/>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24"/>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24"/>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24"/>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24"/>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4"/>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4"/>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4"/>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24"/>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24"/>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24"/>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097" name="Shape 1097"/>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1098" name="Shape 1098"/>
        <p:cNvGrpSpPr/>
        <p:nvPr/>
      </p:nvGrpSpPr>
      <p:grpSpPr>
        <a:xfrm>
          <a:off x="0" y="0"/>
          <a:ext cx="0" cy="0"/>
          <a:chOff x="0" y="0"/>
          <a:chExt cx="0" cy="0"/>
        </a:xfrm>
      </p:grpSpPr>
      <p:sp>
        <p:nvSpPr>
          <p:cNvPr id="1099" name="Google Shape;1099;p27"/>
          <p:cNvSpPr txBox="1"/>
          <p:nvPr>
            <p:ph type="title"/>
          </p:nvPr>
        </p:nvSpPr>
        <p:spPr>
          <a:xfrm>
            <a:off x="723450" y="511025"/>
            <a:ext cx="76971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5100" y="445025"/>
            <a:ext cx="77139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000"/>
              <a:buFont typeface="Cabin"/>
              <a:buNone/>
              <a:defRPr b="1" sz="3000">
                <a:solidFill>
                  <a:schemeClr val="dk1"/>
                </a:solidFill>
                <a:latin typeface="Cabin"/>
                <a:ea typeface="Cabin"/>
                <a:cs typeface="Cabin"/>
                <a:sym typeface="Cabin"/>
              </a:defRPr>
            </a:lvl1pPr>
            <a:lvl2pPr lvl="1"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2pPr>
            <a:lvl3pPr lvl="2"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3pPr>
            <a:lvl4pPr lvl="3"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4pPr>
            <a:lvl5pPr lvl="4"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5pPr>
            <a:lvl6pPr lvl="5"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6pPr>
            <a:lvl7pPr lvl="6"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7pPr>
            <a:lvl8pPr lvl="7"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8pPr>
            <a:lvl9pPr lvl="8"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9pPr>
          </a:lstStyle>
          <a:p/>
        </p:txBody>
      </p:sp>
      <p:sp>
        <p:nvSpPr>
          <p:cNvPr id="7" name="Google Shape;7;p1"/>
          <p:cNvSpPr txBox="1"/>
          <p:nvPr>
            <p:ph idx="1" type="body"/>
          </p:nvPr>
        </p:nvSpPr>
        <p:spPr>
          <a:xfrm>
            <a:off x="715100" y="1152475"/>
            <a:ext cx="77139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1pPr>
            <a:lvl2pPr indent="-304800" lvl="1" marL="914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2pPr>
            <a:lvl3pPr indent="-304800" lvl="2" marL="1371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3pPr>
            <a:lvl4pPr indent="-304800" lvl="3" marL="1828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4pPr>
            <a:lvl5pPr indent="-304800" lvl="4" marL="22860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5pPr>
            <a:lvl6pPr indent="-304800" lvl="5" marL="2743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6pPr>
            <a:lvl7pPr indent="-304800" lvl="6" marL="3200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7pPr>
            <a:lvl8pPr indent="-304800" lvl="7" marL="3657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8pPr>
            <a:lvl9pPr indent="-304800" lvl="8" marL="4114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094" name="Shape 1094"/>
        <p:cNvGrpSpPr/>
        <p:nvPr/>
      </p:nvGrpSpPr>
      <p:grpSpPr>
        <a:xfrm>
          <a:off x="0" y="0"/>
          <a:ext cx="0" cy="0"/>
          <a:chOff x="0" y="0"/>
          <a:chExt cx="0" cy="0"/>
        </a:xfrm>
      </p:grpSpPr>
      <p:sp>
        <p:nvSpPr>
          <p:cNvPr id="1095" name="Google Shape;1095;p25"/>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1096" name="Google Shape;1096;p25"/>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1" r:id="rId1"/>
    <p:sldLayoutId id="2147483672"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188720" y="1280160"/>
            <a:ext cx="6766560" cy="1463040"/>
          </a:xfrm>
        </p:spPr>
        <p:txBody>
          <a:bodyPr/>
          <a:lstStyle/>
          <a:p>
            <a:pPr marL="0" indent="0">
              <a:buNone/>
            </a:pPr>
            <a:r>
              <a:rPr sz="3200"/>
              <a:t>Detecting Cardiovascular Disease from a Routine Check-up</a:t>
            </a:r>
          </a:p>
        </p:txBody>
      </p:sp>
      <p:sp>
        <p:nvSpPr>
          <p:cNvPr id="3" name="Subtitle 2"/>
          <p:cNvSpPr>
            <a:spLocks noGrp="1"/>
          </p:cNvSpPr>
          <p:nvPr>
            <p:ph type="subTitle" idx="1"/>
          </p:nvPr>
        </p:nvSpPr>
        <p:spPr>
          <a:xfrm>
            <a:off x="1371600" y="2788920"/>
            <a:ext cx="6400800" cy="411480"/>
          </a:xfrm>
        </p:spPr>
        <p:txBody>
          <a:bodyPr/>
          <a:lstStyle/>
          <a:p>
            <a:pPr marL="0" indent="0">
              <a:buNone/>
            </a:pPr>
            <a:r>
              <a:rPr sz="1300"/>
              <a:t>Patient's Sickness Prediction · 70,000 medical examinations</a:t>
            </a:r>
          </a:p>
        </p:txBody>
      </p:sp>
      <p:pic>
        <p:nvPicPr>
          <p:cNvPr id="4" name="!!logo" descr="lu-logo-plate.png"/>
          <p:cNvPicPr>
            <a:picLocks noChangeAspect="1"/>
          </p:cNvPicPr>
          <p:nvPr/>
        </p:nvPicPr>
        <p:blipFill>
          <a:blip r:embed="rId2"/>
          <a:stretch>
            <a:fillRect/>
          </a:stretch>
        </p:blipFill>
        <p:spPr>
          <a:xfrm>
            <a:off x="4190134" y="164592"/>
            <a:ext cx="763731" cy="960120"/>
          </a:xfrm>
          <a:prstGeom prst="rect">
            <a:avLst/>
          </a:prstGeom>
        </p:spPr>
      </p:pic>
      <p:sp>
        <p:nvSpPr>
          <p:cNvPr id="5" name="!!byline"/>
          <p:cNvSpPr txBox="1"/>
          <p:nvPr/>
        </p:nvSpPr>
        <p:spPr>
          <a:xfrm>
            <a:off x="1828800" y="3520440"/>
            <a:ext cx="5486400" cy="731520"/>
          </a:xfrm>
          <a:prstGeom prst="rect">
            <a:avLst/>
          </a:prstGeom>
          <a:noFill/>
        </p:spPr>
        <p:txBody>
          <a:bodyPr wrap="square" anchor="t" lIns="0" rIns="0" tIns="0" bIns="0">
            <a:spAutoFit/>
          </a:bodyPr>
          <a:lstStyle/>
          <a:p>
            <a:pPr algn="ctr"/>
            <a:r>
              <a:rPr sz="1700" b="1" i="0">
                <a:solidFill>
                  <a:srgbClr val="0D3C4C"/>
                </a:solidFill>
                <a:latin typeface="Cabin"/>
              </a:rPr>
              <a:t>Hadi Ghazi</a:t>
            </a:r>
          </a:p>
          <a:p>
            <a:pPr algn="ctr">
              <a:spcBef>
                <a:spcPts val="300"/>
              </a:spcBef>
            </a:pPr>
            <a:r>
              <a:rPr sz="1250" b="1" i="0">
                <a:solidFill>
                  <a:srgbClr val="B23A2E"/>
                </a:solidFill>
                <a:latin typeface="Nanum Gothic"/>
              </a:rPr>
              <a:t>Lebanese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Why this matters</a:t>
            </a:r>
          </a:p>
        </p:txBody>
      </p:sp>
      <p:sp>
        <p:nvSpPr>
          <p:cNvPr id="3" name="Rounded Rectangle 2"/>
          <p:cNvSpPr/>
          <p:nvPr/>
        </p:nvSpPr>
        <p:spPr>
          <a:xfrm>
            <a:off x="722376" y="1234440"/>
            <a:ext cx="2971800" cy="34290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Oval 3"/>
          <p:cNvSpPr/>
          <p:nvPr/>
        </p:nvSpPr>
        <p:spPr>
          <a:xfrm>
            <a:off x="950976" y="1463040"/>
            <a:ext cx="640080" cy="640080"/>
          </a:xfrm>
          <a:prstGeom prst="ellipse">
            <a:avLst/>
          </a:prstGeom>
          <a:solidFill>
            <a:srgbClr val="E05A4F"/>
          </a:solidFill>
          <a:ln>
            <a:noFill/>
          </a:ln>
        </p:spPr>
        <p:txBody>
          <a:bodyPr rtlCol="0" anchor="ctr" lIns="73152" rIns="73152" tIns="27432" bIns="27432"/>
          <a:lstStyle/>
          <a:p>
            <a:pPr algn="ctr"/>
          </a:p>
        </p:txBody>
      </p:sp>
      <p:grpSp>
        <p:nvGrpSpPr>
          <p:cNvPr id="5" name="icon heart"/>
          <p:cNvGrpSpPr/>
          <p:nvPr/>
        </p:nvGrpSpPr>
        <p:grpSpPr>
          <a:xfrm>
            <a:off x="1091793" y="1627510"/>
            <a:ext cx="358444" cy="311138"/>
            <a:chOff x="-28462125" y="3199700"/>
            <a:chExt cx="298550" cy="259150"/>
          </a:xfrm>
        </p:grpSpPr>
        <p:sp>
          <p:nvSpPr>
            <p:cNvPr id="6"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950976" y="2286000"/>
            <a:ext cx="2560320" cy="548640"/>
          </a:xfrm>
          <a:prstGeom prst="rect">
            <a:avLst/>
          </a:prstGeom>
          <a:noFill/>
        </p:spPr>
        <p:txBody>
          <a:bodyPr wrap="square" anchor="t" lIns="0" rIns="0" tIns="0" bIns="0">
            <a:spAutoFit/>
          </a:bodyPr>
          <a:lstStyle/>
          <a:p>
            <a:pPr algn="l"/>
            <a:r>
              <a:rPr sz="3000" b="1" i="0">
                <a:solidFill>
                  <a:srgbClr val="B23A2E"/>
                </a:solidFill>
                <a:latin typeface="Cabin"/>
              </a:rPr>
              <a:t>17.9 million</a:t>
            </a:r>
          </a:p>
        </p:txBody>
      </p:sp>
      <p:sp>
        <p:nvSpPr>
          <p:cNvPr id="10" name="TextBox 9"/>
          <p:cNvSpPr txBox="1"/>
          <p:nvPr/>
        </p:nvSpPr>
        <p:spPr>
          <a:xfrm>
            <a:off x="950976" y="2852928"/>
            <a:ext cx="2560320" cy="822960"/>
          </a:xfrm>
          <a:prstGeom prst="rect">
            <a:avLst/>
          </a:prstGeom>
          <a:noFill/>
        </p:spPr>
        <p:txBody>
          <a:bodyPr wrap="square" anchor="t" lIns="0" rIns="0" tIns="0" bIns="0">
            <a:spAutoFit/>
          </a:bodyPr>
          <a:lstStyle/>
          <a:p>
            <a:pPr algn="l"/>
            <a:r>
              <a:rPr sz="1250" b="0" i="0">
                <a:solidFill>
                  <a:srgbClr val="0D3C4C"/>
                </a:solidFill>
                <a:latin typeface="Nanum Gothic"/>
              </a:rPr>
              <a:t>deaths a year from cardiovascular disease, the world's leading cause of death (WHO)</a:t>
            </a:r>
          </a:p>
        </p:txBody>
      </p:sp>
      <p:sp>
        <p:nvSpPr>
          <p:cNvPr id="11" name="TextBox 10"/>
          <p:cNvSpPr txBox="1"/>
          <p:nvPr/>
        </p:nvSpPr>
        <p:spPr>
          <a:xfrm>
            <a:off x="950976" y="3767328"/>
            <a:ext cx="2560320" cy="731520"/>
          </a:xfrm>
          <a:prstGeom prst="rect">
            <a:avLst/>
          </a:prstGeom>
          <a:noFill/>
        </p:spPr>
        <p:txBody>
          <a:bodyPr wrap="square" anchor="t" lIns="0" rIns="0" tIns="0" bIns="0">
            <a:spAutoFit/>
          </a:bodyPr>
          <a:lstStyle/>
          <a:p>
            <a:pPr algn="l"/>
            <a:r>
              <a:rPr sz="1200" b="0" i="0">
                <a:solidFill>
                  <a:srgbClr val="4F6A73"/>
                </a:solidFill>
                <a:latin typeface="Nanum Gothic"/>
              </a:rPr>
              <a:t>Many could be delayed if patients at risk were found early, at an ordinary check-up.</a:t>
            </a:r>
          </a:p>
        </p:txBody>
      </p:sp>
      <p:sp>
        <p:nvSpPr>
          <p:cNvPr id="12" name="TextBox 11"/>
          <p:cNvSpPr txBox="1"/>
          <p:nvPr/>
        </p:nvSpPr>
        <p:spPr>
          <a:xfrm>
            <a:off x="4069080" y="1234440"/>
            <a:ext cx="4343400" cy="274320"/>
          </a:xfrm>
          <a:prstGeom prst="rect">
            <a:avLst/>
          </a:prstGeom>
          <a:noFill/>
        </p:spPr>
        <p:txBody>
          <a:bodyPr wrap="square" anchor="t" lIns="0" rIns="0" tIns="0" bIns="0">
            <a:spAutoFit/>
          </a:bodyPr>
          <a:lstStyle/>
          <a:p>
            <a:pPr algn="l"/>
            <a:r>
              <a:rPr sz="1050" b="1" i="0">
                <a:solidFill>
                  <a:srgbClr val="B23A2E"/>
                </a:solidFill>
                <a:latin typeface="Nanum Gothic"/>
              </a:rPr>
              <a:t>OBJECTIVE</a:t>
            </a:r>
          </a:p>
        </p:txBody>
      </p:sp>
      <p:sp>
        <p:nvSpPr>
          <p:cNvPr id="13" name="TextBox 12"/>
          <p:cNvSpPr txBox="1"/>
          <p:nvPr/>
        </p:nvSpPr>
        <p:spPr>
          <a:xfrm>
            <a:off x="4069080" y="1481328"/>
            <a:ext cx="4343400" cy="685800"/>
          </a:xfrm>
          <a:prstGeom prst="rect">
            <a:avLst/>
          </a:prstGeom>
          <a:noFill/>
        </p:spPr>
        <p:txBody>
          <a:bodyPr wrap="square" anchor="t" lIns="0" rIns="0" tIns="0" bIns="0">
            <a:spAutoFit/>
          </a:bodyPr>
          <a:lstStyle/>
          <a:p>
            <a:pPr algn="l"/>
            <a:r>
              <a:rPr sz="1450" b="1" i="0">
                <a:solidFill>
                  <a:srgbClr val="0D3C4C"/>
                </a:solidFill>
                <a:latin typeface="Cabin"/>
              </a:rPr>
              <a:t>Build a model that detects cardiovascular disease from one examination, and measure honestly how good it is</a:t>
            </a:r>
          </a:p>
        </p:txBody>
      </p:sp>
      <p:sp>
        <p:nvSpPr>
          <p:cNvPr id="14" name="!!q0"/>
          <p:cNvSpPr/>
          <p:nvPr/>
        </p:nvSpPr>
        <p:spPr>
          <a:xfrm>
            <a:off x="4069080" y="2377440"/>
            <a:ext cx="530352" cy="530352"/>
          </a:xfrm>
          <a:prstGeom prst="ellipse">
            <a:avLst/>
          </a:prstGeom>
          <a:solidFill>
            <a:srgbClr val="0D3C4C"/>
          </a:solidFill>
          <a:ln>
            <a:noFill/>
          </a:ln>
        </p:spPr>
        <p:txBody>
          <a:bodyPr rtlCol="0" anchor="ctr" lIns="73152" rIns="73152" tIns="27432" bIns="27432"/>
          <a:lstStyle/>
          <a:p>
            <a:pPr algn="ctr"/>
          </a:p>
        </p:txBody>
      </p:sp>
      <p:grpSp>
        <p:nvGrpSpPr>
          <p:cNvPr id="15" name="icon bars"/>
          <p:cNvGrpSpPr/>
          <p:nvPr/>
        </p:nvGrpSpPr>
        <p:grpSpPr>
          <a:xfrm>
            <a:off x="4185757" y="2494852"/>
            <a:ext cx="296997" cy="295527"/>
            <a:chOff x="-62151950" y="4111775"/>
            <a:chExt cx="318225" cy="316650"/>
          </a:xfrm>
        </p:grpSpPr>
        <p:sp>
          <p:nvSpPr>
            <p:cNvPr id="1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4754880" y="2359152"/>
            <a:ext cx="3657600" cy="274320"/>
          </a:xfrm>
          <a:prstGeom prst="rect">
            <a:avLst/>
          </a:prstGeom>
          <a:noFill/>
        </p:spPr>
        <p:txBody>
          <a:bodyPr wrap="square" anchor="t" lIns="0" rIns="0" tIns="0" bIns="0">
            <a:spAutoFit/>
          </a:bodyPr>
          <a:lstStyle/>
          <a:p>
            <a:pPr algn="l"/>
            <a:r>
              <a:rPr sz="1350" b="1" i="0">
                <a:solidFill>
                  <a:srgbClr val="0D3C4C"/>
                </a:solidFill>
                <a:latin typeface="Cabin"/>
              </a:rPr>
              <a:t>Q1 · What does machine learning add?</a:t>
            </a:r>
          </a:p>
        </p:txBody>
      </p:sp>
      <p:sp>
        <p:nvSpPr>
          <p:cNvPr id="21" name="TextBox 20"/>
          <p:cNvSpPr txBox="1"/>
          <p:nvPr/>
        </p:nvSpPr>
        <p:spPr>
          <a:xfrm>
            <a:off x="4754880" y="2642616"/>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Compared with a blood-pressure rule and a standard risk score</a:t>
            </a:r>
          </a:p>
        </p:txBody>
      </p:sp>
      <p:sp>
        <p:nvSpPr>
          <p:cNvPr id="22" name="!!q1"/>
          <p:cNvSpPr/>
          <p:nvPr/>
        </p:nvSpPr>
        <p:spPr>
          <a:xfrm>
            <a:off x="4069080" y="3136392"/>
            <a:ext cx="530352" cy="530352"/>
          </a:xfrm>
          <a:prstGeom prst="ellipse">
            <a:avLst/>
          </a:prstGeom>
          <a:solidFill>
            <a:srgbClr val="0D3C4C"/>
          </a:solidFill>
          <a:ln>
            <a:noFill/>
          </a:ln>
        </p:spPr>
        <p:txBody>
          <a:bodyPr rtlCol="0" anchor="ctr" lIns="73152" rIns="73152" tIns="27432" bIns="27432"/>
          <a:lstStyle/>
          <a:p>
            <a:pPr algn="ctr"/>
          </a:p>
        </p:txBody>
      </p:sp>
      <p:grpSp>
        <p:nvGrpSpPr>
          <p:cNvPr id="23" name="icon database"/>
          <p:cNvGrpSpPr/>
          <p:nvPr/>
        </p:nvGrpSpPr>
        <p:grpSpPr>
          <a:xfrm>
            <a:off x="4186126" y="3253069"/>
            <a:ext cx="296259" cy="296997"/>
            <a:chOff x="-3771675" y="3971775"/>
            <a:chExt cx="291300" cy="292025"/>
          </a:xfrm>
        </p:grpSpPr>
        <p:sp>
          <p:nvSpPr>
            <p:cNvPr id="24"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4754880" y="3118104"/>
            <a:ext cx="3657600" cy="274320"/>
          </a:xfrm>
          <a:prstGeom prst="rect">
            <a:avLst/>
          </a:prstGeom>
          <a:noFill/>
        </p:spPr>
        <p:txBody>
          <a:bodyPr wrap="square" anchor="t" lIns="0" rIns="0" tIns="0" bIns="0">
            <a:spAutoFit/>
          </a:bodyPr>
          <a:lstStyle/>
          <a:p>
            <a:pPr algn="l"/>
            <a:r>
              <a:rPr sz="1350" b="1" i="0">
                <a:solidFill>
                  <a:srgbClr val="0D3C4C"/>
                </a:solidFill>
                <a:latin typeface="Cabin"/>
              </a:rPr>
              <a:t>Q2 · How much does data handling matter?</a:t>
            </a:r>
          </a:p>
        </p:txBody>
      </p:sp>
      <p:sp>
        <p:nvSpPr>
          <p:cNvPr id="30" name="TextBox 29"/>
          <p:cNvSpPr txBox="1"/>
          <p:nvPr/>
        </p:nvSpPr>
        <p:spPr>
          <a:xfrm>
            <a:off x="4754880" y="3401568"/>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Cleaning, and the mistakes that inflate accuracy</a:t>
            </a:r>
          </a:p>
        </p:txBody>
      </p:sp>
      <p:sp>
        <p:nvSpPr>
          <p:cNvPr id="31" name="!!q2"/>
          <p:cNvSpPr/>
          <p:nvPr/>
        </p:nvSpPr>
        <p:spPr>
          <a:xfrm>
            <a:off x="4069080" y="3895344"/>
            <a:ext cx="530352" cy="530352"/>
          </a:xfrm>
          <a:prstGeom prst="ellipse">
            <a:avLst/>
          </a:prstGeom>
          <a:solidFill>
            <a:srgbClr val="0D3C4C"/>
          </a:solidFill>
          <a:ln>
            <a:noFill/>
          </a:ln>
        </p:spPr>
        <p:txBody>
          <a:bodyPr rtlCol="0" anchor="ctr" lIns="73152" rIns="73152" tIns="27432" bIns="27432"/>
          <a:lstStyle/>
          <a:p>
            <a:pPr algn="ctr"/>
          </a:p>
        </p:txBody>
      </p:sp>
      <p:grpSp>
        <p:nvGrpSpPr>
          <p:cNvPr id="32" name="icon stethoscope"/>
          <p:cNvGrpSpPr/>
          <p:nvPr/>
        </p:nvGrpSpPr>
        <p:grpSpPr>
          <a:xfrm>
            <a:off x="4207928" y="4012021"/>
            <a:ext cx="252655" cy="296997"/>
            <a:chOff x="-27691025" y="3175300"/>
            <a:chExt cx="251275" cy="295375"/>
          </a:xfrm>
        </p:grpSpPr>
        <p:sp>
          <p:nvSpPr>
            <p:cNvPr id="33"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TextBox 36"/>
          <p:cNvSpPr txBox="1"/>
          <p:nvPr/>
        </p:nvSpPr>
        <p:spPr>
          <a:xfrm>
            <a:off x="4754880" y="3877056"/>
            <a:ext cx="3657600" cy="274320"/>
          </a:xfrm>
          <a:prstGeom prst="rect">
            <a:avLst/>
          </a:prstGeom>
          <a:noFill/>
        </p:spPr>
        <p:txBody>
          <a:bodyPr wrap="square" anchor="t" lIns="0" rIns="0" tIns="0" bIns="0">
            <a:spAutoFit/>
          </a:bodyPr>
          <a:lstStyle/>
          <a:p>
            <a:pPr algn="l"/>
            <a:r>
              <a:rPr sz="1350" b="1" i="0">
                <a:solidFill>
                  <a:srgbClr val="0D3C4C"/>
                </a:solidFill>
                <a:latin typeface="Cabin"/>
              </a:rPr>
              <a:t>Q3 · Can the predictions be trusted?</a:t>
            </a:r>
          </a:p>
        </p:txBody>
      </p:sp>
      <p:sp>
        <p:nvSpPr>
          <p:cNvPr id="38" name="TextBox 37"/>
          <p:cNvSpPr txBox="1"/>
          <p:nvPr/>
        </p:nvSpPr>
        <p:spPr>
          <a:xfrm>
            <a:off x="4754880" y="4160520"/>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Calibration, explanations, every kind of patient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data: 70,000 check-ups</a:t>
            </a:r>
          </a:p>
        </p:txBody>
      </p:sp>
      <p:sp>
        <p:nvSpPr>
          <p:cNvPr id="3" name="Rounded Rectangle 2"/>
          <p:cNvSpPr/>
          <p:nvPr/>
        </p:nvSpPr>
        <p:spPr>
          <a:xfrm>
            <a:off x="722376"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TextBox 3"/>
          <p:cNvSpPr txBox="1"/>
          <p:nvPr/>
        </p:nvSpPr>
        <p:spPr>
          <a:xfrm>
            <a:off x="722376"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70,000</a:t>
            </a:r>
          </a:p>
        </p:txBody>
      </p:sp>
      <p:sp>
        <p:nvSpPr>
          <p:cNvPr id="5" name="TextBox 4"/>
          <p:cNvSpPr txBox="1"/>
          <p:nvPr/>
        </p:nvSpPr>
        <p:spPr>
          <a:xfrm>
            <a:off x="722376"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patients</a:t>
            </a:r>
          </a:p>
        </p:txBody>
      </p:sp>
      <p:sp>
        <p:nvSpPr>
          <p:cNvPr id="6" name="Rounded Rectangle 5"/>
          <p:cNvSpPr/>
          <p:nvPr/>
        </p:nvSpPr>
        <p:spPr>
          <a:xfrm>
            <a:off x="3355848"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3355848"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11</a:t>
            </a:r>
          </a:p>
        </p:txBody>
      </p:sp>
      <p:sp>
        <p:nvSpPr>
          <p:cNvPr id="8" name="TextBox 7"/>
          <p:cNvSpPr txBox="1"/>
          <p:nvPr/>
        </p:nvSpPr>
        <p:spPr>
          <a:xfrm>
            <a:off x="3355848"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values per examination</a:t>
            </a:r>
          </a:p>
        </p:txBody>
      </p:sp>
      <p:sp>
        <p:nvSpPr>
          <p:cNvPr id="9" name="Rounded Rectangle 8"/>
          <p:cNvSpPr/>
          <p:nvPr/>
        </p:nvSpPr>
        <p:spPr>
          <a:xfrm>
            <a:off x="5989320"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5989320"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50 / 50</a:t>
            </a:r>
          </a:p>
        </p:txBody>
      </p:sp>
      <p:sp>
        <p:nvSpPr>
          <p:cNvPr id="11" name="TextBox 10"/>
          <p:cNvSpPr txBox="1"/>
          <p:nvPr/>
        </p:nvSpPr>
        <p:spPr>
          <a:xfrm>
            <a:off x="5989320"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with and without CVD</a:t>
            </a:r>
          </a:p>
        </p:txBody>
      </p:sp>
      <p:sp>
        <p:nvSpPr>
          <p:cNvPr id="12" name="Oval 11"/>
          <p:cNvSpPr/>
          <p:nvPr/>
        </p:nvSpPr>
        <p:spPr>
          <a:xfrm>
            <a:off x="722376"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13" name="icon stethoscope"/>
          <p:cNvGrpSpPr/>
          <p:nvPr/>
        </p:nvGrpSpPr>
        <p:grpSpPr>
          <a:xfrm>
            <a:off x="842073" y="2587752"/>
            <a:ext cx="217806" cy="256032"/>
            <a:chOff x="-27691025" y="3175300"/>
            <a:chExt cx="251275" cy="295375"/>
          </a:xfrm>
        </p:grpSpPr>
        <p:sp>
          <p:nvSpPr>
            <p:cNvPr id="14"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 name="TextBox 17"/>
          <p:cNvSpPr txBox="1"/>
          <p:nvPr/>
        </p:nvSpPr>
        <p:spPr>
          <a:xfrm>
            <a:off x="1289304"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Measured</a:t>
            </a:r>
          </a:p>
        </p:txBody>
      </p:sp>
      <p:sp>
        <p:nvSpPr>
          <p:cNvPr id="19" name="Rounded Rectangle 18"/>
          <p:cNvSpPr/>
          <p:nvPr/>
        </p:nvSpPr>
        <p:spPr>
          <a:xfrm>
            <a:off x="72237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age</a:t>
            </a:r>
          </a:p>
        </p:txBody>
      </p:sp>
      <p:sp>
        <p:nvSpPr>
          <p:cNvPr id="20" name="Rounded Rectangle 19"/>
          <p:cNvSpPr/>
          <p:nvPr/>
        </p:nvSpPr>
        <p:spPr>
          <a:xfrm>
            <a:off x="1929384"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sex</a:t>
            </a:r>
          </a:p>
        </p:txBody>
      </p:sp>
      <p:sp>
        <p:nvSpPr>
          <p:cNvPr id="21" name="Rounded Rectangle 20"/>
          <p:cNvSpPr/>
          <p:nvPr/>
        </p:nvSpPr>
        <p:spPr>
          <a:xfrm>
            <a:off x="722376"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height</a:t>
            </a:r>
          </a:p>
        </p:txBody>
      </p:sp>
      <p:sp>
        <p:nvSpPr>
          <p:cNvPr id="22" name="Rounded Rectangle 21"/>
          <p:cNvSpPr/>
          <p:nvPr/>
        </p:nvSpPr>
        <p:spPr>
          <a:xfrm>
            <a:off x="1929384"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weight</a:t>
            </a:r>
          </a:p>
        </p:txBody>
      </p:sp>
      <p:sp>
        <p:nvSpPr>
          <p:cNvPr id="23" name="Rounded Rectangle 22"/>
          <p:cNvSpPr/>
          <p:nvPr/>
        </p:nvSpPr>
        <p:spPr>
          <a:xfrm>
            <a:off x="722376"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systolic pressure</a:t>
            </a:r>
          </a:p>
        </p:txBody>
      </p:sp>
      <p:sp>
        <p:nvSpPr>
          <p:cNvPr id="24" name="Rounded Rectangle 23"/>
          <p:cNvSpPr/>
          <p:nvPr/>
        </p:nvSpPr>
        <p:spPr>
          <a:xfrm>
            <a:off x="1929384"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diastolic pressure</a:t>
            </a:r>
          </a:p>
        </p:txBody>
      </p:sp>
      <p:sp>
        <p:nvSpPr>
          <p:cNvPr id="25" name="Oval 24"/>
          <p:cNvSpPr/>
          <p:nvPr/>
        </p:nvSpPr>
        <p:spPr>
          <a:xfrm>
            <a:off x="3355848"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26" name="icon flask"/>
          <p:cNvGrpSpPr/>
          <p:nvPr/>
        </p:nvGrpSpPr>
        <p:grpSpPr>
          <a:xfrm>
            <a:off x="3501484" y="2587752"/>
            <a:ext cx="165928" cy="256032"/>
            <a:chOff x="-28032075" y="3916450"/>
            <a:chExt cx="191425" cy="295375"/>
          </a:xfrm>
        </p:grpSpPr>
        <p:sp>
          <p:nvSpPr>
            <p:cNvPr id="27"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 name="TextBox 29"/>
          <p:cNvSpPr txBox="1"/>
          <p:nvPr/>
        </p:nvSpPr>
        <p:spPr>
          <a:xfrm>
            <a:off x="3922776"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Lab result, 3 levels</a:t>
            </a:r>
          </a:p>
        </p:txBody>
      </p:sp>
      <p:sp>
        <p:nvSpPr>
          <p:cNvPr id="31" name="Rounded Rectangle 30"/>
          <p:cNvSpPr/>
          <p:nvPr/>
        </p:nvSpPr>
        <p:spPr>
          <a:xfrm>
            <a:off x="335584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cholesterol</a:t>
            </a:r>
          </a:p>
        </p:txBody>
      </p:sp>
      <p:sp>
        <p:nvSpPr>
          <p:cNvPr id="32" name="Rounded Rectangle 31"/>
          <p:cNvSpPr/>
          <p:nvPr/>
        </p:nvSpPr>
        <p:spPr>
          <a:xfrm>
            <a:off x="456285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glucose</a:t>
            </a:r>
          </a:p>
        </p:txBody>
      </p:sp>
      <p:sp>
        <p:nvSpPr>
          <p:cNvPr id="33" name="Oval 32"/>
          <p:cNvSpPr/>
          <p:nvPr/>
        </p:nvSpPr>
        <p:spPr>
          <a:xfrm>
            <a:off x="5989320" y="2487168"/>
            <a:ext cx="457200" cy="457200"/>
          </a:xfrm>
          <a:prstGeom prst="ellipse">
            <a:avLst/>
          </a:prstGeom>
          <a:solidFill>
            <a:srgbClr val="0D3C4C"/>
          </a:solidFill>
          <a:ln>
            <a:noFill/>
          </a:ln>
        </p:spPr>
        <p:txBody>
          <a:bodyPr rtlCol="0" anchor="ctr" lIns="73152" rIns="73152" tIns="27432" bIns="27432"/>
          <a:lstStyle/>
          <a:p>
            <a:pPr algn="ctr"/>
          </a:p>
        </p:txBody>
      </p:sp>
      <p:sp>
        <p:nvSpPr>
          <p:cNvPr id="34" name="icon clipboard"/>
          <p:cNvSpPr/>
          <p:nvPr/>
        </p:nvSpPr>
        <p:spPr>
          <a:xfrm>
            <a:off x="6108693" y="2587752"/>
            <a:ext cx="218453" cy="256032"/>
          </a:xfrm>
          <a:custGeom>
            <a:rect b="b" l="l" r="r" t="t"/>
            <a:pathLst>
              <a:path extrusionOk="0" h="12666" w="10807">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TextBox 34"/>
          <p:cNvSpPr txBox="1"/>
          <p:nvPr/>
        </p:nvSpPr>
        <p:spPr>
          <a:xfrm>
            <a:off x="6556248"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Self-reported, yes / no</a:t>
            </a:r>
          </a:p>
        </p:txBody>
      </p:sp>
      <p:sp>
        <p:nvSpPr>
          <p:cNvPr id="36" name="Rounded Rectangle 35"/>
          <p:cNvSpPr/>
          <p:nvPr/>
        </p:nvSpPr>
        <p:spPr>
          <a:xfrm>
            <a:off x="5989320"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smoking</a:t>
            </a:r>
          </a:p>
        </p:txBody>
      </p:sp>
      <p:sp>
        <p:nvSpPr>
          <p:cNvPr id="37" name="Rounded Rectangle 36"/>
          <p:cNvSpPr/>
          <p:nvPr/>
        </p:nvSpPr>
        <p:spPr>
          <a:xfrm>
            <a:off x="719632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alcohol</a:t>
            </a:r>
          </a:p>
        </p:txBody>
      </p:sp>
      <p:sp>
        <p:nvSpPr>
          <p:cNvPr id="38" name="Rounded Rectangle 37"/>
          <p:cNvSpPr/>
          <p:nvPr/>
        </p:nvSpPr>
        <p:spPr>
          <a:xfrm>
            <a:off x="5989320"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physical activity</a:t>
            </a:r>
          </a:p>
        </p:txBody>
      </p:sp>
      <p:sp>
        <p:nvSpPr>
          <p:cNvPr id="39" name="TextBox 38"/>
          <p:cNvSpPr txBox="1"/>
          <p:nvPr/>
        </p:nvSpPr>
        <p:spPr>
          <a:xfrm>
            <a:off x="722376" y="4434840"/>
            <a:ext cx="7680960" cy="274320"/>
          </a:xfrm>
          <a:prstGeom prst="rect">
            <a:avLst/>
          </a:prstGeom>
          <a:noFill/>
        </p:spPr>
        <p:txBody>
          <a:bodyPr wrap="square" anchor="t" lIns="0" rIns="0" tIns="0" bIns="0">
            <a:spAutoFit/>
          </a:bodyPr>
          <a:lstStyle/>
          <a:p>
            <a:pPr algn="l"/>
            <a:r>
              <a:rPr sz="1050" b="0" i="0">
                <a:solidFill>
                  <a:srgbClr val="4F6A73"/>
                </a:solidFill>
                <a:latin typeface="Nanum Gothic"/>
              </a:rPr>
              <a:t>Kaggle cardiovascular disease dataset (Ulianova, 2019). Its source and the definition of "disease" are not documented.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2% of the records are impossible</a:t>
            </a:r>
          </a:p>
        </p:txBody>
      </p:sp>
      <p:pic>
        <p:nvPicPr>
          <p:cNvPr id="3" name="Picture 2" descr="crop_fig1_blood_pressure_cleaning.png"/>
          <p:cNvPicPr>
            <a:picLocks noChangeAspect="1"/>
          </p:cNvPicPr>
          <p:nvPr/>
        </p:nvPicPr>
        <p:blipFill>
          <a:blip r:embed="rId2"/>
          <a:stretch>
            <a:fillRect/>
          </a:stretch>
        </p:blipFill>
        <p:spPr>
          <a:xfrm>
            <a:off x="566928" y="1170432"/>
            <a:ext cx="5074920" cy="1840788"/>
          </a:xfrm>
          <a:prstGeom prst="rect">
            <a:avLst/>
          </a:prstGeom>
        </p:spPr>
      </p:pic>
      <p:sp>
        <p:nvSpPr>
          <p:cNvPr id="4" name="TextBox 3"/>
          <p:cNvSpPr txBox="1"/>
          <p:nvPr/>
        </p:nvSpPr>
        <p:spPr>
          <a:xfrm>
            <a:off x="5897880" y="1188720"/>
            <a:ext cx="2560320" cy="274320"/>
          </a:xfrm>
          <a:prstGeom prst="rect">
            <a:avLst/>
          </a:prstGeom>
          <a:noFill/>
        </p:spPr>
        <p:txBody>
          <a:bodyPr wrap="square" anchor="t" lIns="0" rIns="0" tIns="0" bIns="0">
            <a:spAutoFit/>
          </a:bodyPr>
          <a:lstStyle/>
          <a:p>
            <a:pPr algn="l"/>
            <a:r>
              <a:rPr sz="1050" b="1" i="0">
                <a:solidFill>
                  <a:srgbClr val="B23A2E"/>
                </a:solidFill>
                <a:latin typeface="Nanum Gothic"/>
              </a:rPr>
              <a:t>TYPING ERRORS WITH A PATTERN</a:t>
            </a:r>
          </a:p>
        </p:txBody>
      </p:sp>
      <p:sp>
        <p:nvSpPr>
          <p:cNvPr id="5" name="Rounded Rectangle 4"/>
          <p:cNvSpPr/>
          <p:nvPr/>
        </p:nvSpPr>
        <p:spPr>
          <a:xfrm>
            <a:off x="5897880" y="150876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1000 → 100</a:t>
            </a:r>
          </a:p>
        </p:txBody>
      </p:sp>
      <p:sp>
        <p:nvSpPr>
          <p:cNvPr id="6" name="TextBox 5"/>
          <p:cNvSpPr txBox="1"/>
          <p:nvPr/>
        </p:nvSpPr>
        <p:spPr>
          <a:xfrm>
            <a:off x="7406640" y="150876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an extra zero</a:t>
            </a:r>
          </a:p>
        </p:txBody>
      </p:sp>
      <p:sp>
        <p:nvSpPr>
          <p:cNvPr id="7" name="Rounded Rectangle 6"/>
          <p:cNvSpPr/>
          <p:nvPr/>
        </p:nvSpPr>
        <p:spPr>
          <a:xfrm>
            <a:off x="5897880" y="205740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 → 120</a:t>
            </a:r>
          </a:p>
        </p:txBody>
      </p:sp>
      <p:sp>
        <p:nvSpPr>
          <p:cNvPr id="8" name="TextBox 7"/>
          <p:cNvSpPr txBox="1"/>
          <p:nvPr/>
        </p:nvSpPr>
        <p:spPr>
          <a:xfrm>
            <a:off x="7406640" y="205740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cmHg instead of mmHg</a:t>
            </a:r>
          </a:p>
        </p:txBody>
      </p:sp>
      <p:sp>
        <p:nvSpPr>
          <p:cNvPr id="9" name="Rounded Rectangle 8"/>
          <p:cNvSpPr/>
          <p:nvPr/>
        </p:nvSpPr>
        <p:spPr>
          <a:xfrm>
            <a:off x="5897880" y="260603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−120 → 120</a:t>
            </a:r>
          </a:p>
        </p:txBody>
      </p:sp>
      <p:sp>
        <p:nvSpPr>
          <p:cNvPr id="10" name="TextBox 9"/>
          <p:cNvSpPr txBox="1"/>
          <p:nvPr/>
        </p:nvSpPr>
        <p:spPr>
          <a:xfrm>
            <a:off x="7406640" y="260603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 stray minus sign</a:t>
            </a:r>
          </a:p>
        </p:txBody>
      </p:sp>
      <p:sp>
        <p:nvSpPr>
          <p:cNvPr id="11" name="Rounded Rectangle 10"/>
          <p:cNvSpPr/>
          <p:nvPr/>
        </p:nvSpPr>
        <p:spPr>
          <a:xfrm>
            <a:off x="5897880" y="315467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80/120 → 120/80</a:t>
            </a:r>
          </a:p>
        </p:txBody>
      </p:sp>
      <p:sp>
        <p:nvSpPr>
          <p:cNvPr id="12" name="TextBox 11"/>
          <p:cNvSpPr txBox="1"/>
          <p:nvPr/>
        </p:nvSpPr>
        <p:spPr>
          <a:xfrm>
            <a:off x="7406640" y="315467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the two readings swapped</a:t>
            </a:r>
          </a:p>
        </p:txBody>
      </p:sp>
      <p:sp>
        <p:nvSpPr>
          <p:cNvPr id="13" name="Rounded Rectangle 12"/>
          <p:cNvSpPr/>
          <p:nvPr/>
        </p:nvSpPr>
        <p:spPr>
          <a:xfrm>
            <a:off x="722376" y="3611880"/>
            <a:ext cx="7708392" cy="100584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4" name="!!r_raw"/>
          <p:cNvSpPr txBox="1"/>
          <p:nvPr/>
        </p:nvSpPr>
        <p:spPr>
          <a:xfrm>
            <a:off x="914400" y="3703320"/>
            <a:ext cx="2194560" cy="822960"/>
          </a:xfrm>
          <a:prstGeom prst="rect">
            <a:avLst/>
          </a:prstGeom>
          <a:noFill/>
        </p:spPr>
        <p:txBody>
          <a:bodyPr wrap="square" anchor="ctr" lIns="0" rIns="0" tIns="0" bIns="0">
            <a:spAutoFit/>
          </a:bodyPr>
          <a:lstStyle/>
          <a:p>
            <a:pPr algn="l"/>
            <a:r>
              <a:rPr sz="3000" b="1" i="0">
                <a:solidFill>
                  <a:srgbClr val="4F6A73"/>
                </a:solidFill>
                <a:latin typeface="Cabin"/>
              </a:rPr>
              <a:t>r = 0.05</a:t>
            </a:r>
          </a:p>
        </p:txBody>
      </p:sp>
      <p:sp>
        <p:nvSpPr>
          <p:cNvPr id="15" name="Right Arrow 14"/>
          <p:cNvSpPr/>
          <p:nvPr/>
        </p:nvSpPr>
        <p:spPr>
          <a:xfrm>
            <a:off x="2926080" y="4005072"/>
            <a:ext cx="384048" cy="237744"/>
          </a:xfrm>
          <a:prstGeom prst="rightArrow">
            <a:avLst/>
          </a:prstGeom>
          <a:solidFill>
            <a:srgbClr val="E05A4F"/>
          </a:solidFill>
          <a:ln>
            <a:noFill/>
          </a:ln>
        </p:spPr>
        <p:txBody>
          <a:bodyPr rtlCol="0" anchor="ctr" lIns="73152" rIns="73152" tIns="27432" bIns="27432"/>
          <a:lstStyle/>
          <a:p>
            <a:pPr algn="ctr"/>
          </a:p>
        </p:txBody>
      </p:sp>
      <p:sp>
        <p:nvSpPr>
          <p:cNvPr id="16" name="!!r_clean"/>
          <p:cNvSpPr txBox="1"/>
          <p:nvPr/>
        </p:nvSpPr>
        <p:spPr>
          <a:xfrm>
            <a:off x="3520440" y="3703320"/>
            <a:ext cx="2194560" cy="822960"/>
          </a:xfrm>
          <a:prstGeom prst="rect">
            <a:avLst/>
          </a:prstGeom>
          <a:noFill/>
        </p:spPr>
        <p:txBody>
          <a:bodyPr wrap="square" anchor="ctr" lIns="0" rIns="0" tIns="0" bIns="0">
            <a:spAutoFit/>
          </a:bodyPr>
          <a:lstStyle/>
          <a:p>
            <a:pPr algn="l"/>
            <a:r>
              <a:rPr sz="3000" b="1" i="0">
                <a:solidFill>
                  <a:srgbClr val="B23A2E"/>
                </a:solidFill>
                <a:latin typeface="Cabin"/>
              </a:rPr>
              <a:t>r = 0.43</a:t>
            </a:r>
          </a:p>
        </p:txBody>
      </p:sp>
      <p:sp>
        <p:nvSpPr>
          <p:cNvPr id="17" name="TextBox 16"/>
          <p:cNvSpPr txBox="1"/>
          <p:nvPr/>
        </p:nvSpPr>
        <p:spPr>
          <a:xfrm>
            <a:off x="5669280" y="3767328"/>
            <a:ext cx="2651760" cy="777240"/>
          </a:xfrm>
          <a:prstGeom prst="rect">
            <a:avLst/>
          </a:prstGeom>
          <a:noFill/>
        </p:spPr>
        <p:txBody>
          <a:bodyPr wrap="square" anchor="ctr" lIns="0" rIns="0" tIns="0" bIns="0">
            <a:spAutoFit/>
          </a:bodyPr>
          <a:lstStyle/>
          <a:p>
            <a:pPr algn="l"/>
            <a:r>
              <a:rPr sz="1150" b="0" i="0">
                <a:solidFill>
                  <a:srgbClr val="0D3C4C"/>
                </a:solidFill>
                <a:latin typeface="Nanum Gothic"/>
              </a:rPr>
              <a:t>How closely systolic pressure tracks the diagnosis, before and after cleaning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the clean data shows</a:t>
            </a:r>
          </a:p>
        </p:txBody>
      </p:sp>
      <p:pic>
        <p:nvPicPr>
          <p:cNvPr id="3" name="Picture 2" descr="crop_fig2_disease_rate_by_factor.png"/>
          <p:cNvPicPr>
            <a:picLocks noChangeAspect="1"/>
          </p:cNvPicPr>
          <p:nvPr/>
        </p:nvPicPr>
        <p:blipFill>
          <a:blip r:embed="rId2"/>
          <a:stretch>
            <a:fillRect/>
          </a:stretch>
        </p:blipFill>
        <p:spPr>
          <a:xfrm>
            <a:off x="868680" y="1115568"/>
            <a:ext cx="7245758" cy="370332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smoking paradox</a:t>
            </a:r>
          </a:p>
        </p:txBody>
      </p:sp>
      <p:pic>
        <p:nvPicPr>
          <p:cNvPr id="3" name="Picture 2" descr="crop_fig3_smoking_paradox.png"/>
          <p:cNvPicPr>
            <a:picLocks noChangeAspect="1"/>
          </p:cNvPicPr>
          <p:nvPr/>
        </p:nvPicPr>
        <p:blipFill>
          <a:blip r:embed="rId2"/>
          <a:stretch>
            <a:fillRect/>
          </a:stretch>
        </p:blipFill>
        <p:spPr>
          <a:xfrm>
            <a:off x="566928" y="1188720"/>
            <a:ext cx="4572000" cy="2499253"/>
          </a:xfrm>
          <a:prstGeom prst="rect">
            <a:avLst/>
          </a:prstGeom>
        </p:spPr>
      </p:pic>
      <p:sp>
        <p:nvSpPr>
          <p:cNvPr id="4" name="TextBox 3"/>
          <p:cNvSpPr txBox="1"/>
          <p:nvPr/>
        </p:nvSpPr>
        <p:spPr>
          <a:xfrm>
            <a:off x="722376" y="4069080"/>
            <a:ext cx="4389120" cy="548640"/>
          </a:xfrm>
          <a:prstGeom prst="rect">
            <a:avLst/>
          </a:prstGeom>
          <a:noFill/>
        </p:spPr>
        <p:txBody>
          <a:bodyPr wrap="square" anchor="t" lIns="0" rIns="0" tIns="0" bIns="0">
            <a:spAutoFit/>
          </a:bodyPr>
          <a:lstStyle/>
          <a:p>
            <a:pPr algn="l"/>
            <a:r>
              <a:rPr sz="1100" b="0" i="0">
                <a:solidFill>
                  <a:srgbClr val="4F6A73"/>
                </a:solidFill>
                <a:latin typeface="Nanum Gothic"/>
              </a:rPr>
              <a:t>Men only: women hardly smoke in this data (1.8% vs 22% of men)</a:t>
            </a:r>
          </a:p>
        </p:txBody>
      </p:sp>
      <p:sp>
        <p:nvSpPr>
          <p:cNvPr id="5" name="Rounded Rectangle 4"/>
          <p:cNvSpPr/>
          <p:nvPr/>
        </p:nvSpPr>
        <p:spPr>
          <a:xfrm>
            <a:off x="5440680" y="1188720"/>
            <a:ext cx="2990088" cy="347472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 name="Oval 5"/>
          <p:cNvSpPr/>
          <p:nvPr/>
        </p:nvSpPr>
        <p:spPr>
          <a:xfrm>
            <a:off x="5669280" y="1371600"/>
            <a:ext cx="548640" cy="548640"/>
          </a:xfrm>
          <a:prstGeom prst="ellipse">
            <a:avLst/>
          </a:prstGeom>
          <a:solidFill>
            <a:srgbClr val="E05A4F"/>
          </a:solidFill>
          <a:ln>
            <a:noFill/>
          </a:ln>
        </p:spPr>
        <p:txBody>
          <a:bodyPr rtlCol="0" anchor="ctr" lIns="73152" rIns="73152" tIns="27432" bIns="27432"/>
          <a:lstStyle/>
          <a:p>
            <a:pPr algn="ctr"/>
          </a:p>
        </p:txBody>
      </p:sp>
      <p:grpSp>
        <p:nvGrpSpPr>
          <p:cNvPr id="7" name="icon hospital"/>
          <p:cNvGrpSpPr/>
          <p:nvPr/>
        </p:nvGrpSpPr>
        <p:grpSpPr>
          <a:xfrm>
            <a:off x="5790382" y="1492300"/>
            <a:ext cx="306434" cy="307238"/>
            <a:chOff x="-23615075" y="3148525"/>
            <a:chExt cx="295375" cy="296150"/>
          </a:xfrm>
        </p:grpSpPr>
        <p:sp>
          <p:nvSpPr>
            <p:cNvPr id="8" name="Google Shape;6470;p61"/>
            <p:cNvSpPr/>
            <p:nvPr/>
          </p:nvSpPr>
          <p:spPr>
            <a:xfrm>
              <a:off x="-23493775" y="3183950"/>
              <a:ext cx="52775" cy="53600"/>
            </a:xfrm>
            <a:custGeom>
              <a:rect b="b" l="l" r="r" t="t"/>
              <a:pathLst>
                <a:path extrusionOk="0" h="2144" w="2111">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471;p61"/>
            <p:cNvSpPr/>
            <p:nvPr/>
          </p:nvSpPr>
          <p:spPr>
            <a:xfrm>
              <a:off x="-23615075" y="3268225"/>
              <a:ext cx="34675" cy="173300"/>
            </a:xfrm>
            <a:custGeom>
              <a:rect b="b" l="l" r="r" t="t"/>
              <a:pathLst>
                <a:path extrusionOk="0" h="6932" w="1387">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6472;p61"/>
            <p:cNvSpPr/>
            <p:nvPr/>
          </p:nvSpPr>
          <p:spPr>
            <a:xfrm>
              <a:off x="-23354375" y="3270600"/>
              <a:ext cx="34675" cy="173300"/>
            </a:xfrm>
            <a:custGeom>
              <a:rect b="b" l="l" r="r" t="t"/>
              <a:pathLst>
                <a:path extrusionOk="0" h="6932" w="1387">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6473;p61"/>
            <p:cNvSpPr/>
            <p:nvPr/>
          </p:nvSpPr>
          <p:spPr>
            <a:xfrm>
              <a:off x="-23562300" y="3148525"/>
              <a:ext cx="191400" cy="296150"/>
            </a:xfrm>
            <a:custGeom>
              <a:rect b="b" l="l" r="r" t="t"/>
              <a:pathLst>
                <a:path extrusionOk="0" h="11846" w="7656">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 name="TextBox 11"/>
          <p:cNvSpPr txBox="1"/>
          <p:nvPr/>
        </p:nvSpPr>
        <p:spPr>
          <a:xfrm>
            <a:off x="6355080" y="1463040"/>
            <a:ext cx="1965960" cy="411480"/>
          </a:xfrm>
          <a:prstGeom prst="rect">
            <a:avLst/>
          </a:prstGeom>
          <a:noFill/>
        </p:spPr>
        <p:txBody>
          <a:bodyPr wrap="square" anchor="ctr" lIns="0" rIns="0" tIns="0" bIns="0">
            <a:spAutoFit/>
          </a:bodyPr>
          <a:lstStyle/>
          <a:p>
            <a:pPr algn="l"/>
            <a:r>
              <a:rPr sz="1500" b="1" i="0">
                <a:solidFill>
                  <a:srgbClr val="0D3C4C"/>
                </a:solidFill>
                <a:latin typeface="Cabin"/>
              </a:rPr>
              <a:t>The sick quitter</a:t>
            </a:r>
          </a:p>
        </p:txBody>
      </p:sp>
      <p:sp>
        <p:nvSpPr>
          <p:cNvPr id="13" name="TextBox 12"/>
          <p:cNvSpPr txBox="1"/>
          <p:nvPr/>
        </p:nvSpPr>
        <p:spPr>
          <a:xfrm>
            <a:off x="5669280" y="2084831"/>
            <a:ext cx="2606040" cy="1097280"/>
          </a:xfrm>
          <a:prstGeom prst="rect">
            <a:avLst/>
          </a:prstGeom>
          <a:noFill/>
        </p:spPr>
        <p:txBody>
          <a:bodyPr wrap="square" anchor="t" lIns="0" rIns="0" tIns="0" bIns="0">
            <a:spAutoFit/>
          </a:bodyPr>
          <a:lstStyle/>
          <a:p>
            <a:pPr algn="l"/>
            <a:r>
              <a:rPr sz="1200" b="0" i="0">
                <a:solidFill>
                  <a:srgbClr val="0D3C4C"/>
                </a:solidFill>
                <a:latin typeface="Nanum Gothic"/>
              </a:rPr>
              <a:t>Diagnosis and answers come from the same visit. Patients already diagnosed have usually been told to quit, so they answer "no".</a:t>
            </a:r>
          </a:p>
        </p:txBody>
      </p:sp>
      <p:sp>
        <p:nvSpPr>
          <p:cNvPr id="14" name="Rounded Rectangle 13"/>
          <p:cNvSpPr/>
          <p:nvPr/>
        </p:nvSpPr>
        <p:spPr>
          <a:xfrm>
            <a:off x="5669280" y="333756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Detection, not prediction</a:t>
            </a:r>
          </a:p>
        </p:txBody>
      </p:sp>
      <p:sp>
        <p:nvSpPr>
          <p:cNvPr id="15" name="Rounded Rectangle 14"/>
          <p:cNvSpPr/>
          <p:nvPr/>
        </p:nvSpPr>
        <p:spPr>
          <a:xfrm>
            <a:off x="5669280" y="388620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Associations, not causes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machine learning adds</a:t>
            </a:r>
          </a:p>
        </p:txBody>
      </p:sp>
      <p:sp>
        <p:nvSpPr>
          <p:cNvPr id="3" name="!!lab_a"/>
          <p:cNvSpPr txBox="1"/>
          <p:nvPr/>
        </p:nvSpPr>
        <p:spPr>
          <a:xfrm>
            <a:off x="722376" y="1261872"/>
            <a:ext cx="2423160" cy="329184"/>
          </a:xfrm>
          <a:prstGeom prst="rect">
            <a:avLst/>
          </a:prstGeom>
          <a:noFill/>
        </p:spPr>
        <p:txBody>
          <a:bodyPr wrap="square" anchor="ctr" lIns="0" rIns="0" tIns="0" bIns="0">
            <a:spAutoFit/>
          </a:bodyPr>
          <a:lstStyle/>
          <a:p>
            <a:pPr algn="r"/>
            <a:r>
              <a:rPr sz="1200" b="1" i="0">
                <a:solidFill>
                  <a:srgbClr val="0D3C4C"/>
                </a:solidFill>
                <a:latin typeface="Cabin"/>
              </a:rPr>
              <a:t>Gradient boosting</a:t>
            </a:r>
          </a:p>
        </p:txBody>
      </p:sp>
      <p:sp>
        <p:nvSpPr>
          <p:cNvPr id="4" name="!!bar_a"/>
          <p:cNvSpPr/>
          <p:nvPr/>
        </p:nvSpPr>
        <p:spPr>
          <a:xfrm>
            <a:off x="3246120" y="1307592"/>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261872"/>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AUC 0.804</a:t>
            </a:r>
          </a:p>
        </p:txBody>
      </p:sp>
      <p:sp>
        <p:nvSpPr>
          <p:cNvPr id="6" name="!!lab_b"/>
          <p:cNvSpPr txBox="1"/>
          <p:nvPr/>
        </p:nvSpPr>
        <p:spPr>
          <a:xfrm>
            <a:off x="722376" y="1691639"/>
            <a:ext cx="2423160" cy="329184"/>
          </a:xfrm>
          <a:prstGeom prst="rect">
            <a:avLst/>
          </a:prstGeom>
          <a:noFill/>
        </p:spPr>
        <p:txBody>
          <a:bodyPr wrap="square" anchor="ctr" lIns="0" rIns="0" tIns="0" bIns="0">
            <a:spAutoFit/>
          </a:bodyPr>
          <a:lstStyle/>
          <a:p>
            <a:pPr algn="r"/>
            <a:r>
              <a:rPr sz="1200" b="1" i="0">
                <a:solidFill>
                  <a:srgbClr val="0D3C4C"/>
                </a:solidFill>
                <a:latin typeface="Cabin"/>
              </a:rPr>
              <a:t>Random forest</a:t>
            </a:r>
          </a:p>
        </p:txBody>
      </p:sp>
      <p:sp>
        <p:nvSpPr>
          <p:cNvPr id="7" name="!!bar_b"/>
          <p:cNvSpPr/>
          <p:nvPr/>
        </p:nvSpPr>
        <p:spPr>
          <a:xfrm>
            <a:off x="3246120" y="1737360"/>
            <a:ext cx="2139696" cy="237744"/>
          </a:xfrm>
          <a:prstGeom prst="rect">
            <a:avLst/>
          </a:prstGeom>
          <a:solidFill>
            <a:srgbClr val="0D3C4C"/>
          </a:solidFill>
          <a:ln>
            <a:noFill/>
          </a:ln>
        </p:spPr>
        <p:txBody>
          <a:bodyPr rtlCol="0" anchor="ctr" lIns="73152" rIns="73152" tIns="27432" bIns="27432"/>
          <a:lstStyle/>
          <a:p>
            <a:pPr algn="ctr"/>
          </a:p>
        </p:txBody>
      </p:sp>
      <p:sp>
        <p:nvSpPr>
          <p:cNvPr id="8" name="!!val_b"/>
          <p:cNvSpPr txBox="1"/>
          <p:nvPr/>
        </p:nvSpPr>
        <p:spPr>
          <a:xfrm>
            <a:off x="5458968" y="169163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AUC 0.803</a:t>
            </a:r>
          </a:p>
        </p:txBody>
      </p:sp>
      <p:sp>
        <p:nvSpPr>
          <p:cNvPr id="9" name="!!lab_c"/>
          <p:cNvSpPr txBox="1"/>
          <p:nvPr/>
        </p:nvSpPr>
        <p:spPr>
          <a:xfrm>
            <a:off x="722376" y="2121408"/>
            <a:ext cx="2423160" cy="329184"/>
          </a:xfrm>
          <a:prstGeom prst="rect">
            <a:avLst/>
          </a:prstGeom>
          <a:noFill/>
        </p:spPr>
        <p:txBody>
          <a:bodyPr wrap="square" anchor="ctr" lIns="0" rIns="0" tIns="0" bIns="0">
            <a:spAutoFit/>
          </a:bodyPr>
          <a:lstStyle/>
          <a:p>
            <a:pPr algn="r"/>
            <a:r>
              <a:rPr sz="1200" b="1" i="0">
                <a:solidFill>
                  <a:srgbClr val="0D3C4C"/>
                </a:solidFill>
                <a:latin typeface="Cabin"/>
              </a:rPr>
              <a:t>Neural network</a:t>
            </a:r>
          </a:p>
        </p:txBody>
      </p:sp>
      <p:sp>
        <p:nvSpPr>
          <p:cNvPr id="10" name="!!bar_c"/>
          <p:cNvSpPr/>
          <p:nvPr/>
        </p:nvSpPr>
        <p:spPr>
          <a:xfrm>
            <a:off x="3246120" y="2167127"/>
            <a:ext cx="2139696" cy="237744"/>
          </a:xfrm>
          <a:prstGeom prst="rect">
            <a:avLst/>
          </a:prstGeom>
          <a:solidFill>
            <a:srgbClr val="0D3C4C"/>
          </a:solidFill>
          <a:ln>
            <a:noFill/>
          </a:ln>
        </p:spPr>
        <p:txBody>
          <a:bodyPr rtlCol="0" anchor="ctr" lIns="73152" rIns="73152" tIns="27432" bIns="27432"/>
          <a:lstStyle/>
          <a:p>
            <a:pPr algn="ctr"/>
          </a:p>
        </p:txBody>
      </p:sp>
      <p:sp>
        <p:nvSpPr>
          <p:cNvPr id="11" name="!!val_c"/>
          <p:cNvSpPr txBox="1"/>
          <p:nvPr/>
        </p:nvSpPr>
        <p:spPr>
          <a:xfrm>
            <a:off x="5458968" y="2121408"/>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AUC 0.803</a:t>
            </a:r>
          </a:p>
        </p:txBody>
      </p:sp>
      <p:sp>
        <p:nvSpPr>
          <p:cNvPr id="12" name="!!lab_d"/>
          <p:cNvSpPr txBox="1"/>
          <p:nvPr/>
        </p:nvSpPr>
        <p:spPr>
          <a:xfrm>
            <a:off x="722376" y="2551176"/>
            <a:ext cx="2423160" cy="329184"/>
          </a:xfrm>
          <a:prstGeom prst="rect">
            <a:avLst/>
          </a:prstGeom>
          <a:noFill/>
        </p:spPr>
        <p:txBody>
          <a:bodyPr wrap="square" anchor="ctr" lIns="0" rIns="0" tIns="0" bIns="0">
            <a:spAutoFit/>
          </a:bodyPr>
          <a:lstStyle/>
          <a:p>
            <a:pPr algn="r"/>
            <a:r>
              <a:rPr sz="1200" b="1" i="0">
                <a:solidFill>
                  <a:srgbClr val="0D3C4C"/>
                </a:solidFill>
                <a:latin typeface="Cabin"/>
              </a:rPr>
              <a:t>Logistic regression</a:t>
            </a:r>
          </a:p>
        </p:txBody>
      </p:sp>
      <p:sp>
        <p:nvSpPr>
          <p:cNvPr id="13" name="!!bar_d"/>
          <p:cNvSpPr/>
          <p:nvPr/>
        </p:nvSpPr>
        <p:spPr>
          <a:xfrm>
            <a:off x="3246120" y="2596896"/>
            <a:ext cx="2066543" cy="237744"/>
          </a:xfrm>
          <a:prstGeom prst="rect">
            <a:avLst/>
          </a:prstGeom>
          <a:solidFill>
            <a:srgbClr val="0D3C4C"/>
          </a:solidFill>
          <a:ln>
            <a:noFill/>
          </a:ln>
        </p:spPr>
        <p:txBody>
          <a:bodyPr rtlCol="0" anchor="ctr" lIns="73152" rIns="73152" tIns="27432" bIns="27432"/>
          <a:lstStyle/>
          <a:p>
            <a:pPr algn="ctr"/>
          </a:p>
        </p:txBody>
      </p:sp>
      <p:sp>
        <p:nvSpPr>
          <p:cNvPr id="14" name="!!val_d"/>
          <p:cNvSpPr txBox="1"/>
          <p:nvPr/>
        </p:nvSpPr>
        <p:spPr>
          <a:xfrm>
            <a:off x="5385815" y="2551176"/>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72.6%</a:t>
            </a:r>
            <a:r>
              <a:rPr sz="1100" b="0" i="0">
                <a:solidFill>
                  <a:srgbClr val="4F6A73"/>
                </a:solidFill>
                <a:latin typeface="Nanum Gothic"/>
              </a:rPr>
              <a:t>  AUC 0.793</a:t>
            </a:r>
          </a:p>
        </p:txBody>
      </p:sp>
      <p:sp>
        <p:nvSpPr>
          <p:cNvPr id="15" name="!!lab_e"/>
          <p:cNvSpPr txBox="1"/>
          <p:nvPr/>
        </p:nvSpPr>
        <p:spPr>
          <a:xfrm>
            <a:off x="722376" y="2980944"/>
            <a:ext cx="2423160" cy="329184"/>
          </a:xfrm>
          <a:prstGeom prst="rect">
            <a:avLst/>
          </a:prstGeom>
          <a:noFill/>
        </p:spPr>
        <p:txBody>
          <a:bodyPr wrap="square" anchor="ctr" lIns="0" rIns="0" tIns="0" bIns="0">
            <a:spAutoFit/>
          </a:bodyPr>
          <a:lstStyle/>
          <a:p>
            <a:pPr algn="r"/>
            <a:r>
              <a:rPr sz="1200" b="1" i="0">
                <a:solidFill>
                  <a:srgbClr val="0D3C4C"/>
                </a:solidFill>
                <a:latin typeface="Cabin"/>
              </a:rPr>
              <a:t>Points score (4 factors)</a:t>
            </a:r>
          </a:p>
        </p:txBody>
      </p:sp>
      <p:sp>
        <p:nvSpPr>
          <p:cNvPr id="16" name="!!bar_e"/>
          <p:cNvSpPr/>
          <p:nvPr/>
        </p:nvSpPr>
        <p:spPr>
          <a:xfrm>
            <a:off x="3246120" y="3026663"/>
            <a:ext cx="2039111" cy="237744"/>
          </a:xfrm>
          <a:prstGeom prst="rect">
            <a:avLst/>
          </a:prstGeom>
          <a:solidFill>
            <a:srgbClr val="E05A4F"/>
          </a:solidFill>
          <a:ln>
            <a:noFill/>
          </a:ln>
        </p:spPr>
        <p:txBody>
          <a:bodyPr rtlCol="0" anchor="ctr" lIns="73152" rIns="73152" tIns="27432" bIns="27432"/>
          <a:lstStyle/>
          <a:p>
            <a:pPr algn="ctr"/>
          </a:p>
        </p:txBody>
      </p:sp>
      <p:sp>
        <p:nvSpPr>
          <p:cNvPr id="17" name="!!val_e"/>
          <p:cNvSpPr txBox="1"/>
          <p:nvPr/>
        </p:nvSpPr>
        <p:spPr>
          <a:xfrm>
            <a:off x="5358383" y="2980944"/>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72.3%</a:t>
            </a:r>
            <a:r>
              <a:rPr sz="1100" b="0" i="0">
                <a:solidFill>
                  <a:srgbClr val="4F6A73"/>
                </a:solidFill>
                <a:latin typeface="Nanum Gothic"/>
              </a:rPr>
              <a:t>  AUC 0.793</a:t>
            </a:r>
          </a:p>
        </p:txBody>
      </p:sp>
      <p:sp>
        <p:nvSpPr>
          <p:cNvPr id="18" name="!!lab_f"/>
          <p:cNvSpPr txBox="1"/>
          <p:nvPr/>
        </p:nvSpPr>
        <p:spPr>
          <a:xfrm>
            <a:off x="722376" y="3410711"/>
            <a:ext cx="2423160" cy="329184"/>
          </a:xfrm>
          <a:prstGeom prst="rect">
            <a:avLst/>
          </a:prstGeom>
          <a:noFill/>
        </p:spPr>
        <p:txBody>
          <a:bodyPr wrap="square" anchor="ctr" lIns="0" rIns="0" tIns="0" bIns="0">
            <a:spAutoFit/>
          </a:bodyPr>
          <a:lstStyle/>
          <a:p>
            <a:pPr algn="r"/>
            <a:r>
              <a:rPr sz="1200" b="1" i="0">
                <a:solidFill>
                  <a:srgbClr val="0D3C4C"/>
                </a:solidFill>
                <a:latin typeface="Cabin"/>
              </a:rPr>
              <a:t>Rule: systolic ≥ 130</a:t>
            </a:r>
          </a:p>
        </p:txBody>
      </p:sp>
      <p:sp>
        <p:nvSpPr>
          <p:cNvPr id="19" name="!!bar_f"/>
          <p:cNvSpPr/>
          <p:nvPr/>
        </p:nvSpPr>
        <p:spPr>
          <a:xfrm>
            <a:off x="3246120" y="3456431"/>
            <a:ext cx="1947672" cy="237744"/>
          </a:xfrm>
          <a:prstGeom prst="rect">
            <a:avLst/>
          </a:prstGeom>
          <a:solidFill>
            <a:srgbClr val="ADBAC1"/>
          </a:solidFill>
          <a:ln>
            <a:noFill/>
          </a:ln>
        </p:spPr>
        <p:txBody>
          <a:bodyPr rtlCol="0" anchor="ctr" lIns="73152" rIns="73152" tIns="27432" bIns="27432"/>
          <a:lstStyle/>
          <a:p>
            <a:pPr algn="ctr"/>
          </a:p>
        </p:txBody>
      </p:sp>
      <p:sp>
        <p:nvSpPr>
          <p:cNvPr id="20" name="!!val_f"/>
          <p:cNvSpPr txBox="1"/>
          <p:nvPr/>
        </p:nvSpPr>
        <p:spPr>
          <a:xfrm>
            <a:off x="5266944" y="3410711"/>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71.3%</a:t>
            </a:r>
            <a:r>
              <a:rPr sz="1100" b="0" i="0">
                <a:solidFill>
                  <a:srgbClr val="4F6A73"/>
                </a:solidFill>
                <a:latin typeface="Nanum Gothic"/>
              </a:rPr>
              <a:t>  AUC 0.712</a:t>
            </a:r>
          </a:p>
        </p:txBody>
      </p:sp>
      <p:sp>
        <p:nvSpPr>
          <p:cNvPr id="21" name="!!lab_g"/>
          <p:cNvSpPr txBox="1"/>
          <p:nvPr/>
        </p:nvSpPr>
        <p:spPr>
          <a:xfrm>
            <a:off x="722376" y="3840479"/>
            <a:ext cx="2423160" cy="329184"/>
          </a:xfrm>
          <a:prstGeom prst="rect">
            <a:avLst/>
          </a:prstGeom>
          <a:noFill/>
        </p:spPr>
        <p:txBody>
          <a:bodyPr wrap="square" anchor="ctr" lIns="0" rIns="0" tIns="0" bIns="0">
            <a:spAutoFit/>
          </a:bodyPr>
          <a:lstStyle/>
          <a:p>
            <a:pPr algn="r"/>
            <a:r>
              <a:rPr sz="1200" b="1" i="0">
                <a:solidFill>
                  <a:srgbClr val="0D3C4C"/>
                </a:solidFill>
                <a:latin typeface="Cabin"/>
              </a:rPr>
              <a:t>Framingham, as published</a:t>
            </a:r>
          </a:p>
        </p:txBody>
      </p:sp>
      <p:sp>
        <p:nvSpPr>
          <p:cNvPr id="22" name="!!bar_g"/>
          <p:cNvSpPr/>
          <p:nvPr/>
        </p:nvSpPr>
        <p:spPr>
          <a:xfrm>
            <a:off x="3246120" y="3886199"/>
            <a:ext cx="1335023" cy="237744"/>
          </a:xfrm>
          <a:prstGeom prst="rect">
            <a:avLst/>
          </a:prstGeom>
          <a:solidFill>
            <a:srgbClr val="ADBAC1"/>
          </a:solidFill>
          <a:ln>
            <a:noFill/>
          </a:ln>
        </p:spPr>
        <p:txBody>
          <a:bodyPr rtlCol="0" anchor="ctr" lIns="73152" rIns="73152" tIns="27432" bIns="27432"/>
          <a:lstStyle/>
          <a:p>
            <a:pPr algn="ctr"/>
          </a:p>
        </p:txBody>
      </p:sp>
      <p:sp>
        <p:nvSpPr>
          <p:cNvPr id="23" name="!!val_g"/>
          <p:cNvSpPr txBox="1"/>
          <p:nvPr/>
        </p:nvSpPr>
        <p:spPr>
          <a:xfrm>
            <a:off x="4654295" y="384047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64.6%</a:t>
            </a:r>
            <a:r>
              <a:rPr sz="1100" b="0" i="0">
                <a:solidFill>
                  <a:srgbClr val="4F6A73"/>
                </a:solidFill>
                <a:latin typeface="Nanum Gothic"/>
              </a:rPr>
              <a:t>  AUC 0.693</a:t>
            </a:r>
          </a:p>
        </p:txBody>
      </p:sp>
      <p:sp>
        <p:nvSpPr>
          <p:cNvPr id="24" name="!!axis"/>
          <p:cNvSpPr/>
          <p:nvPr/>
        </p:nvSpPr>
        <p:spPr>
          <a:xfrm>
            <a:off x="3246120" y="1216151"/>
            <a:ext cx="10972" cy="3072383"/>
          </a:xfrm>
          <a:prstGeom prst="rect">
            <a:avLst/>
          </a:prstGeom>
          <a:solidFill>
            <a:srgbClr val="ADBAC1"/>
          </a:solidFill>
          <a:ln>
            <a:noFill/>
          </a:ln>
        </p:spPr>
        <p:txBody>
          <a:bodyPr rtlCol="0" anchor="ctr" lIns="73152" rIns="73152" tIns="27432" bIns="27432"/>
          <a:lstStyle/>
          <a:p>
            <a:pPr algn="ctr"/>
          </a:p>
        </p:txBody>
      </p:sp>
      <p:sp>
        <p:nvSpPr>
          <p:cNvPr id="25" name="!!tick50"/>
          <p:cNvSpPr txBox="1"/>
          <p:nvPr/>
        </p:nvSpPr>
        <p:spPr>
          <a:xfrm>
            <a:off x="2880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26" name="!!tick75"/>
          <p:cNvSpPr txBox="1"/>
          <p:nvPr/>
        </p:nvSpPr>
        <p:spPr>
          <a:xfrm>
            <a:off x="5166359"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27" name="!!tick100"/>
          <p:cNvSpPr txBox="1"/>
          <p:nvPr/>
        </p:nvSpPr>
        <p:spPr>
          <a:xfrm>
            <a:off x="7452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28" name="TextBox 27"/>
          <p:cNvSpPr txBox="1"/>
          <p:nvPr/>
        </p:nvSpPr>
        <p:spPr>
          <a:xfrm>
            <a:off x="722376" y="4526280"/>
            <a:ext cx="7680960" cy="274320"/>
          </a:xfrm>
          <a:prstGeom prst="rect">
            <a:avLst/>
          </a:prstGeom>
          <a:noFill/>
        </p:spPr>
        <p:txBody>
          <a:bodyPr wrap="square" anchor="t" lIns="0" rIns="0" tIns="0" bIns="0">
            <a:spAutoFit/>
          </a:bodyPr>
          <a:lstStyle/>
          <a:p>
            <a:pPr algn="ctr"/>
            <a:r>
              <a:rPr sz="1050" b="0" i="0">
                <a:solidFill>
                  <a:srgbClr val="4F6A73"/>
                </a:solidFill>
                <a:latin typeface="Nanum Gothic"/>
              </a:rPr>
              <a:t>Accuracy on 13,722 test patients never used for training or tuning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On patients the model has never seen</a:t>
            </a:r>
          </a:p>
        </p:txBody>
      </p:sp>
      <p:sp>
        <p:nvSpPr>
          <p:cNvPr id="3" name="Rounded Rectangle 2"/>
          <p:cNvSpPr/>
          <p:nvPr/>
        </p:nvSpPr>
        <p:spPr>
          <a:xfrm>
            <a:off x="722376" y="1234440"/>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stat0"/>
          <p:cNvSpPr txBox="1"/>
          <p:nvPr/>
        </p:nvSpPr>
        <p:spPr>
          <a:xfrm>
            <a:off x="914400" y="1307592"/>
            <a:ext cx="1600200" cy="777240"/>
          </a:xfrm>
          <a:prstGeom prst="rect">
            <a:avLst/>
          </a:prstGeom>
          <a:noFill/>
        </p:spPr>
        <p:txBody>
          <a:bodyPr wrap="square" anchor="ctr" lIns="0" rIns="0" tIns="0" bIns="0">
            <a:spAutoFit/>
          </a:bodyPr>
          <a:lstStyle/>
          <a:p>
            <a:pPr algn="l"/>
            <a:r>
              <a:rPr sz="2800" b="1" i="0">
                <a:solidFill>
                  <a:srgbClr val="B23A2E"/>
                </a:solidFill>
                <a:latin typeface="Cabin"/>
              </a:rPr>
              <a:t>0.804</a:t>
            </a:r>
          </a:p>
        </p:txBody>
      </p:sp>
      <p:sp>
        <p:nvSpPr>
          <p:cNvPr id="5" name="TextBox 4"/>
          <p:cNvSpPr txBox="1"/>
          <p:nvPr/>
        </p:nvSpPr>
        <p:spPr>
          <a:xfrm>
            <a:off x="2514600" y="1307592"/>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ROC AUC  (95% CI 0.797-0.811)</a:t>
            </a:r>
          </a:p>
        </p:txBody>
      </p:sp>
      <p:sp>
        <p:nvSpPr>
          <p:cNvPr id="6" name="Rounded Rectangle 5"/>
          <p:cNvSpPr/>
          <p:nvPr/>
        </p:nvSpPr>
        <p:spPr>
          <a:xfrm>
            <a:off x="722376" y="2350008"/>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stat1"/>
          <p:cNvSpPr txBox="1"/>
          <p:nvPr/>
        </p:nvSpPr>
        <p:spPr>
          <a:xfrm>
            <a:off x="914400" y="2423160"/>
            <a:ext cx="1600200" cy="777240"/>
          </a:xfrm>
          <a:prstGeom prst="rect">
            <a:avLst/>
          </a:prstGeom>
          <a:noFill/>
        </p:spPr>
        <p:txBody>
          <a:bodyPr wrap="square" anchor="ctr" lIns="0" rIns="0" tIns="0" bIns="0">
            <a:spAutoFit/>
          </a:bodyPr>
          <a:lstStyle/>
          <a:p>
            <a:pPr algn="l"/>
            <a:r>
              <a:rPr sz="2800" b="1" i="0">
                <a:solidFill>
                  <a:srgbClr val="B23A2E"/>
                </a:solidFill>
                <a:latin typeface="Cabin"/>
              </a:rPr>
              <a:t>73.6%</a:t>
            </a:r>
          </a:p>
        </p:txBody>
      </p:sp>
      <p:sp>
        <p:nvSpPr>
          <p:cNvPr id="8" name="TextBox 7"/>
          <p:cNvSpPr txBox="1"/>
          <p:nvPr/>
        </p:nvSpPr>
        <p:spPr>
          <a:xfrm>
            <a:off x="2514600" y="2423160"/>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accuracy, as in cross-validation</a:t>
            </a:r>
          </a:p>
        </p:txBody>
      </p:sp>
      <p:sp>
        <p:nvSpPr>
          <p:cNvPr id="9" name="Rounded Rectangle 8"/>
          <p:cNvSpPr/>
          <p:nvPr/>
        </p:nvSpPr>
        <p:spPr>
          <a:xfrm>
            <a:off x="722376" y="3465576"/>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stat2"/>
          <p:cNvSpPr txBox="1"/>
          <p:nvPr/>
        </p:nvSpPr>
        <p:spPr>
          <a:xfrm>
            <a:off x="914400" y="3538728"/>
            <a:ext cx="1600200" cy="777240"/>
          </a:xfrm>
          <a:prstGeom prst="rect">
            <a:avLst/>
          </a:prstGeom>
          <a:noFill/>
        </p:spPr>
        <p:txBody>
          <a:bodyPr wrap="square" anchor="ctr" lIns="0" rIns="0" tIns="0" bIns="0">
            <a:spAutoFit/>
          </a:bodyPr>
          <a:lstStyle/>
          <a:p>
            <a:pPr algn="l"/>
            <a:r>
              <a:rPr sz="2800" b="1" i="0">
                <a:solidFill>
                  <a:srgbClr val="B23A2E"/>
                </a:solidFill>
                <a:latin typeface="Cabin"/>
              </a:rPr>
              <a:t>+301</a:t>
            </a:r>
          </a:p>
        </p:txBody>
      </p:sp>
      <p:sp>
        <p:nvSpPr>
          <p:cNvPr id="11" name="TextBox 10"/>
          <p:cNvSpPr txBox="1"/>
          <p:nvPr/>
        </p:nvSpPr>
        <p:spPr>
          <a:xfrm>
            <a:off x="2514600" y="3538728"/>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diseased patients found, at the rule's specificity</a:t>
            </a:r>
          </a:p>
        </p:txBody>
      </p:sp>
      <p:pic>
        <p:nvPicPr>
          <p:cNvPr id="12" name="Picture 11" descr="crop_fig8_roc_test.png"/>
          <p:cNvPicPr>
            <a:picLocks noChangeAspect="1"/>
          </p:cNvPicPr>
          <p:nvPr/>
        </p:nvPicPr>
        <p:blipFill>
          <a:blip r:embed="rId2"/>
          <a:stretch>
            <a:fillRect/>
          </a:stretch>
        </p:blipFill>
        <p:spPr>
          <a:xfrm>
            <a:off x="4800600" y="1143000"/>
            <a:ext cx="4031957" cy="36118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drives the prediction</a:t>
            </a:r>
          </a:p>
        </p:txBody>
      </p:sp>
      <p:sp>
        <p:nvSpPr>
          <p:cNvPr id="3" name="TextBox 2"/>
          <p:cNvSpPr txBox="1"/>
          <p:nvPr/>
        </p:nvSpPr>
        <p:spPr>
          <a:xfrm>
            <a:off x="722376" y="1207008"/>
            <a:ext cx="1417320" cy="237744"/>
          </a:xfrm>
          <a:prstGeom prst="rect">
            <a:avLst/>
          </a:prstGeom>
          <a:noFill/>
        </p:spPr>
        <p:txBody>
          <a:bodyPr wrap="square" anchor="ctr" lIns="0" rIns="0" tIns="0" bIns="0">
            <a:spAutoFit/>
          </a:bodyPr>
          <a:lstStyle/>
          <a:p>
            <a:pPr algn="r"/>
            <a:r>
              <a:rPr sz="1100" b="1" i="0">
                <a:solidFill>
                  <a:srgbClr val="0D3C4C"/>
                </a:solidFill>
                <a:latin typeface="Cabin"/>
              </a:rPr>
              <a:t>blood pressure</a:t>
            </a:r>
          </a:p>
        </p:txBody>
      </p:sp>
      <p:sp>
        <p:nvSpPr>
          <p:cNvPr id="4" name="Rectangle 3"/>
          <p:cNvSpPr/>
          <p:nvPr/>
        </p:nvSpPr>
        <p:spPr>
          <a:xfrm>
            <a:off x="2240280" y="1243584"/>
            <a:ext cx="2514600" cy="164592"/>
          </a:xfrm>
          <a:prstGeom prst="rect">
            <a:avLst/>
          </a:prstGeom>
          <a:solidFill>
            <a:srgbClr val="E05A4F"/>
          </a:solidFill>
          <a:ln>
            <a:noFill/>
          </a:ln>
        </p:spPr>
        <p:txBody>
          <a:bodyPr rtlCol="0" anchor="ctr" lIns="73152" rIns="73152" tIns="27432" bIns="27432"/>
          <a:lstStyle/>
          <a:p>
            <a:pPr algn="ctr"/>
          </a:p>
        </p:txBody>
      </p:sp>
      <p:sp>
        <p:nvSpPr>
          <p:cNvPr id="5" name="TextBox 4"/>
          <p:cNvSpPr txBox="1"/>
          <p:nvPr/>
        </p:nvSpPr>
        <p:spPr>
          <a:xfrm>
            <a:off x="4818888" y="12070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0.210</a:t>
            </a:r>
          </a:p>
        </p:txBody>
      </p:sp>
      <p:sp>
        <p:nvSpPr>
          <p:cNvPr id="6" name="TextBox 5"/>
          <p:cNvSpPr txBox="1"/>
          <p:nvPr/>
        </p:nvSpPr>
        <p:spPr>
          <a:xfrm>
            <a:off x="722376" y="14813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age</a:t>
            </a:r>
          </a:p>
        </p:txBody>
      </p:sp>
      <p:sp>
        <p:nvSpPr>
          <p:cNvPr id="7" name="Rectangle 6"/>
          <p:cNvSpPr/>
          <p:nvPr/>
        </p:nvSpPr>
        <p:spPr>
          <a:xfrm>
            <a:off x="2240280" y="1517904"/>
            <a:ext cx="431074" cy="164592"/>
          </a:xfrm>
          <a:prstGeom prst="rect">
            <a:avLst/>
          </a:prstGeom>
          <a:solidFill>
            <a:srgbClr val="0D3C4C"/>
          </a:solidFill>
          <a:ln>
            <a:noFill/>
          </a:ln>
        </p:spPr>
        <p:txBody>
          <a:bodyPr rtlCol="0" anchor="ctr" lIns="73152" rIns="73152" tIns="27432" bIns="27432"/>
          <a:lstStyle/>
          <a:p>
            <a:pPr algn="ctr"/>
          </a:p>
        </p:txBody>
      </p:sp>
      <p:sp>
        <p:nvSpPr>
          <p:cNvPr id="8" name="TextBox 7"/>
          <p:cNvSpPr txBox="1"/>
          <p:nvPr/>
        </p:nvSpPr>
        <p:spPr>
          <a:xfrm>
            <a:off x="2735362" y="14813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0.036</a:t>
            </a:r>
          </a:p>
        </p:txBody>
      </p:sp>
      <p:sp>
        <p:nvSpPr>
          <p:cNvPr id="9" name="TextBox 8"/>
          <p:cNvSpPr txBox="1"/>
          <p:nvPr/>
        </p:nvSpPr>
        <p:spPr>
          <a:xfrm>
            <a:off x="722376" y="17556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cholesterol</a:t>
            </a:r>
          </a:p>
        </p:txBody>
      </p:sp>
      <p:sp>
        <p:nvSpPr>
          <p:cNvPr id="10" name="Rectangle 9"/>
          <p:cNvSpPr/>
          <p:nvPr/>
        </p:nvSpPr>
        <p:spPr>
          <a:xfrm>
            <a:off x="2240280" y="1792224"/>
            <a:ext cx="359228" cy="164592"/>
          </a:xfrm>
          <a:prstGeom prst="rect">
            <a:avLst/>
          </a:prstGeom>
          <a:solidFill>
            <a:srgbClr val="0D3C4C"/>
          </a:solidFill>
          <a:ln>
            <a:noFill/>
          </a:ln>
        </p:spPr>
        <p:txBody>
          <a:bodyPr rtlCol="0" anchor="ctr" lIns="73152" rIns="73152" tIns="27432" bIns="27432"/>
          <a:lstStyle/>
          <a:p>
            <a:pPr algn="ctr"/>
          </a:p>
        </p:txBody>
      </p:sp>
      <p:sp>
        <p:nvSpPr>
          <p:cNvPr id="11" name="TextBox 10"/>
          <p:cNvSpPr txBox="1"/>
          <p:nvPr/>
        </p:nvSpPr>
        <p:spPr>
          <a:xfrm>
            <a:off x="2663516" y="17556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0.030</a:t>
            </a:r>
          </a:p>
        </p:txBody>
      </p:sp>
      <p:sp>
        <p:nvSpPr>
          <p:cNvPr id="12" name="TextBox 11"/>
          <p:cNvSpPr txBox="1"/>
          <p:nvPr/>
        </p:nvSpPr>
        <p:spPr>
          <a:xfrm>
            <a:off x="722376" y="2029967"/>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body size</a:t>
            </a:r>
          </a:p>
        </p:txBody>
      </p:sp>
      <p:sp>
        <p:nvSpPr>
          <p:cNvPr id="13" name="Rectangle 12"/>
          <p:cNvSpPr/>
          <p:nvPr/>
        </p:nvSpPr>
        <p:spPr>
          <a:xfrm>
            <a:off x="2240280" y="2066543"/>
            <a:ext cx="83820" cy="164592"/>
          </a:xfrm>
          <a:prstGeom prst="rect">
            <a:avLst/>
          </a:prstGeom>
          <a:solidFill>
            <a:srgbClr val="0D3C4C"/>
          </a:solidFill>
          <a:ln>
            <a:noFill/>
          </a:ln>
        </p:spPr>
        <p:txBody>
          <a:bodyPr rtlCol="0" anchor="ctr" lIns="73152" rIns="73152" tIns="27432" bIns="27432"/>
          <a:lstStyle/>
          <a:p>
            <a:pPr algn="ctr"/>
          </a:p>
        </p:txBody>
      </p:sp>
      <p:sp>
        <p:nvSpPr>
          <p:cNvPr id="14" name="TextBox 13"/>
          <p:cNvSpPr txBox="1"/>
          <p:nvPr/>
        </p:nvSpPr>
        <p:spPr>
          <a:xfrm>
            <a:off x="2388108" y="2029967"/>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0.007</a:t>
            </a:r>
          </a:p>
        </p:txBody>
      </p:sp>
      <p:sp>
        <p:nvSpPr>
          <p:cNvPr id="15" name="TextBox 14"/>
          <p:cNvSpPr txBox="1"/>
          <p:nvPr/>
        </p:nvSpPr>
        <p:spPr>
          <a:xfrm>
            <a:off x="722376" y="230428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physical activity</a:t>
            </a:r>
          </a:p>
        </p:txBody>
      </p:sp>
      <p:sp>
        <p:nvSpPr>
          <p:cNvPr id="16" name="Rectangle 15"/>
          <p:cNvSpPr/>
          <p:nvPr/>
        </p:nvSpPr>
        <p:spPr>
          <a:xfrm>
            <a:off x="2240280" y="2340864"/>
            <a:ext cx="23948" cy="164592"/>
          </a:xfrm>
          <a:prstGeom prst="rect">
            <a:avLst/>
          </a:prstGeom>
          <a:solidFill>
            <a:srgbClr val="0D3C4C"/>
          </a:solidFill>
          <a:ln>
            <a:noFill/>
          </a:ln>
        </p:spPr>
        <p:txBody>
          <a:bodyPr rtlCol="0" anchor="ctr" lIns="73152" rIns="73152" tIns="27432" bIns="27432"/>
          <a:lstStyle/>
          <a:p>
            <a:pPr algn="ctr"/>
          </a:p>
        </p:txBody>
      </p:sp>
      <p:sp>
        <p:nvSpPr>
          <p:cNvPr id="17" name="TextBox 16"/>
          <p:cNvSpPr txBox="1"/>
          <p:nvPr/>
        </p:nvSpPr>
        <p:spPr>
          <a:xfrm>
            <a:off x="2328236" y="230428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18" name="TextBox 17"/>
          <p:cNvSpPr txBox="1"/>
          <p:nvPr/>
        </p:nvSpPr>
        <p:spPr>
          <a:xfrm>
            <a:off x="722376" y="257860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glucose</a:t>
            </a:r>
          </a:p>
        </p:txBody>
      </p:sp>
      <p:sp>
        <p:nvSpPr>
          <p:cNvPr id="19" name="Rectangle 18"/>
          <p:cNvSpPr/>
          <p:nvPr/>
        </p:nvSpPr>
        <p:spPr>
          <a:xfrm>
            <a:off x="2240280" y="2615184"/>
            <a:ext cx="23948" cy="164592"/>
          </a:xfrm>
          <a:prstGeom prst="rect">
            <a:avLst/>
          </a:prstGeom>
          <a:solidFill>
            <a:srgbClr val="0D3C4C"/>
          </a:solidFill>
          <a:ln>
            <a:noFill/>
          </a:ln>
        </p:spPr>
        <p:txBody>
          <a:bodyPr rtlCol="0" anchor="ctr" lIns="73152" rIns="73152" tIns="27432" bIns="27432"/>
          <a:lstStyle/>
          <a:p>
            <a:pPr algn="ctr"/>
          </a:p>
        </p:txBody>
      </p:sp>
      <p:sp>
        <p:nvSpPr>
          <p:cNvPr id="20" name="TextBox 19"/>
          <p:cNvSpPr txBox="1"/>
          <p:nvPr/>
        </p:nvSpPr>
        <p:spPr>
          <a:xfrm>
            <a:off x="2328236" y="25786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21" name="TextBox 20"/>
          <p:cNvSpPr txBox="1"/>
          <p:nvPr/>
        </p:nvSpPr>
        <p:spPr>
          <a:xfrm>
            <a:off x="722376" y="28529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smoking</a:t>
            </a:r>
          </a:p>
        </p:txBody>
      </p:sp>
      <p:sp>
        <p:nvSpPr>
          <p:cNvPr id="22" name="Rectangle 21"/>
          <p:cNvSpPr/>
          <p:nvPr/>
        </p:nvSpPr>
        <p:spPr>
          <a:xfrm>
            <a:off x="2240280" y="2889504"/>
            <a:ext cx="18288" cy="164592"/>
          </a:xfrm>
          <a:prstGeom prst="rect">
            <a:avLst/>
          </a:prstGeom>
          <a:solidFill>
            <a:srgbClr val="0D3C4C"/>
          </a:solidFill>
          <a:ln>
            <a:noFill/>
          </a:ln>
        </p:spPr>
        <p:txBody>
          <a:bodyPr rtlCol="0" anchor="ctr" lIns="73152" rIns="73152" tIns="27432" bIns="27432"/>
          <a:lstStyle/>
          <a:p>
            <a:pPr algn="ctr"/>
          </a:p>
        </p:txBody>
      </p:sp>
      <p:sp>
        <p:nvSpPr>
          <p:cNvPr id="23" name="TextBox 22"/>
          <p:cNvSpPr txBox="1"/>
          <p:nvPr/>
        </p:nvSpPr>
        <p:spPr>
          <a:xfrm>
            <a:off x="2316262" y="28529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4" name="TextBox 23"/>
          <p:cNvSpPr txBox="1"/>
          <p:nvPr/>
        </p:nvSpPr>
        <p:spPr>
          <a:xfrm>
            <a:off x="722376" y="31272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alcohol</a:t>
            </a:r>
          </a:p>
        </p:txBody>
      </p:sp>
      <p:sp>
        <p:nvSpPr>
          <p:cNvPr id="25" name="Rectangle 24"/>
          <p:cNvSpPr/>
          <p:nvPr/>
        </p:nvSpPr>
        <p:spPr>
          <a:xfrm>
            <a:off x="2240280" y="3163824"/>
            <a:ext cx="18288" cy="164592"/>
          </a:xfrm>
          <a:prstGeom prst="rect">
            <a:avLst/>
          </a:prstGeom>
          <a:solidFill>
            <a:srgbClr val="0D3C4C"/>
          </a:solidFill>
          <a:ln>
            <a:noFill/>
          </a:ln>
        </p:spPr>
        <p:txBody>
          <a:bodyPr rtlCol="0" anchor="ctr" lIns="73152" rIns="73152" tIns="27432" bIns="27432"/>
          <a:lstStyle/>
          <a:p>
            <a:pPr algn="ctr"/>
          </a:p>
        </p:txBody>
      </p:sp>
      <p:sp>
        <p:nvSpPr>
          <p:cNvPr id="26" name="TextBox 25"/>
          <p:cNvSpPr txBox="1"/>
          <p:nvPr/>
        </p:nvSpPr>
        <p:spPr>
          <a:xfrm>
            <a:off x="2316262" y="31272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7" name="TextBox 26"/>
          <p:cNvSpPr txBox="1"/>
          <p:nvPr/>
        </p:nvSpPr>
        <p:spPr>
          <a:xfrm>
            <a:off x="722376" y="340156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sex</a:t>
            </a:r>
          </a:p>
        </p:txBody>
      </p:sp>
      <p:sp>
        <p:nvSpPr>
          <p:cNvPr id="28" name="TextBox 27"/>
          <p:cNvSpPr txBox="1"/>
          <p:nvPr/>
        </p:nvSpPr>
        <p:spPr>
          <a:xfrm>
            <a:off x="2304288" y="340156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0.000</a:t>
            </a:r>
          </a:p>
        </p:txBody>
      </p:sp>
      <p:sp>
        <p:nvSpPr>
          <p:cNvPr id="29" name="TextBox 28"/>
          <p:cNvSpPr txBox="1"/>
          <p:nvPr/>
        </p:nvSpPr>
        <p:spPr>
          <a:xfrm>
            <a:off x="722376" y="3749039"/>
            <a:ext cx="4663440" cy="868680"/>
          </a:xfrm>
          <a:prstGeom prst="rect">
            <a:avLst/>
          </a:prstGeom>
          <a:noFill/>
        </p:spPr>
        <p:txBody>
          <a:bodyPr wrap="square" anchor="t" lIns="0" rIns="0" tIns="0" bIns="0">
            <a:spAutoFit/>
          </a:bodyPr>
          <a:lstStyle/>
          <a:p>
            <a:pPr algn="l"/>
            <a:r>
              <a:rPr sz="1150" b="1" i="0">
                <a:solidFill>
                  <a:srgbClr val="0D3C4C"/>
                </a:solidFill>
                <a:latin typeface="Nanum Gothic"/>
              </a:rPr>
              <a:t>Drop in test AUC when a factor is scrambled. </a:t>
            </a:r>
            <a:r>
              <a:rPr sz="1150" b="0" i="0">
                <a:solidFill>
                  <a:srgbClr val="0D3C4C"/>
                </a:solidFill>
                <a:latin typeface="Nanum Gothic"/>
              </a:rPr>
              <a:t>Blood pressure dominates; glucose, the lifestyle answers and sex add almost nothing.</a:t>
            </a:r>
          </a:p>
        </p:txBody>
      </p:sp>
      <p:sp>
        <p:nvSpPr>
          <p:cNvPr id="30" name="Rounded Rectangle 29"/>
          <p:cNvSpPr/>
          <p:nvPr/>
        </p:nvSpPr>
        <p:spPr>
          <a:xfrm>
            <a:off x="5623560" y="1188720"/>
            <a:ext cx="2807208" cy="3474720"/>
          </a:xfrm>
          <a:prstGeom prst="roundRect">
            <a:avLst>
              <a:gd name="adj" fmla="val 12000"/>
            </a:avLst>
          </a:prstGeom>
          <a:solidFill>
            <a:srgbClr val="EEF6F9"/>
          </a:solidFill>
          <a:ln>
            <a:noFill/>
          </a:ln>
        </p:spPr>
        <p:txBody>
          <a:bodyPr rtlCol="0" anchor="ctr" lIns="73152" rIns="73152" tIns="27432" bIns="27432"/>
          <a:lstStyle/>
          <a:p>
            <a:pPr algn="ctr"/>
          </a:p>
        </p:txBody>
      </p:sp>
      <p:pic>
        <p:nvPicPr>
          <p:cNvPr id="31" name="Picture 30" descr="crop_fig11_partial_dependence.png"/>
          <p:cNvPicPr>
            <a:picLocks noChangeAspect="1"/>
          </p:cNvPicPr>
          <p:nvPr/>
        </p:nvPicPr>
        <p:blipFill>
          <a:blip r:embed="rId2"/>
          <a:stretch>
            <a:fillRect/>
          </a:stretch>
        </p:blipFill>
        <p:spPr>
          <a:xfrm>
            <a:off x="5715000" y="1298448"/>
            <a:ext cx="2624328" cy="1880453"/>
          </a:xfrm>
          <a:prstGeom prst="rect">
            <a:avLst/>
          </a:prstGeom>
        </p:spPr>
      </p:pic>
      <p:sp>
        <p:nvSpPr>
          <p:cNvPr id="32" name="TextBox 31"/>
          <p:cNvSpPr txBox="1"/>
          <p:nvPr/>
        </p:nvSpPr>
        <p:spPr>
          <a:xfrm>
            <a:off x="5806440" y="3310128"/>
            <a:ext cx="2468880" cy="1280160"/>
          </a:xfrm>
          <a:prstGeom prst="rect">
            <a:avLst/>
          </a:prstGeom>
          <a:noFill/>
        </p:spPr>
        <p:txBody>
          <a:bodyPr wrap="square" anchor="t" lIns="0" rIns="0" tIns="0" bIns="0">
            <a:spAutoFit/>
          </a:bodyPr>
          <a:lstStyle/>
          <a:p>
            <a:pPr algn="l"/>
            <a:r>
              <a:rPr sz="1150" b="1" i="0">
                <a:solidFill>
                  <a:srgbClr val="B23A2E"/>
                </a:solidFill>
                <a:latin typeface="Nanum Gothic"/>
              </a:rPr>
              <a:t>A switch, not a slope: </a:t>
            </a:r>
            <a:r>
              <a:rPr sz="1150" b="0" i="0">
                <a:solidFill>
                  <a:srgbClr val="0D3C4C"/>
                </a:solidFill>
                <a:latin typeface="Nanum Gothic"/>
              </a:rPr>
              <a:t>predicted risk jumps from about 35% to 84% between 125 and 150 mmHg, at the guideline's thresholds.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A score a doctor can add up</a:t>
            </a:r>
          </a:p>
        </p:txBody>
      </p:sp>
      <p:sp>
        <p:nvSpPr>
          <p:cNvPr id="3" name="Rounded Rectangle 2"/>
          <p:cNvSpPr/>
          <p:nvPr/>
        </p:nvSpPr>
        <p:spPr>
          <a:xfrm>
            <a:off x="722376" y="1188720"/>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sp>
        <p:nvSpPr>
          <p:cNvPr id="4" name="icon hourglass"/>
          <p:cNvSpPr/>
          <p:nvPr/>
        </p:nvSpPr>
        <p:spPr>
          <a:xfrm>
            <a:off x="871475" y="1298448"/>
            <a:ext cx="250441" cy="347472"/>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 name="TextBox 4"/>
          <p:cNvSpPr txBox="1"/>
          <p:nvPr/>
        </p:nvSpPr>
        <p:spPr>
          <a:xfrm>
            <a:off x="1243584" y="1188720"/>
            <a:ext cx="1325880" cy="566928"/>
          </a:xfrm>
          <a:prstGeom prst="rect">
            <a:avLst/>
          </a:prstGeom>
          <a:noFill/>
        </p:spPr>
        <p:txBody>
          <a:bodyPr wrap="square" anchor="ctr" lIns="0" rIns="0" tIns="0" bIns="0">
            <a:spAutoFit/>
          </a:bodyPr>
          <a:lstStyle/>
          <a:p>
            <a:pPr algn="l"/>
            <a:r>
              <a:rPr sz="1050" b="1" i="0">
                <a:solidFill>
                  <a:srgbClr val="FFFFFF"/>
                </a:solidFill>
                <a:latin typeface="Cabin"/>
              </a:rPr>
              <a:t>Age
(years)</a:t>
            </a:r>
          </a:p>
        </p:txBody>
      </p:sp>
      <p:sp>
        <p:nvSpPr>
          <p:cNvPr id="6" name="Rounded Rectangle 5"/>
          <p:cNvSpPr/>
          <p:nvPr/>
        </p:nvSpPr>
        <p:spPr>
          <a:xfrm>
            <a:off x="2724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2724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&lt;45</a:t>
            </a:r>
          </a:p>
        </p:txBody>
      </p:sp>
      <p:sp>
        <p:nvSpPr>
          <p:cNvPr id="8" name="TextBox 7"/>
          <p:cNvSpPr txBox="1"/>
          <p:nvPr/>
        </p:nvSpPr>
        <p:spPr>
          <a:xfrm>
            <a:off x="2724912" y="1426464"/>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9" name="Rounded Rectangle 8"/>
          <p:cNvSpPr/>
          <p:nvPr/>
        </p:nvSpPr>
        <p:spPr>
          <a:xfrm>
            <a:off x="3867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3867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45-49</a:t>
            </a:r>
          </a:p>
        </p:txBody>
      </p:sp>
      <p:sp>
        <p:nvSpPr>
          <p:cNvPr id="11" name="TextBox 10"/>
          <p:cNvSpPr txBox="1"/>
          <p:nvPr/>
        </p:nvSpPr>
        <p:spPr>
          <a:xfrm>
            <a:off x="3867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12" name="Rounded Rectangle 11"/>
          <p:cNvSpPr/>
          <p:nvPr/>
        </p:nvSpPr>
        <p:spPr>
          <a:xfrm>
            <a:off x="5010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TextBox 12"/>
          <p:cNvSpPr txBox="1"/>
          <p:nvPr/>
        </p:nvSpPr>
        <p:spPr>
          <a:xfrm>
            <a:off x="5010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50-54</a:t>
            </a:r>
          </a:p>
        </p:txBody>
      </p:sp>
      <p:sp>
        <p:nvSpPr>
          <p:cNvPr id="14" name="TextBox 13"/>
          <p:cNvSpPr txBox="1"/>
          <p:nvPr/>
        </p:nvSpPr>
        <p:spPr>
          <a:xfrm>
            <a:off x="5010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15" name="Rounded Rectangle 14"/>
          <p:cNvSpPr/>
          <p:nvPr/>
        </p:nvSpPr>
        <p:spPr>
          <a:xfrm>
            <a:off x="6153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6" name="TextBox 15"/>
          <p:cNvSpPr txBox="1"/>
          <p:nvPr/>
        </p:nvSpPr>
        <p:spPr>
          <a:xfrm>
            <a:off x="6153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55-59</a:t>
            </a:r>
          </a:p>
        </p:txBody>
      </p:sp>
      <p:sp>
        <p:nvSpPr>
          <p:cNvPr id="17" name="TextBox 16"/>
          <p:cNvSpPr txBox="1"/>
          <p:nvPr/>
        </p:nvSpPr>
        <p:spPr>
          <a:xfrm>
            <a:off x="6153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8</a:t>
            </a:r>
          </a:p>
        </p:txBody>
      </p:sp>
      <p:sp>
        <p:nvSpPr>
          <p:cNvPr id="18" name="Rounded Rectangle 17"/>
          <p:cNvSpPr/>
          <p:nvPr/>
        </p:nvSpPr>
        <p:spPr>
          <a:xfrm>
            <a:off x="7296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9" name="TextBox 18"/>
          <p:cNvSpPr txBox="1"/>
          <p:nvPr/>
        </p:nvSpPr>
        <p:spPr>
          <a:xfrm>
            <a:off x="7296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60+</a:t>
            </a:r>
          </a:p>
        </p:txBody>
      </p:sp>
      <p:sp>
        <p:nvSpPr>
          <p:cNvPr id="20" name="TextBox 19"/>
          <p:cNvSpPr txBox="1"/>
          <p:nvPr/>
        </p:nvSpPr>
        <p:spPr>
          <a:xfrm>
            <a:off x="7296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11</a:t>
            </a:r>
          </a:p>
        </p:txBody>
      </p:sp>
      <p:sp>
        <p:nvSpPr>
          <p:cNvPr id="21" name="Rounded Rectangle 20"/>
          <p:cNvSpPr/>
          <p:nvPr/>
        </p:nvSpPr>
        <p:spPr>
          <a:xfrm>
            <a:off x="722376" y="1901952"/>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22" name="icon heart"/>
          <p:cNvGrpSpPr/>
          <p:nvPr/>
        </p:nvGrpSpPr>
        <p:grpSpPr>
          <a:xfrm>
            <a:off x="822960" y="2034609"/>
            <a:ext cx="347472" cy="301614"/>
            <a:chOff x="-28462125" y="3199700"/>
            <a:chExt cx="298550" cy="259150"/>
          </a:xfrm>
        </p:grpSpPr>
        <p:sp>
          <p:nvSpPr>
            <p:cNvPr id="23"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1243584" y="1901952"/>
            <a:ext cx="1325880" cy="566928"/>
          </a:xfrm>
          <a:prstGeom prst="rect">
            <a:avLst/>
          </a:prstGeom>
          <a:noFill/>
        </p:spPr>
        <p:txBody>
          <a:bodyPr wrap="square" anchor="ctr" lIns="0" rIns="0" tIns="0" bIns="0">
            <a:spAutoFit/>
          </a:bodyPr>
          <a:lstStyle/>
          <a:p>
            <a:pPr algn="l"/>
            <a:r>
              <a:rPr sz="1050" b="1" i="0">
                <a:solidFill>
                  <a:srgbClr val="FFFFFF"/>
                </a:solidFill>
                <a:latin typeface="Cabin"/>
              </a:rPr>
              <a:t>Systolic pressure
(mmHg)</a:t>
            </a:r>
          </a:p>
        </p:txBody>
      </p:sp>
      <p:sp>
        <p:nvSpPr>
          <p:cNvPr id="27" name="Rounded Rectangle 26"/>
          <p:cNvSpPr/>
          <p:nvPr/>
        </p:nvSpPr>
        <p:spPr>
          <a:xfrm>
            <a:off x="2724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8" name="TextBox 27"/>
          <p:cNvSpPr txBox="1"/>
          <p:nvPr/>
        </p:nvSpPr>
        <p:spPr>
          <a:xfrm>
            <a:off x="2724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&lt;120</a:t>
            </a:r>
          </a:p>
        </p:txBody>
      </p:sp>
      <p:sp>
        <p:nvSpPr>
          <p:cNvPr id="29" name="TextBox 28"/>
          <p:cNvSpPr txBox="1"/>
          <p:nvPr/>
        </p:nvSpPr>
        <p:spPr>
          <a:xfrm>
            <a:off x="2724912" y="2139696"/>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30" name="Rounded Rectangle 29"/>
          <p:cNvSpPr/>
          <p:nvPr/>
        </p:nvSpPr>
        <p:spPr>
          <a:xfrm>
            <a:off x="3867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1" name="TextBox 30"/>
          <p:cNvSpPr txBox="1"/>
          <p:nvPr/>
        </p:nvSpPr>
        <p:spPr>
          <a:xfrm>
            <a:off x="3867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120-129</a:t>
            </a:r>
          </a:p>
        </p:txBody>
      </p:sp>
      <p:sp>
        <p:nvSpPr>
          <p:cNvPr id="32" name="TextBox 31"/>
          <p:cNvSpPr txBox="1"/>
          <p:nvPr/>
        </p:nvSpPr>
        <p:spPr>
          <a:xfrm>
            <a:off x="3867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33" name="Rounded Rectangle 32"/>
          <p:cNvSpPr/>
          <p:nvPr/>
        </p:nvSpPr>
        <p:spPr>
          <a:xfrm>
            <a:off x="5010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4" name="TextBox 33"/>
          <p:cNvSpPr txBox="1"/>
          <p:nvPr/>
        </p:nvSpPr>
        <p:spPr>
          <a:xfrm>
            <a:off x="5010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130-139</a:t>
            </a:r>
          </a:p>
        </p:txBody>
      </p:sp>
      <p:sp>
        <p:nvSpPr>
          <p:cNvPr id="35" name="TextBox 34"/>
          <p:cNvSpPr txBox="1"/>
          <p:nvPr/>
        </p:nvSpPr>
        <p:spPr>
          <a:xfrm>
            <a:off x="5010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13</a:t>
            </a:r>
          </a:p>
        </p:txBody>
      </p:sp>
      <p:sp>
        <p:nvSpPr>
          <p:cNvPr id="36" name="Rounded Rectangle 35"/>
          <p:cNvSpPr/>
          <p:nvPr/>
        </p:nvSpPr>
        <p:spPr>
          <a:xfrm>
            <a:off x="6153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7" name="TextBox 36"/>
          <p:cNvSpPr txBox="1"/>
          <p:nvPr/>
        </p:nvSpPr>
        <p:spPr>
          <a:xfrm>
            <a:off x="6153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140-159</a:t>
            </a:r>
          </a:p>
        </p:txBody>
      </p:sp>
      <p:sp>
        <p:nvSpPr>
          <p:cNvPr id="38" name="TextBox 37"/>
          <p:cNvSpPr txBox="1"/>
          <p:nvPr/>
        </p:nvSpPr>
        <p:spPr>
          <a:xfrm>
            <a:off x="6153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25</a:t>
            </a:r>
          </a:p>
        </p:txBody>
      </p:sp>
      <p:sp>
        <p:nvSpPr>
          <p:cNvPr id="39" name="Rounded Rectangle 38"/>
          <p:cNvSpPr/>
          <p:nvPr/>
        </p:nvSpPr>
        <p:spPr>
          <a:xfrm>
            <a:off x="7296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0" name="TextBox 39"/>
          <p:cNvSpPr txBox="1"/>
          <p:nvPr/>
        </p:nvSpPr>
        <p:spPr>
          <a:xfrm>
            <a:off x="7296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160+</a:t>
            </a:r>
          </a:p>
        </p:txBody>
      </p:sp>
      <p:sp>
        <p:nvSpPr>
          <p:cNvPr id="41" name="TextBox 40"/>
          <p:cNvSpPr txBox="1"/>
          <p:nvPr/>
        </p:nvSpPr>
        <p:spPr>
          <a:xfrm>
            <a:off x="7296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27</a:t>
            </a:r>
          </a:p>
        </p:txBody>
      </p:sp>
      <p:sp>
        <p:nvSpPr>
          <p:cNvPr id="42" name="Rounded Rectangle 41"/>
          <p:cNvSpPr/>
          <p:nvPr/>
        </p:nvSpPr>
        <p:spPr>
          <a:xfrm>
            <a:off x="722376" y="2615184"/>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43" name="icon scale"/>
          <p:cNvGrpSpPr/>
          <p:nvPr/>
        </p:nvGrpSpPr>
        <p:grpSpPr>
          <a:xfrm>
            <a:off x="822960" y="2725770"/>
            <a:ext cx="347472" cy="345756"/>
            <a:chOff x="-42994575" y="3950300"/>
            <a:chExt cx="319025" cy="317450"/>
          </a:xfrm>
        </p:grpSpPr>
        <p:sp>
          <p:nvSpPr>
            <p:cNvPr id="44"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TextBox 46"/>
          <p:cNvSpPr txBox="1"/>
          <p:nvPr/>
        </p:nvSpPr>
        <p:spPr>
          <a:xfrm>
            <a:off x="1243584" y="2615184"/>
            <a:ext cx="1325880" cy="566928"/>
          </a:xfrm>
          <a:prstGeom prst="rect">
            <a:avLst/>
          </a:prstGeom>
          <a:noFill/>
        </p:spPr>
        <p:txBody>
          <a:bodyPr wrap="square" anchor="ctr" lIns="0" rIns="0" tIns="0" bIns="0">
            <a:spAutoFit/>
          </a:bodyPr>
          <a:lstStyle/>
          <a:p>
            <a:pPr algn="l"/>
            <a:r>
              <a:rPr sz="1050" b="1" i="0">
                <a:solidFill>
                  <a:srgbClr val="FFFFFF"/>
                </a:solidFill>
                <a:latin typeface="Cabin"/>
              </a:rPr>
              <a:t>BMI
(kg/m²)</a:t>
            </a:r>
          </a:p>
        </p:txBody>
      </p:sp>
      <p:sp>
        <p:nvSpPr>
          <p:cNvPr id="48" name="Rounded Rectangle 47"/>
          <p:cNvSpPr/>
          <p:nvPr/>
        </p:nvSpPr>
        <p:spPr>
          <a:xfrm>
            <a:off x="2724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9" name="TextBox 48"/>
          <p:cNvSpPr txBox="1"/>
          <p:nvPr/>
        </p:nvSpPr>
        <p:spPr>
          <a:xfrm>
            <a:off x="2724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&lt;25</a:t>
            </a:r>
          </a:p>
        </p:txBody>
      </p:sp>
      <p:sp>
        <p:nvSpPr>
          <p:cNvPr id="50" name="TextBox 49"/>
          <p:cNvSpPr txBox="1"/>
          <p:nvPr/>
        </p:nvSpPr>
        <p:spPr>
          <a:xfrm>
            <a:off x="2724912" y="2852928"/>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51" name="Rounded Rectangle 50"/>
          <p:cNvSpPr/>
          <p:nvPr/>
        </p:nvSpPr>
        <p:spPr>
          <a:xfrm>
            <a:off x="3867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2" name="TextBox 51"/>
          <p:cNvSpPr txBox="1"/>
          <p:nvPr/>
        </p:nvSpPr>
        <p:spPr>
          <a:xfrm>
            <a:off x="3867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25-29.9</a:t>
            </a:r>
          </a:p>
        </p:txBody>
      </p:sp>
      <p:sp>
        <p:nvSpPr>
          <p:cNvPr id="53" name="TextBox 52"/>
          <p:cNvSpPr txBox="1"/>
          <p:nvPr/>
        </p:nvSpPr>
        <p:spPr>
          <a:xfrm>
            <a:off x="3867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2</a:t>
            </a:r>
          </a:p>
        </p:txBody>
      </p:sp>
      <p:sp>
        <p:nvSpPr>
          <p:cNvPr id="54" name="Rounded Rectangle 53"/>
          <p:cNvSpPr/>
          <p:nvPr/>
        </p:nvSpPr>
        <p:spPr>
          <a:xfrm>
            <a:off x="5010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5" name="TextBox 54"/>
          <p:cNvSpPr txBox="1"/>
          <p:nvPr/>
        </p:nvSpPr>
        <p:spPr>
          <a:xfrm>
            <a:off x="5010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30-34.9</a:t>
            </a:r>
          </a:p>
        </p:txBody>
      </p:sp>
      <p:sp>
        <p:nvSpPr>
          <p:cNvPr id="56" name="TextBox 55"/>
          <p:cNvSpPr txBox="1"/>
          <p:nvPr/>
        </p:nvSpPr>
        <p:spPr>
          <a:xfrm>
            <a:off x="5010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57" name="Rounded Rectangle 56"/>
          <p:cNvSpPr/>
          <p:nvPr/>
        </p:nvSpPr>
        <p:spPr>
          <a:xfrm>
            <a:off x="6153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8" name="TextBox 57"/>
          <p:cNvSpPr txBox="1"/>
          <p:nvPr/>
        </p:nvSpPr>
        <p:spPr>
          <a:xfrm>
            <a:off x="6153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35+</a:t>
            </a:r>
          </a:p>
        </p:txBody>
      </p:sp>
      <p:sp>
        <p:nvSpPr>
          <p:cNvPr id="59" name="TextBox 58"/>
          <p:cNvSpPr txBox="1"/>
          <p:nvPr/>
        </p:nvSpPr>
        <p:spPr>
          <a:xfrm>
            <a:off x="6153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60" name="Rounded Rectangle 59"/>
          <p:cNvSpPr/>
          <p:nvPr/>
        </p:nvSpPr>
        <p:spPr>
          <a:xfrm>
            <a:off x="722376" y="3328415"/>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61" name="icon flask"/>
          <p:cNvGrpSpPr/>
          <p:nvPr/>
        </p:nvGrpSpPr>
        <p:grpSpPr>
          <a:xfrm>
            <a:off x="884102" y="3438144"/>
            <a:ext cx="225188" cy="347472"/>
            <a:chOff x="-28032075" y="3916450"/>
            <a:chExt cx="191425" cy="295375"/>
          </a:xfrm>
        </p:grpSpPr>
        <p:sp>
          <p:nvSpPr>
            <p:cNvPr id="62"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TextBox 64"/>
          <p:cNvSpPr txBox="1"/>
          <p:nvPr/>
        </p:nvSpPr>
        <p:spPr>
          <a:xfrm>
            <a:off x="1243584" y="3328415"/>
            <a:ext cx="1325880" cy="566928"/>
          </a:xfrm>
          <a:prstGeom prst="rect">
            <a:avLst/>
          </a:prstGeom>
          <a:noFill/>
        </p:spPr>
        <p:txBody>
          <a:bodyPr wrap="square" anchor="ctr" lIns="0" rIns="0" tIns="0" bIns="0">
            <a:spAutoFit/>
          </a:bodyPr>
          <a:lstStyle/>
          <a:p>
            <a:pPr algn="l"/>
            <a:r>
              <a:rPr sz="1050" b="1" i="0">
                <a:solidFill>
                  <a:srgbClr val="FFFFFF"/>
                </a:solidFill>
                <a:latin typeface="Cabin"/>
              </a:rPr>
              <a:t>Cholesterol</a:t>
            </a:r>
          </a:p>
        </p:txBody>
      </p:sp>
      <p:sp>
        <p:nvSpPr>
          <p:cNvPr id="66" name="Rounded Rectangle 65"/>
          <p:cNvSpPr/>
          <p:nvPr/>
        </p:nvSpPr>
        <p:spPr>
          <a:xfrm>
            <a:off x="2724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7" name="TextBox 66"/>
          <p:cNvSpPr txBox="1"/>
          <p:nvPr/>
        </p:nvSpPr>
        <p:spPr>
          <a:xfrm>
            <a:off x="2724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normal</a:t>
            </a:r>
          </a:p>
        </p:txBody>
      </p:sp>
      <p:sp>
        <p:nvSpPr>
          <p:cNvPr id="68" name="TextBox 67"/>
          <p:cNvSpPr txBox="1"/>
          <p:nvPr/>
        </p:nvSpPr>
        <p:spPr>
          <a:xfrm>
            <a:off x="2724912" y="3566159"/>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69" name="Rounded Rectangle 68"/>
          <p:cNvSpPr/>
          <p:nvPr/>
        </p:nvSpPr>
        <p:spPr>
          <a:xfrm>
            <a:off x="3867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0" name="TextBox 69"/>
          <p:cNvSpPr txBox="1"/>
          <p:nvPr/>
        </p:nvSpPr>
        <p:spPr>
          <a:xfrm>
            <a:off x="3867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above</a:t>
            </a:r>
          </a:p>
        </p:txBody>
      </p:sp>
      <p:sp>
        <p:nvSpPr>
          <p:cNvPr id="71" name="TextBox 70"/>
          <p:cNvSpPr txBox="1"/>
          <p:nvPr/>
        </p:nvSpPr>
        <p:spPr>
          <a:xfrm>
            <a:off x="3867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72" name="Rounded Rectangle 71"/>
          <p:cNvSpPr/>
          <p:nvPr/>
        </p:nvSpPr>
        <p:spPr>
          <a:xfrm>
            <a:off x="5010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3" name="TextBox 72"/>
          <p:cNvSpPr txBox="1"/>
          <p:nvPr/>
        </p:nvSpPr>
        <p:spPr>
          <a:xfrm>
            <a:off x="5010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well above</a:t>
            </a:r>
          </a:p>
        </p:txBody>
      </p:sp>
      <p:sp>
        <p:nvSpPr>
          <p:cNvPr id="74" name="TextBox 73"/>
          <p:cNvSpPr txBox="1"/>
          <p:nvPr/>
        </p:nvSpPr>
        <p:spPr>
          <a:xfrm>
            <a:off x="5010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9</a:t>
            </a:r>
          </a:p>
        </p:txBody>
      </p:sp>
      <p:sp>
        <p:nvSpPr>
          <p:cNvPr id="75" name="TextBox 74"/>
          <p:cNvSpPr txBox="1"/>
          <p:nvPr/>
        </p:nvSpPr>
        <p:spPr>
          <a:xfrm>
            <a:off x="722376" y="4069080"/>
            <a:ext cx="7708392" cy="274320"/>
          </a:xfrm>
          <a:prstGeom prst="rect">
            <a:avLst/>
          </a:prstGeom>
          <a:noFill/>
        </p:spPr>
        <p:txBody>
          <a:bodyPr wrap="square" anchor="t" lIns="0" rIns="0" tIns="0" bIns="0">
            <a:spAutoFit/>
          </a:bodyPr>
          <a:lstStyle/>
          <a:p>
            <a:pPr algn="ctr"/>
            <a:r>
              <a:rPr sz="1200" b="1" i="0">
                <a:solidFill>
                  <a:srgbClr val="0D3C4C"/>
                </a:solidFill>
                <a:latin typeface="Nanum Gothic"/>
              </a:rPr>
              <a:t>0 points → 13%   ·   10 points → 28%   ·   20 points → 52%   ·   30 points → 74%   ·   40 points → 89%</a:t>
            </a:r>
          </a:p>
        </p:txBody>
      </p:sp>
      <p:sp>
        <p:nvSpPr>
          <p:cNvPr id="76" name="TextBox 75"/>
          <p:cNvSpPr txBox="1"/>
          <p:nvPr/>
        </p:nvSpPr>
        <p:spPr>
          <a:xfrm>
            <a:off x="722376" y="4407408"/>
            <a:ext cx="7708392" cy="274320"/>
          </a:xfrm>
          <a:prstGeom prst="rect">
            <a:avLst/>
          </a:prstGeom>
          <a:noFill/>
        </p:spPr>
        <p:txBody>
          <a:bodyPr wrap="square" anchor="t" lIns="0" rIns="0" tIns="0" bIns="0">
            <a:spAutoFit/>
          </a:bodyPr>
          <a:lstStyle/>
          <a:p>
            <a:pPr algn="ctr"/>
            <a:r>
              <a:rPr sz="1100" b="0" i="0">
                <a:solidFill>
                  <a:srgbClr val="4F6A73"/>
                </a:solidFill>
                <a:latin typeface="Nanum Gothic"/>
              </a:rPr>
              <a:t>AUC 0.793 on the test patients, against 0.804 for the best model. The lifestyle answers are left out: they would earn negative points.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How 90% accuracy happens</a:t>
            </a:r>
          </a:p>
        </p:txBody>
      </p:sp>
      <p:sp>
        <p:nvSpPr>
          <p:cNvPr id="3" name="!!lab_a"/>
          <p:cNvSpPr txBox="1"/>
          <p:nvPr/>
        </p:nvSpPr>
        <p:spPr>
          <a:xfrm>
            <a:off x="722376" y="1325880"/>
            <a:ext cx="2423160" cy="329184"/>
          </a:xfrm>
          <a:prstGeom prst="rect">
            <a:avLst/>
          </a:prstGeom>
          <a:noFill/>
        </p:spPr>
        <p:txBody>
          <a:bodyPr wrap="square" anchor="ctr" lIns="0" rIns="0" tIns="0" bIns="0">
            <a:spAutoFit/>
          </a:bodyPr>
          <a:lstStyle/>
          <a:p>
            <a:pPr algn="r"/>
            <a:r>
              <a:rPr sz="1200" b="1" i="0">
                <a:solidFill>
                  <a:srgbClr val="0D3C4C"/>
                </a:solidFill>
                <a:latin typeface="Cabin"/>
              </a:rPr>
              <a:t>Honest: unseen patients</a:t>
            </a:r>
          </a:p>
        </p:txBody>
      </p:sp>
      <p:sp>
        <p:nvSpPr>
          <p:cNvPr id="4" name="!!bar_a"/>
          <p:cNvSpPr/>
          <p:nvPr/>
        </p:nvSpPr>
        <p:spPr>
          <a:xfrm>
            <a:off x="3246120" y="1371600"/>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325880"/>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gradient boosting</a:t>
            </a:r>
          </a:p>
        </p:txBody>
      </p:sp>
      <p:sp>
        <p:nvSpPr>
          <p:cNvPr id="6" name="!!lab_b"/>
          <p:cNvSpPr txBox="1"/>
          <p:nvPr/>
        </p:nvSpPr>
        <p:spPr>
          <a:xfrm>
            <a:off x="722376" y="1892807"/>
            <a:ext cx="2423160" cy="329184"/>
          </a:xfrm>
          <a:prstGeom prst="rect">
            <a:avLst/>
          </a:prstGeom>
          <a:noFill/>
        </p:spPr>
        <p:txBody>
          <a:bodyPr wrap="square" anchor="ctr" lIns="0" rIns="0" tIns="0" bIns="0">
            <a:spAutoFit/>
          </a:bodyPr>
          <a:lstStyle/>
          <a:p>
            <a:pPr algn="r"/>
            <a:r>
              <a:rPr sz="1200" b="1" i="0">
                <a:solidFill>
                  <a:srgbClr val="0D3C4C"/>
                </a:solidFill>
                <a:latin typeface="Cabin"/>
              </a:rPr>
              <a:t>Luckiest of 50 random splits</a:t>
            </a:r>
          </a:p>
        </p:txBody>
      </p:sp>
      <p:sp>
        <p:nvSpPr>
          <p:cNvPr id="7" name="!!bar_b"/>
          <p:cNvSpPr/>
          <p:nvPr/>
        </p:nvSpPr>
        <p:spPr>
          <a:xfrm>
            <a:off x="3246120" y="1938527"/>
            <a:ext cx="2139696" cy="237744"/>
          </a:xfrm>
          <a:prstGeom prst="rect">
            <a:avLst/>
          </a:prstGeom>
          <a:solidFill>
            <a:srgbClr val="ADBAC1"/>
          </a:solidFill>
          <a:ln>
            <a:noFill/>
          </a:ln>
        </p:spPr>
        <p:txBody>
          <a:bodyPr rtlCol="0" anchor="ctr" lIns="73152" rIns="73152" tIns="27432" bIns="27432"/>
          <a:lstStyle/>
          <a:p>
            <a:pPr algn="ctr"/>
          </a:p>
        </p:txBody>
      </p:sp>
      <p:sp>
        <p:nvSpPr>
          <p:cNvPr id="8" name="!!val_b"/>
          <p:cNvSpPr txBox="1"/>
          <p:nvPr/>
        </p:nvSpPr>
        <p:spPr>
          <a:xfrm>
            <a:off x="5458968" y="1892807"/>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r>
          </a:p>
        </p:txBody>
      </p:sp>
      <p:sp>
        <p:nvSpPr>
          <p:cNvPr id="9" name="!!lab_c"/>
          <p:cNvSpPr txBox="1"/>
          <p:nvPr/>
        </p:nvSpPr>
        <p:spPr>
          <a:xfrm>
            <a:off x="722376" y="2459736"/>
            <a:ext cx="2423160" cy="329184"/>
          </a:xfrm>
          <a:prstGeom prst="rect">
            <a:avLst/>
          </a:prstGeom>
          <a:noFill/>
        </p:spPr>
        <p:txBody>
          <a:bodyPr wrap="square" anchor="ctr" lIns="0" rIns="0" tIns="0" bIns="0">
            <a:spAutoFit/>
          </a:bodyPr>
          <a:lstStyle/>
          <a:p>
            <a:pPr algn="r"/>
            <a:r>
              <a:rPr sz="1200" b="1" i="0">
                <a:solidFill>
                  <a:srgbClr val="0D3C4C"/>
                </a:solidFill>
                <a:latin typeface="Cabin"/>
              </a:rPr>
              <a:t>SMOTE before the split</a:t>
            </a:r>
          </a:p>
        </p:txBody>
      </p:sp>
      <p:sp>
        <p:nvSpPr>
          <p:cNvPr id="10" name="!!bar_c"/>
          <p:cNvSpPr/>
          <p:nvPr/>
        </p:nvSpPr>
        <p:spPr>
          <a:xfrm>
            <a:off x="3246120" y="2505456"/>
            <a:ext cx="3355848" cy="237744"/>
          </a:xfrm>
          <a:prstGeom prst="rect">
            <a:avLst/>
          </a:prstGeom>
          <a:solidFill>
            <a:srgbClr val="E05A4F"/>
          </a:solidFill>
          <a:ln>
            <a:noFill/>
          </a:ln>
        </p:spPr>
        <p:txBody>
          <a:bodyPr rtlCol="0" anchor="ctr" lIns="73152" rIns="73152" tIns="27432" bIns="27432"/>
          <a:lstStyle/>
          <a:p>
            <a:pPr algn="ctr"/>
          </a:p>
        </p:txBody>
      </p:sp>
      <p:sp>
        <p:nvSpPr>
          <p:cNvPr id="11" name="!!val_c"/>
          <p:cNvSpPr txBox="1"/>
          <p:nvPr/>
        </p:nvSpPr>
        <p:spPr>
          <a:xfrm>
            <a:off x="5687568" y="2459736"/>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86.7%</a:t>
            </a:r>
          </a:p>
        </p:txBody>
      </p:sp>
      <p:sp>
        <p:nvSpPr>
          <p:cNvPr id="12" name="!!lab_d"/>
          <p:cNvSpPr txBox="1"/>
          <p:nvPr/>
        </p:nvSpPr>
        <p:spPr>
          <a:xfrm>
            <a:off x="722376" y="3026663"/>
            <a:ext cx="2423160" cy="329184"/>
          </a:xfrm>
          <a:prstGeom prst="rect">
            <a:avLst/>
          </a:prstGeom>
          <a:noFill/>
        </p:spPr>
        <p:txBody>
          <a:bodyPr wrap="square" anchor="ctr" lIns="0" rIns="0" tIns="0" bIns="0">
            <a:spAutoFit/>
          </a:bodyPr>
          <a:lstStyle/>
          <a:p>
            <a:pPr algn="r"/>
            <a:r>
              <a:rPr sz="1200" b="1" i="0">
                <a:solidFill>
                  <a:srgbClr val="0D3C4C"/>
                </a:solidFill>
                <a:latin typeface="Cabin"/>
              </a:rPr>
              <a:t>Scored on its own training data</a:t>
            </a:r>
          </a:p>
        </p:txBody>
      </p:sp>
      <p:sp>
        <p:nvSpPr>
          <p:cNvPr id="13" name="!!bar_d"/>
          <p:cNvSpPr/>
          <p:nvPr/>
        </p:nvSpPr>
        <p:spPr>
          <a:xfrm>
            <a:off x="3246120" y="3072383"/>
            <a:ext cx="4562855" cy="237744"/>
          </a:xfrm>
          <a:prstGeom prst="rect">
            <a:avLst/>
          </a:prstGeom>
          <a:solidFill>
            <a:srgbClr val="E05A4F"/>
          </a:solidFill>
          <a:ln>
            <a:noFill/>
          </a:ln>
        </p:spPr>
        <p:txBody>
          <a:bodyPr rtlCol="0" anchor="ctr" lIns="73152" rIns="73152" tIns="27432" bIns="27432"/>
          <a:lstStyle/>
          <a:p>
            <a:pPr algn="ctr"/>
          </a:p>
        </p:txBody>
      </p:sp>
      <p:sp>
        <p:nvSpPr>
          <p:cNvPr id="14" name="!!val_d"/>
          <p:cNvSpPr txBox="1"/>
          <p:nvPr/>
        </p:nvSpPr>
        <p:spPr>
          <a:xfrm>
            <a:off x="6894575" y="3026663"/>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99.9%</a:t>
            </a:r>
          </a:p>
        </p:txBody>
      </p:sp>
      <p:sp>
        <p:nvSpPr>
          <p:cNvPr id="15" name="!!axis"/>
          <p:cNvSpPr/>
          <p:nvPr/>
        </p:nvSpPr>
        <p:spPr>
          <a:xfrm>
            <a:off x="3246120" y="1280160"/>
            <a:ext cx="10972" cy="2331720"/>
          </a:xfrm>
          <a:prstGeom prst="rect">
            <a:avLst/>
          </a:prstGeom>
          <a:solidFill>
            <a:srgbClr val="ADBAC1"/>
          </a:solidFill>
          <a:ln>
            <a:noFill/>
          </a:ln>
        </p:spPr>
        <p:txBody>
          <a:bodyPr rtlCol="0" anchor="ctr" lIns="73152" rIns="73152" tIns="27432" bIns="27432"/>
          <a:lstStyle/>
          <a:p>
            <a:pPr algn="ctr"/>
          </a:p>
        </p:txBody>
      </p:sp>
      <p:sp>
        <p:nvSpPr>
          <p:cNvPr id="16" name="!!tick50"/>
          <p:cNvSpPr txBox="1"/>
          <p:nvPr/>
        </p:nvSpPr>
        <p:spPr>
          <a:xfrm>
            <a:off x="2880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17" name="!!tick75"/>
          <p:cNvSpPr txBox="1"/>
          <p:nvPr/>
        </p:nvSpPr>
        <p:spPr>
          <a:xfrm>
            <a:off x="5166359"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18" name="!!tick100"/>
          <p:cNvSpPr txBox="1"/>
          <p:nvPr/>
        </p:nvSpPr>
        <p:spPr>
          <a:xfrm>
            <a:off x="7452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19" name="Isosceles Triangle 18"/>
          <p:cNvSpPr/>
          <p:nvPr/>
        </p:nvSpPr>
        <p:spPr>
          <a:xfrm>
            <a:off x="6665061" y="3785615"/>
            <a:ext cx="128016" cy="128016"/>
          </a:xfrm>
          <a:prstGeom prst="triangle">
            <a:avLst/>
          </a:prstGeom>
          <a:solidFill>
            <a:srgbClr val="B23A2E"/>
          </a:solidFill>
          <a:ln>
            <a:noFill/>
          </a:ln>
        </p:spPr>
        <p:txBody>
          <a:bodyPr rtlCol="0" anchor="ctr" lIns="73152" rIns="73152" tIns="27432" bIns="27432"/>
          <a:lstStyle/>
          <a:p>
            <a:pPr algn="ctr"/>
          </a:p>
        </p:txBody>
      </p:sp>
      <p:sp>
        <p:nvSpPr>
          <p:cNvPr id="20" name="TextBox 19"/>
          <p:cNvSpPr txBox="1"/>
          <p:nvPr/>
        </p:nvSpPr>
        <p:spPr>
          <a:xfrm>
            <a:off x="5220309" y="3959352"/>
            <a:ext cx="1463040" cy="228600"/>
          </a:xfrm>
          <a:prstGeom prst="rect">
            <a:avLst/>
          </a:prstGeom>
          <a:noFill/>
        </p:spPr>
        <p:txBody>
          <a:bodyPr wrap="square" anchor="t" lIns="0" rIns="0" tIns="0" bIns="0">
            <a:spAutoFit/>
          </a:bodyPr>
          <a:lstStyle/>
          <a:p>
            <a:pPr algn="r"/>
            <a:r>
              <a:rPr sz="1000" b="1" i="0">
                <a:solidFill>
                  <a:srgbClr val="B23A2E"/>
                </a:solidFill>
                <a:latin typeface="Nanum Gothic"/>
              </a:rPr>
              <a:t>88% (Omkari 2024)</a:t>
            </a:r>
          </a:p>
        </p:txBody>
      </p:sp>
      <p:sp>
        <p:nvSpPr>
          <p:cNvPr id="21" name="Isosceles Triangle 20"/>
          <p:cNvSpPr/>
          <p:nvPr/>
        </p:nvSpPr>
        <p:spPr>
          <a:xfrm>
            <a:off x="7251192" y="3785615"/>
            <a:ext cx="128016" cy="128016"/>
          </a:xfrm>
          <a:prstGeom prst="triangle">
            <a:avLst/>
          </a:prstGeom>
          <a:solidFill>
            <a:srgbClr val="B23A2E"/>
          </a:solidFill>
          <a:ln>
            <a:noFill/>
          </a:ln>
        </p:spPr>
        <p:txBody>
          <a:bodyPr rtlCol="0" anchor="ctr" lIns="73152" rIns="73152" tIns="27432" bIns="27432"/>
          <a:lstStyle/>
          <a:p>
            <a:pPr algn="ctr"/>
          </a:p>
        </p:txBody>
      </p:sp>
      <p:sp>
        <p:nvSpPr>
          <p:cNvPr id="22" name="TextBox 21"/>
          <p:cNvSpPr txBox="1"/>
          <p:nvPr/>
        </p:nvSpPr>
        <p:spPr>
          <a:xfrm>
            <a:off x="7360920" y="3959352"/>
            <a:ext cx="1463040" cy="228600"/>
          </a:xfrm>
          <a:prstGeom prst="rect">
            <a:avLst/>
          </a:prstGeom>
          <a:noFill/>
        </p:spPr>
        <p:txBody>
          <a:bodyPr wrap="square" anchor="t" lIns="0" rIns="0" tIns="0" bIns="0">
            <a:spAutoFit/>
          </a:bodyPr>
          <a:lstStyle/>
          <a:p>
            <a:pPr algn="l"/>
            <a:r>
              <a:rPr sz="1000" b="1" i="0">
                <a:solidFill>
                  <a:srgbClr val="B23A2E"/>
                </a:solidFill>
                <a:latin typeface="Nanum Gothic"/>
              </a:rPr>
              <a:t>94.5% (Zafar 2026)</a:t>
            </a:r>
          </a:p>
        </p:txBody>
      </p:sp>
      <p:sp>
        <p:nvSpPr>
          <p:cNvPr id="23" name="TextBox 22"/>
          <p:cNvSpPr txBox="1"/>
          <p:nvPr/>
        </p:nvSpPr>
        <p:spPr>
          <a:xfrm>
            <a:off x="722376" y="4343400"/>
            <a:ext cx="7708392" cy="411480"/>
          </a:xfrm>
          <a:prstGeom prst="rect">
            <a:avLst/>
          </a:prstGeom>
          <a:noFill/>
        </p:spPr>
        <p:txBody>
          <a:bodyPr wrap="square" anchor="t" lIns="0" rIns="0" tIns="0" bIns="0">
            <a:spAutoFit/>
          </a:bodyPr>
          <a:lstStyle/>
          <a:p>
            <a:pPr algn="ctr"/>
            <a:r>
              <a:rPr sz="1200" b="1" i="0">
                <a:solidFill>
                  <a:srgbClr val="0D3C4C"/>
                </a:solidFill>
                <a:latin typeface="Nanum Gothic"/>
              </a:rPr>
              <a:t>Same data, same models; only the evaluation changes. </a:t>
            </a:r>
            <a:r>
              <a:rPr sz="1200" b="0" i="0">
                <a:solidFill>
                  <a:srgbClr val="4F6A73"/>
                </a:solidFill>
                <a:latin typeface="Nanum Gothic"/>
              </a:rPr>
              <a:t>Red markers: accuracies published for this dataset.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800">
        <p159:morph option="byObject"/>
      </p:transition>
    </mc:Choice>
    <mc:Fallback>
      <p:transition xmlns:p14="http://schemas.microsoft.com/office/powerpoint/2010/main" spd="slow" p14:dur="18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Can the predictions be trusted?</a:t>
            </a:r>
          </a:p>
        </p:txBody>
      </p:sp>
      <p:pic>
        <p:nvPicPr>
          <p:cNvPr id="3" name="Picture 2" descr="crop_fig13_calibration.png"/>
          <p:cNvPicPr>
            <a:picLocks noChangeAspect="1"/>
          </p:cNvPicPr>
          <p:nvPr/>
        </p:nvPicPr>
        <p:blipFill>
          <a:blip r:embed="rId2"/>
          <a:stretch>
            <a:fillRect/>
          </a:stretch>
        </p:blipFill>
        <p:spPr>
          <a:xfrm>
            <a:off x="566928" y="1143000"/>
            <a:ext cx="4101975" cy="3611880"/>
          </a:xfrm>
          <a:prstGeom prst="rect">
            <a:avLst/>
          </a:prstGeom>
        </p:spPr>
      </p:pic>
      <p:sp>
        <p:nvSpPr>
          <p:cNvPr id="4" name="Oval 3"/>
          <p:cNvSpPr/>
          <p:nvPr/>
        </p:nvSpPr>
        <p:spPr>
          <a:xfrm>
            <a:off x="4709160" y="1207008"/>
            <a:ext cx="502920" cy="502920"/>
          </a:xfrm>
          <a:prstGeom prst="ellipse">
            <a:avLst/>
          </a:prstGeom>
          <a:solidFill>
            <a:srgbClr val="0D3C4C"/>
          </a:solidFill>
          <a:ln>
            <a:noFill/>
          </a:ln>
        </p:spPr>
        <p:txBody>
          <a:bodyPr rtlCol="0" anchor="ctr" lIns="73152" rIns="73152" tIns="27432" bIns="27432"/>
          <a:lstStyle/>
          <a:p>
            <a:pPr algn="ctr"/>
          </a:p>
        </p:txBody>
      </p:sp>
      <p:grpSp>
        <p:nvGrpSpPr>
          <p:cNvPr id="5" name="icon scale"/>
          <p:cNvGrpSpPr/>
          <p:nvPr/>
        </p:nvGrpSpPr>
        <p:grpSpPr>
          <a:xfrm>
            <a:off x="4819802" y="1318345"/>
            <a:ext cx="281635" cy="280244"/>
            <a:chOff x="-42994575" y="3950300"/>
            <a:chExt cx="319025" cy="317450"/>
          </a:xfrm>
        </p:grpSpPr>
        <p:sp>
          <p:nvSpPr>
            <p:cNvPr id="6"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5349240" y="1179576"/>
            <a:ext cx="3108960" cy="292608"/>
          </a:xfrm>
          <a:prstGeom prst="rect">
            <a:avLst/>
          </a:prstGeom>
          <a:noFill/>
        </p:spPr>
        <p:txBody>
          <a:bodyPr wrap="square" anchor="t" lIns="0" rIns="0" tIns="0" bIns="0">
            <a:spAutoFit/>
          </a:bodyPr>
          <a:lstStyle/>
          <a:p>
            <a:pPr algn="l"/>
            <a:r>
              <a:rPr sz="1350" b="1" i="0">
                <a:solidFill>
                  <a:srgbClr val="0D3C4C"/>
                </a:solidFill>
                <a:latin typeface="Cabin"/>
              </a:rPr>
              <a:t>Calibrated</a:t>
            </a:r>
          </a:p>
        </p:txBody>
      </p:sp>
      <p:sp>
        <p:nvSpPr>
          <p:cNvPr id="10" name="TextBox 9"/>
          <p:cNvSpPr txBox="1"/>
          <p:nvPr/>
        </p:nvSpPr>
        <p:spPr>
          <a:xfrm>
            <a:off x="5349240" y="147218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patients given 20% have CVD about 20% of the time</a:t>
            </a:r>
          </a:p>
        </p:txBody>
      </p:sp>
      <p:sp>
        <p:nvSpPr>
          <p:cNvPr id="11" name="Oval 10"/>
          <p:cNvSpPr/>
          <p:nvPr/>
        </p:nvSpPr>
        <p:spPr>
          <a:xfrm>
            <a:off x="4709160" y="2075688"/>
            <a:ext cx="502920" cy="502920"/>
          </a:xfrm>
          <a:prstGeom prst="ellipse">
            <a:avLst/>
          </a:prstGeom>
          <a:solidFill>
            <a:srgbClr val="0D3C4C"/>
          </a:solidFill>
          <a:ln>
            <a:noFill/>
          </a:ln>
        </p:spPr>
        <p:txBody>
          <a:bodyPr rtlCol="0" anchor="ctr" lIns="73152" rIns="73152" tIns="27432" bIns="27432"/>
          <a:lstStyle/>
          <a:p>
            <a:pPr algn="ctr"/>
          </a:p>
        </p:txBody>
      </p:sp>
      <p:grpSp>
        <p:nvGrpSpPr>
          <p:cNvPr id="12" name="icon people"/>
          <p:cNvGrpSpPr/>
          <p:nvPr/>
        </p:nvGrpSpPr>
        <p:grpSpPr>
          <a:xfrm>
            <a:off x="4819802" y="2187101"/>
            <a:ext cx="281635" cy="280093"/>
            <a:chOff x="-5971525" y="3273750"/>
            <a:chExt cx="292250" cy="290650"/>
          </a:xfrm>
        </p:grpSpPr>
        <p:sp>
          <p:nvSpPr>
            <p:cNvPr id="13" name="Google Shape;8670;p66"/>
            <p:cNvSpPr/>
            <p:nvPr/>
          </p:nvSpPr>
          <p:spPr>
            <a:xfrm>
              <a:off x="-5868325" y="3273750"/>
              <a:ext cx="85075" cy="84300"/>
            </a:xfrm>
            <a:custGeom>
              <a:rect b="b" l="l" r="r" t="t"/>
              <a:pathLst>
                <a:path extrusionOk="0" h="3372" w="3403">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8671;p66"/>
            <p:cNvSpPr/>
            <p:nvPr/>
          </p:nvSpPr>
          <p:spPr>
            <a:xfrm>
              <a:off x="-5971525" y="3308400"/>
              <a:ext cx="292250" cy="256000"/>
            </a:xfrm>
            <a:custGeom>
              <a:rect b="b" l="l" r="r" t="t"/>
              <a:pathLst>
                <a:path extrusionOk="0" h="10240" w="1169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 name="TextBox 14"/>
          <p:cNvSpPr txBox="1"/>
          <p:nvPr/>
        </p:nvSpPr>
        <p:spPr>
          <a:xfrm>
            <a:off x="5349240" y="2048256"/>
            <a:ext cx="3108960" cy="292608"/>
          </a:xfrm>
          <a:prstGeom prst="rect">
            <a:avLst/>
          </a:prstGeom>
          <a:noFill/>
        </p:spPr>
        <p:txBody>
          <a:bodyPr wrap="square" anchor="t" lIns="0" rIns="0" tIns="0" bIns="0">
            <a:spAutoFit/>
          </a:bodyPr>
          <a:lstStyle/>
          <a:p>
            <a:pPr algn="l"/>
            <a:r>
              <a:rPr sz="1350" b="1" i="0">
                <a:solidFill>
                  <a:srgbClr val="0D3C4C"/>
                </a:solidFill>
                <a:latin typeface="Cabin"/>
              </a:rPr>
              <a:t>Women and men alike</a:t>
            </a:r>
          </a:p>
        </p:txBody>
      </p:sp>
      <p:sp>
        <p:nvSpPr>
          <p:cNvPr id="16" name="TextBox 15"/>
          <p:cNvSpPr txBox="1"/>
          <p:nvPr/>
        </p:nvSpPr>
        <p:spPr>
          <a:xfrm>
            <a:off x="5349240" y="234086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0.803 and 0.808</a:t>
            </a:r>
          </a:p>
        </p:txBody>
      </p:sp>
      <p:sp>
        <p:nvSpPr>
          <p:cNvPr id="17" name="Oval 16"/>
          <p:cNvSpPr/>
          <p:nvPr/>
        </p:nvSpPr>
        <p:spPr>
          <a:xfrm>
            <a:off x="4709160" y="2944368"/>
            <a:ext cx="502920" cy="502920"/>
          </a:xfrm>
          <a:prstGeom prst="ellipse">
            <a:avLst/>
          </a:prstGeom>
          <a:solidFill>
            <a:srgbClr val="0D3C4C"/>
          </a:solidFill>
          <a:ln>
            <a:noFill/>
          </a:ln>
        </p:spPr>
        <p:txBody>
          <a:bodyPr rtlCol="0" anchor="ctr" lIns="73152" rIns="73152" tIns="27432" bIns="27432"/>
          <a:lstStyle/>
          <a:p>
            <a:pPr algn="ctr"/>
          </a:p>
        </p:txBody>
      </p:sp>
      <p:sp>
        <p:nvSpPr>
          <p:cNvPr id="18" name="icon hourglass"/>
          <p:cNvSpPr/>
          <p:nvPr/>
        </p:nvSpPr>
        <p:spPr>
          <a:xfrm>
            <a:off x="4859125" y="3055010"/>
            <a:ext cx="202989" cy="281635"/>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TextBox 18"/>
          <p:cNvSpPr txBox="1"/>
          <p:nvPr/>
        </p:nvSpPr>
        <p:spPr>
          <a:xfrm>
            <a:off x="5349240" y="2916936"/>
            <a:ext cx="3108960" cy="292608"/>
          </a:xfrm>
          <a:prstGeom prst="rect">
            <a:avLst/>
          </a:prstGeom>
          <a:noFill/>
        </p:spPr>
        <p:txBody>
          <a:bodyPr wrap="square" anchor="t" lIns="0" rIns="0" tIns="0" bIns="0">
            <a:spAutoFit/>
          </a:bodyPr>
          <a:lstStyle/>
          <a:p>
            <a:pPr algn="l"/>
            <a:r>
              <a:rPr sz="1350" b="1" i="0">
                <a:solidFill>
                  <a:srgbClr val="0D3C4C"/>
                </a:solidFill>
                <a:latin typeface="Cabin"/>
              </a:rPr>
              <a:t>Weaker over 60</a:t>
            </a:r>
          </a:p>
        </p:txBody>
      </p:sp>
      <p:sp>
        <p:nvSpPr>
          <p:cNvPr id="20" name="TextBox 19"/>
          <p:cNvSpPr txBox="1"/>
          <p:nvPr/>
        </p:nvSpPr>
        <p:spPr>
          <a:xfrm>
            <a:off x="5349240" y="320954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0.72, against 0.84 under 50</a:t>
            </a:r>
          </a:p>
        </p:txBody>
      </p:sp>
      <p:sp>
        <p:nvSpPr>
          <p:cNvPr id="21" name="Oval 20"/>
          <p:cNvSpPr/>
          <p:nvPr/>
        </p:nvSpPr>
        <p:spPr>
          <a:xfrm>
            <a:off x="4709160" y="3813048"/>
            <a:ext cx="502920" cy="502920"/>
          </a:xfrm>
          <a:prstGeom prst="ellipse">
            <a:avLst/>
          </a:prstGeom>
          <a:solidFill>
            <a:srgbClr val="E05A4F"/>
          </a:solidFill>
          <a:ln>
            <a:noFill/>
          </a:ln>
        </p:spPr>
        <p:txBody>
          <a:bodyPr rtlCol="0" anchor="ctr" lIns="73152" rIns="73152" tIns="27432" bIns="27432"/>
          <a:lstStyle/>
          <a:p>
            <a:pPr algn="ctr"/>
          </a:p>
        </p:txBody>
      </p:sp>
      <p:grpSp>
        <p:nvGrpSpPr>
          <p:cNvPr id="22" name="icon target"/>
          <p:cNvGrpSpPr/>
          <p:nvPr/>
        </p:nvGrpSpPr>
        <p:grpSpPr>
          <a:xfrm>
            <a:off x="4819802" y="3924679"/>
            <a:ext cx="281635" cy="279657"/>
            <a:chOff x="-63250675" y="3744075"/>
            <a:chExt cx="320350" cy="318100"/>
          </a:xfrm>
        </p:grpSpPr>
        <p:sp>
          <p:nvSpPr>
            <p:cNvPr id="23" name="Google Shape;6534;p62"/>
            <p:cNvSpPr/>
            <p:nvPr/>
          </p:nvSpPr>
          <p:spPr>
            <a:xfrm>
              <a:off x="-63126250" y="3744075"/>
              <a:ext cx="195925" cy="192875"/>
            </a:xfrm>
            <a:custGeom>
              <a:rect b="b" l="l" r="r" t="t"/>
              <a:pathLst>
                <a:path extrusionOk="0" h="7715" w="7837">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535;p62"/>
            <p:cNvSpPr/>
            <p:nvPr/>
          </p:nvSpPr>
          <p:spPr>
            <a:xfrm>
              <a:off x="-63190025" y="3814050"/>
              <a:ext cx="186675" cy="185900"/>
            </a:xfrm>
            <a:custGeom>
              <a:rect b="b" l="l" r="r" t="t"/>
              <a:pathLst>
                <a:path extrusionOk="0" h="7436" w="7467">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536;p62"/>
            <p:cNvSpPr/>
            <p:nvPr/>
          </p:nvSpPr>
          <p:spPr>
            <a:xfrm>
              <a:off x="-63250675" y="3751050"/>
              <a:ext cx="311125" cy="311125"/>
            </a:xfrm>
            <a:custGeom>
              <a:rect b="b" l="l" r="r" t="t"/>
              <a:pathLst>
                <a:path extrusionOk="0" h="12445" w="12445">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5349240" y="3785615"/>
            <a:ext cx="3108960" cy="292608"/>
          </a:xfrm>
          <a:prstGeom prst="rect">
            <a:avLst/>
          </a:prstGeom>
          <a:noFill/>
        </p:spPr>
        <p:txBody>
          <a:bodyPr wrap="square" anchor="t" lIns="0" rIns="0" tIns="0" bIns="0">
            <a:spAutoFit/>
          </a:bodyPr>
          <a:lstStyle/>
          <a:p>
            <a:pPr algn="l"/>
            <a:r>
              <a:rPr sz="1350" b="1" i="0">
                <a:solidFill>
                  <a:srgbClr val="0D3C4C"/>
                </a:solidFill>
                <a:latin typeface="Cabin"/>
              </a:rPr>
              <a:t>1 in 5 sick? 44% of flags right</a:t>
            </a:r>
          </a:p>
        </p:txBody>
      </p:sp>
      <p:sp>
        <p:nvSpPr>
          <p:cNvPr id="27" name="TextBox 26"/>
          <p:cNvSpPr txBox="1"/>
          <p:nvPr/>
        </p:nvSpPr>
        <p:spPr>
          <a:xfrm>
            <a:off x="5349240" y="407822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 reason to look closer, not a diagnosis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Checking a new patient</a:t>
            </a:r>
          </a:p>
        </p:txBody>
      </p:sp>
      <p:sp>
        <p:nvSpPr>
          <p:cNvPr id="3" name="Rounded Rectangle 2"/>
          <p:cNvSpPr/>
          <p:nvPr/>
        </p:nvSpPr>
        <p:spPr>
          <a:xfrm>
            <a:off x="722376" y="1188720"/>
            <a:ext cx="7708392" cy="2514600"/>
          </a:xfrm>
          <a:prstGeom prst="roundRect">
            <a:avLst>
              <a:gd name="adj" fmla="val 6000"/>
            </a:avLst>
          </a:prstGeom>
          <a:solidFill>
            <a:srgbClr val="0D3C4C"/>
          </a:solidFill>
          <a:ln>
            <a:noFill/>
          </a:ln>
        </p:spPr>
        <p:txBody>
          <a:bodyPr rtlCol="0" anchor="ctr" lIns="73152" rIns="73152" tIns="27432" bIns="27432"/>
          <a:lstStyle/>
          <a:p>
            <a:pPr algn="ctr"/>
          </a:p>
        </p:txBody>
      </p:sp>
      <p:sp>
        <p:nvSpPr>
          <p:cNvPr id="4" name="TextBox 3"/>
          <p:cNvSpPr txBox="1"/>
          <p:nvPr/>
        </p:nvSpPr>
        <p:spPr>
          <a:xfrm>
            <a:off x="914400" y="1298448"/>
            <a:ext cx="7315200" cy="2377440"/>
          </a:xfrm>
          <a:prstGeom prst="rect">
            <a:avLst/>
          </a:prstGeom>
          <a:noFill/>
        </p:spPr>
        <p:txBody>
          <a:bodyPr wrap="square" anchor="t" lIns="0" rIns="0" tIns="0" bIns="0">
            <a:spAutoFit/>
          </a:bodyPr>
          <a:lstStyle/>
          <a:p>
            <a:pPr algn="l"/>
            <a:r>
              <a:rPr sz="1050" b="1" i="0">
                <a:solidFill>
                  <a:srgbClr val="99D0E2"/>
                </a:solidFill>
                <a:latin typeface="Consolas"/>
              </a:rPr>
              <a:t>bundle = load_final()</a:t>
            </a:r>
          </a:p>
          <a:p>
            <a:pPr algn="l">
              <a:spcBef>
                <a:spcPts val="300"/>
              </a:spcBef>
            </a:pPr>
            <a:r>
              <a:rPr sz="1050" b="1" i="0">
                <a:solidFill>
                  <a:srgbClr val="99D0E2"/>
                </a:solidFill>
                <a:latin typeface="Consolas"/>
              </a:rPr>
              <a:t>assess(bundle, patient(age=62, sex="male", height=172, weight=98,</a:t>
            </a:r>
          </a:p>
          <a:p>
            <a:pPr algn="l">
              <a:spcBef>
                <a:spcPts val="300"/>
              </a:spcBef>
            </a:pPr>
            <a:r>
              <a:rPr sz="1050" b="1" i="0">
                <a:solidFill>
                  <a:srgbClr val="99D0E2"/>
                </a:solidFill>
                <a:latin typeface="Consolas"/>
              </a:rPr>
              <a:t>                       systolic=165, diastolic=100, cholesterol=3))</a:t>
            </a:r>
          </a:p>
          <a:p>
            <a:pPr algn="l">
              <a:spcBef>
                <a:spcPts val="300"/>
              </a:spcBef>
            </a:pPr>
            <a:r>
              <a:rPr sz="1050" b="0" i="0">
                <a:solidFill>
                  <a:srgbClr val="FFFFFF"/>
                </a:solidFill>
                <a:latin typeface="Consolas"/>
              </a:rPr>
              <a:t>risk of cardiovascular disease: 87%</a:t>
            </a:r>
          </a:p>
          <a:p>
            <a:pPr algn="l">
              <a:spcBef>
                <a:spcPts val="300"/>
              </a:spcBef>
            </a:pPr>
            <a:r>
              <a:rPr sz="1050" b="0" i="0">
                <a:solidFill>
                  <a:srgbClr val="FFFFFF"/>
                </a:solidFill>
                <a:latin typeface="Consolas"/>
              </a:rPr>
              <a:t>verdict: cardiovascular disease likely</a:t>
            </a:r>
          </a:p>
          <a:p>
            <a:pPr algn="l">
              <a:spcBef>
                <a:spcPts val="300"/>
              </a:spcBef>
            </a:pPr>
            <a:r>
              <a:rPr sz="1050" b="0" i="0">
                <a:solidFill>
                  <a:srgbClr val="FFFFFF"/>
                </a:solidFill>
                <a:latin typeface="Consolas"/>
              </a:rPr>
              <a:t>screening (cut-off 0.38): refer for examination</a:t>
            </a:r>
          </a:p>
          <a:p>
            <a:pPr algn="l">
              <a:spcBef>
                <a:spcPts val="300"/>
              </a:spcBef>
            </a:pPr>
            <a:r>
              <a:rPr sz="1050" b="0" i="0">
                <a:solidFill>
                  <a:srgbClr val="FFFFFF"/>
                </a:solidFill>
                <a:latin typeface="Consolas"/>
              </a:rPr>
              <a:t>clinical points score: 50 points, risk 95%</a:t>
            </a:r>
          </a:p>
          <a:p>
            <a:pPr algn="l">
              <a:spcBef>
                <a:spcPts val="300"/>
              </a:spcBef>
            </a:pPr>
            <a:r>
              <a:rPr sz="1050" b="0" i="0">
                <a:solidFill>
                  <a:srgbClr val="FFFFFF"/>
                </a:solidFill>
                <a:latin typeface="Consolas"/>
              </a:rPr>
              <a:t>   +11  Age (years): 60+</a:t>
            </a:r>
          </a:p>
          <a:p>
            <a:pPr algn="l">
              <a:spcBef>
                <a:spcPts val="300"/>
              </a:spcBef>
            </a:pPr>
            <a:r>
              <a:rPr sz="1050" b="0" i="0">
                <a:solidFill>
                  <a:srgbClr val="FFFFFF"/>
                </a:solidFill>
                <a:latin typeface="Consolas"/>
              </a:rPr>
              <a:t>   +27  Systolic pressure (mmHg): 160+</a:t>
            </a:r>
          </a:p>
          <a:p>
            <a:pPr algn="l">
              <a:spcBef>
                <a:spcPts val="300"/>
              </a:spcBef>
            </a:pPr>
            <a:r>
              <a:rPr sz="1050" b="0" i="0">
                <a:solidFill>
                  <a:srgbClr val="FFFFFF"/>
                </a:solidFill>
                <a:latin typeface="Consolas"/>
              </a:rPr>
              <a:t>   +3  BMI (kg/m²): 30-34.9</a:t>
            </a:r>
          </a:p>
          <a:p>
            <a:pPr algn="l">
              <a:spcBef>
                <a:spcPts val="300"/>
              </a:spcBef>
            </a:pPr>
            <a:r>
              <a:rPr sz="1050" b="0" i="0">
                <a:solidFill>
                  <a:srgbClr val="FFFFFF"/>
                </a:solidFill>
                <a:latin typeface="Consolas"/>
              </a:rPr>
              <a:t>   +9  Cholesterol: well above normal</a:t>
            </a:r>
          </a:p>
        </p:txBody>
      </p:sp>
      <p:sp>
        <p:nvSpPr>
          <p:cNvPr id="5" name="Rounded Rectangle 4"/>
          <p:cNvSpPr/>
          <p:nvPr/>
        </p:nvSpPr>
        <p:spPr>
          <a:xfrm>
            <a:off x="722376" y="3840480"/>
            <a:ext cx="7708392" cy="685800"/>
          </a:xfrm>
          <a:prstGeom prst="roundRect">
            <a:avLst>
              <a:gd name="adj" fmla="val 10000"/>
            </a:avLst>
          </a:prstGeom>
          <a:solidFill>
            <a:srgbClr val="EEF6F9"/>
          </a:solidFill>
          <a:ln>
            <a:noFill/>
          </a:ln>
        </p:spPr>
        <p:txBody>
          <a:bodyPr rtlCol="0" anchor="ctr" lIns="73152" rIns="73152" tIns="27432" bIns="27432"/>
          <a:lstStyle/>
          <a:p>
            <a:pPr algn="ctr"/>
          </a:p>
        </p:txBody>
      </p:sp>
      <p:sp>
        <p:nvSpPr>
          <p:cNvPr id="6" name="TextBox 5"/>
          <p:cNvSpPr txBox="1"/>
          <p:nvPr/>
        </p:nvSpPr>
        <p:spPr>
          <a:xfrm>
            <a:off x="914400" y="3895344"/>
            <a:ext cx="7315200" cy="594360"/>
          </a:xfrm>
          <a:prstGeom prst="rect">
            <a:avLst/>
          </a:prstGeom>
          <a:noFill/>
        </p:spPr>
        <p:txBody>
          <a:bodyPr wrap="square" anchor="t" lIns="0" rIns="0" tIns="0" bIns="0">
            <a:spAutoFit/>
          </a:bodyPr>
          <a:lstStyle/>
          <a:p>
            <a:pPr algn="l"/>
            <a:r>
              <a:rPr sz="1050" b="1" i="0">
                <a:solidFill>
                  <a:srgbClr val="0D3C4C"/>
                </a:solidFill>
                <a:latin typeface="Consolas"/>
              </a:rPr>
              <a:t>patient(age=50, sex="male", ..., systolic=1400, diastolic=90)</a:t>
            </a:r>
          </a:p>
          <a:p>
            <a:pPr algn="l">
              <a:spcBef>
                <a:spcPts val="200"/>
              </a:spcBef>
            </a:pPr>
            <a:r>
              <a:rPr sz="1050" b="0" i="0">
                <a:solidFill>
                  <a:srgbClr val="B23A2E"/>
                </a:solidFill>
                <a:latin typeface="Consolas"/>
              </a:rPr>
              <a:t>ValueError: implausible examination values: ap_hi out of range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Conclusions</a:t>
            </a:r>
          </a:p>
        </p:txBody>
      </p:sp>
      <p:sp>
        <p:nvSpPr>
          <p:cNvPr id="3" name="Rounded Rectangle 2"/>
          <p:cNvSpPr/>
          <p:nvPr/>
        </p:nvSpPr>
        <p:spPr>
          <a:xfrm>
            <a:off x="722376"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q0"/>
          <p:cNvSpPr/>
          <p:nvPr/>
        </p:nvSpPr>
        <p:spPr>
          <a:xfrm>
            <a:off x="905256"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5" name="icon bars"/>
          <p:cNvGrpSpPr/>
          <p:nvPr/>
        </p:nvGrpSpPr>
        <p:grpSpPr>
          <a:xfrm>
            <a:off x="1021933" y="1489012"/>
            <a:ext cx="296997" cy="295527"/>
            <a:chOff x="-62151950" y="4111775"/>
            <a:chExt cx="318225" cy="316650"/>
          </a:xfrm>
        </p:grpSpPr>
        <p:sp>
          <p:nvSpPr>
            <p:cNvPr id="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 name="TextBox 9"/>
          <p:cNvSpPr txBox="1"/>
          <p:nvPr/>
        </p:nvSpPr>
        <p:spPr>
          <a:xfrm>
            <a:off x="905256"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Q1 · A real but small gain</a:t>
            </a:r>
          </a:p>
        </p:txBody>
      </p:sp>
      <p:sp>
        <p:nvSpPr>
          <p:cNvPr id="11" name="TextBox 10"/>
          <p:cNvSpPr txBox="1"/>
          <p:nvPr/>
        </p:nvSpPr>
        <p:spPr>
          <a:xfrm>
            <a:off x="905256"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+2.3 points over the guideline rule; the ceiling of about 74% is set by what the examination records</a:t>
            </a:r>
          </a:p>
        </p:txBody>
      </p:sp>
      <p:sp>
        <p:nvSpPr>
          <p:cNvPr id="12" name="Rounded Rectangle 11"/>
          <p:cNvSpPr/>
          <p:nvPr/>
        </p:nvSpPr>
        <p:spPr>
          <a:xfrm>
            <a:off x="3355848"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q1"/>
          <p:cNvSpPr/>
          <p:nvPr/>
        </p:nvSpPr>
        <p:spPr>
          <a:xfrm>
            <a:off x="3538728"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14" name="icon database"/>
          <p:cNvGrpSpPr/>
          <p:nvPr/>
        </p:nvGrpSpPr>
        <p:grpSpPr>
          <a:xfrm>
            <a:off x="3655774" y="1488277"/>
            <a:ext cx="296259" cy="296997"/>
            <a:chOff x="-3771675" y="3971775"/>
            <a:chExt cx="291300" cy="292025"/>
          </a:xfrm>
        </p:grpSpPr>
        <p:sp>
          <p:nvSpPr>
            <p:cNvPr id="15"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3538728"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Q2 · Handling beats algorithms</a:t>
            </a:r>
          </a:p>
        </p:txBody>
      </p:sp>
      <p:sp>
        <p:nvSpPr>
          <p:cNvPr id="21" name="TextBox 20"/>
          <p:cNvSpPr txBox="1"/>
          <p:nvPr/>
        </p:nvSpPr>
        <p:spPr>
          <a:xfrm>
            <a:off x="3538728"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Cleaning rescues linear models; leakage can manufacture almost any accuracy</a:t>
            </a:r>
          </a:p>
        </p:txBody>
      </p:sp>
      <p:sp>
        <p:nvSpPr>
          <p:cNvPr id="22" name="Rounded Rectangle 21"/>
          <p:cNvSpPr/>
          <p:nvPr/>
        </p:nvSpPr>
        <p:spPr>
          <a:xfrm>
            <a:off x="5989320"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3" name="!!q2"/>
          <p:cNvSpPr/>
          <p:nvPr/>
        </p:nvSpPr>
        <p:spPr>
          <a:xfrm>
            <a:off x="6172200"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24" name="icon stethoscope"/>
          <p:cNvGrpSpPr/>
          <p:nvPr/>
        </p:nvGrpSpPr>
        <p:grpSpPr>
          <a:xfrm>
            <a:off x="6311048" y="1488277"/>
            <a:ext cx="252655" cy="296997"/>
            <a:chOff x="-27691025" y="3175300"/>
            <a:chExt cx="251275" cy="295375"/>
          </a:xfrm>
        </p:grpSpPr>
        <p:sp>
          <p:nvSpPr>
            <p:cNvPr id="25"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6172200"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Q3 · Trustworthy, within limits</a:t>
            </a:r>
          </a:p>
        </p:txBody>
      </p:sp>
      <p:sp>
        <p:nvSpPr>
          <p:cNvPr id="30" name="TextBox 29"/>
          <p:cNvSpPr txBox="1"/>
          <p:nvPr/>
        </p:nvSpPr>
        <p:spPr>
          <a:xfrm>
            <a:off x="6172200"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Calibrated and equal for both sexes; weaker over 60; associations, not causes</a:t>
            </a:r>
          </a:p>
        </p:txBody>
      </p:sp>
      <p:sp>
        <p:nvSpPr>
          <p:cNvPr id="31" name="TextBox 30"/>
          <p:cNvSpPr txBox="1"/>
          <p:nvPr/>
        </p:nvSpPr>
        <p:spPr>
          <a:xfrm>
            <a:off x="722376" y="3886200"/>
            <a:ext cx="7708392" cy="731520"/>
          </a:xfrm>
          <a:prstGeom prst="rect">
            <a:avLst/>
          </a:prstGeom>
          <a:noFill/>
        </p:spPr>
        <p:txBody>
          <a:bodyPr wrap="square" anchor="t" lIns="0" rIns="0" tIns="0" bIns="0">
            <a:spAutoFit/>
          </a:bodyPr>
          <a:lstStyle/>
          <a:p>
            <a:pPr algn="l"/>
            <a:r>
              <a:rPr sz="1150" b="1" i="0">
                <a:solidFill>
                  <a:srgbClr val="B23A2E"/>
                </a:solidFill>
                <a:latin typeface="Nanum Gothic"/>
              </a:rPr>
              <a:t>Limitations: </a:t>
            </a:r>
            <a:r>
              <a:rPr sz="1150" b="0" i="0">
                <a:solidFill>
                  <a:srgbClr val="0D3C4C"/>
                </a:solidFill>
                <a:latin typeface="Nanum Gothic"/>
              </a:rPr>
              <a:t>detects existing disease, cannot forecast · undocumented source and diagnosis · no treatment data · a 50/50 sample · one dataset, no external validation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8" name="Google Shape;1638;p47"/>
          <p:cNvGrpSpPr/>
          <p:nvPr/>
        </p:nvGrpSpPr>
        <p:grpSpPr>
          <a:xfrm>
            <a:off x="1411697" y="5564"/>
            <a:ext cx="1105788" cy="1058857"/>
            <a:chOff x="4252810" y="2035226"/>
            <a:chExt cx="624951" cy="598394"/>
          </a:xfrm>
        </p:grpSpPr>
        <p:sp>
          <p:nvSpPr>
            <p:cNvPr id="19" name="Google Shape;1639;p4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1640;p4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1641;p4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1642;p4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1643;p4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1644;p4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1645;p4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1646;p4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1647;p4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1648;p4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1649;p4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1650;p4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1651;p4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1652;p4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1653;p4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1654;p4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1655;p4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1656;p4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1657;p4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1658;p4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1659;p4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1660;p4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1661;p4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1662;p4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1663;p4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1664;p4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1665;p4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1666;p4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1667;p4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1668;p4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1669;p4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1670;p4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1671;p4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1672;p4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1673;p4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1674;p4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1675;p4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1676;p4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1677;p4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1678;p4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1679;p4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1680;p4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 name="Google Shape;1626;p47"/>
          <p:cNvGrpSpPr/>
          <p:nvPr/>
        </p:nvGrpSpPr>
        <p:grpSpPr>
          <a:xfrm>
            <a:off x="7858386" y="2384876"/>
            <a:ext cx="1617386" cy="1624770"/>
            <a:chOff x="3992334" y="189904"/>
            <a:chExt cx="1116902" cy="1122001"/>
          </a:xfrm>
        </p:grpSpPr>
        <p:sp>
          <p:nvSpPr>
            <p:cNvPr id="7" name="Google Shape;1627;p4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1628;p4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1629;p4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1630;p4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631;p4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632;p4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633;p4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634;p4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635;p4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36;p4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637;p4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 name="Google Shape;1625;p47"/>
          <p:cNvSpPr/>
          <p:nvPr/>
        </p:nvSpPr>
        <p:spPr>
          <a:xfrm rot="10800000">
            <a:off x="8114175"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4" name="Google Shape;1624;p47"/>
          <p:cNvSpPr/>
          <p:nvPr/>
        </p:nvSpPr>
        <p:spPr>
          <a:xfrm>
            <a:off x="-50" y="24547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2" name="Title 1"/>
          <p:cNvSpPr>
            <a:spLocks noGrp="1"/>
          </p:cNvSpPr>
          <p:nvPr>
            <p:ph type="ctrTitle"/>
          </p:nvPr>
        </p:nvSpPr>
        <p:spPr/>
        <p:txBody>
          <a:bodyPr/>
          <a:lstStyle/>
          <a:p>
            <a:pPr marL="0" indent="0">
              <a:buNone/>
            </a:pPr>
            <a:r>
              <a:t>Thank you</a:t>
            </a:r>
          </a:p>
        </p:txBody>
      </p:sp>
      <p:sp>
        <p:nvSpPr>
          <p:cNvPr id="3" name="Subtitle 2"/>
          <p:cNvSpPr>
            <a:spLocks noGrp="1"/>
          </p:cNvSpPr>
          <p:nvPr>
            <p:ph type="subTitle" idx="1"/>
          </p:nvPr>
        </p:nvSpPr>
        <p:spPr/>
        <p:txBody>
          <a:bodyPr/>
          <a:lstStyle/>
          <a:p>
            <a:pPr marL="0" indent="0">
              <a:buNone/>
            </a:pPr>
            <a:r>
              <a:t>Questions?</a:t>
            </a:r>
          </a:p>
          <a:p>
            <a:pPr marL="0" indent="0">
              <a:buNone/>
            </a:pPr>
            <a:r>
              <a:t>hadigghazi@gmail.com</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every candidate on the test set</a:t>
            </a:r>
          </a:p>
        </p:txBody>
      </p:sp>
      <p:graphicFrame>
        <p:nvGraphicFramePr>
          <p:cNvPr id="3" name="Table 2"/>
          <p:cNvGraphicFramePr>
            <a:graphicFrameLocks noGrp="1"/>
          </p:cNvGraphicFramePr>
          <p:nvPr/>
        </p:nvGraphicFramePr>
        <p:xfrm>
          <a:off x="722376" y="1188720"/>
          <a:ext cx="7708392" cy="3108960"/>
        </p:xfrm>
        <a:graphic>
          <a:graphicData uri="http://schemas.openxmlformats.org/drawingml/2006/table">
            <a:tbl>
              <a:tblPr firstRow="1" bandRow="1">
                <a:tableStyleId>{5C22544A-7EE6-4342-B048-85BDC9FD1C3A}</a:tableStyleId>
              </a:tblPr>
              <a:tblGrid>
                <a:gridCol w="2377440"/>
                <a:gridCol w="822960"/>
                <a:gridCol w="1051560"/>
                <a:gridCol w="777240"/>
                <a:gridCol w="868680"/>
                <a:gridCol w="914400"/>
                <a:gridCol w="896112"/>
              </a:tblGrid>
              <a:tr h="310896">
                <a:tc>
                  <a:txBody>
                    <a:bodyPr/>
                    <a:lstStyle/>
                    <a:p>
                      <a:pPr algn="l"/>
                      <a:r>
                        <a:rPr sz="1050" b="1" i="0">
                          <a:solidFill>
                            <a:srgbClr val="FFFFFF"/>
                          </a:solidFill>
                          <a:latin typeface="Cabin"/>
                        </a:rPr>
                        <a:t>Model</a:t>
                      </a:r>
                    </a:p>
                  </a:txBody>
                  <a:tcPr marT="18288" marB="18288" anchor="ctr">
                    <a:solidFill>
                      <a:srgbClr val="0D3C4C"/>
                    </a:solidFill>
                  </a:tcPr>
                </a:tc>
                <a:tc>
                  <a:txBody>
                    <a:bodyPr/>
                    <a:lstStyle/>
                    <a:p>
                      <a:pPr algn="r"/>
                      <a:r>
                        <a:rPr sz="1050" b="1" i="0">
                          <a:solidFill>
                            <a:srgbClr val="FFFFFF"/>
                          </a:solidFill>
                          <a:latin typeface="Cabin"/>
                        </a:rPr>
                        <a:t>Test AUC</a:t>
                      </a:r>
                    </a:p>
                  </a:txBody>
                  <a:tcPr marT="18288" marB="18288" anchor="ctr">
                    <a:solidFill>
                      <a:srgbClr val="0D3C4C"/>
                    </a:solidFill>
                  </a:tcPr>
                </a:tc>
                <a:tc>
                  <a:txBody>
                    <a:bodyPr/>
                    <a:lstStyle/>
                    <a:p>
                      <a:pPr algn="r"/>
                      <a:r>
                        <a:rPr sz="1050" b="1" i="0">
                          <a:solidFill>
                            <a:srgbClr val="FFFFFF"/>
                          </a:solidFill>
                          <a:latin typeface="Cabin"/>
                        </a:rPr>
                        <a:t>95% CI</a:t>
                      </a:r>
                    </a:p>
                  </a:txBody>
                  <a:tcPr marT="18288" marB="18288" anchor="ctr">
                    <a:solidFill>
                      <a:srgbClr val="0D3C4C"/>
                    </a:solidFill>
                  </a:tcPr>
                </a:tc>
                <a:tc>
                  <a:txBody>
                    <a:bodyPr/>
                    <a:lstStyle/>
                    <a:p>
                      <a:pPr algn="r"/>
                      <a:r>
                        <a:rPr sz="1050" b="1" i="0">
                          <a:solidFill>
                            <a:srgbClr val="FFFFFF"/>
                          </a:solidFill>
                          <a:latin typeface="Cabin"/>
                        </a:rPr>
                        <a:t>CV AUC</a:t>
                      </a:r>
                    </a:p>
                  </a:txBody>
                  <a:tcPr marT="18288" marB="18288" anchor="ctr">
                    <a:solidFill>
                      <a:srgbClr val="0D3C4C"/>
                    </a:solidFill>
                  </a:tcPr>
                </a:tc>
                <a:tc>
                  <a:txBody>
                    <a:bodyPr/>
                    <a:lstStyle/>
                    <a:p>
                      <a:pPr algn="r"/>
                      <a:r>
                        <a:rPr sz="1050" b="1" i="0">
                          <a:solidFill>
                            <a:srgbClr val="FFFFFF"/>
                          </a:solidFill>
                          <a:latin typeface="Cabin"/>
                        </a:rPr>
                        <a:t>Accuracy</a:t>
                      </a:r>
                    </a:p>
                  </a:txBody>
                  <a:tcPr marT="18288" marB="18288" anchor="ctr">
                    <a:solidFill>
                      <a:srgbClr val="0D3C4C"/>
                    </a:solidFill>
                  </a:tcPr>
                </a:tc>
                <a:tc>
                  <a:txBody>
                    <a:bodyPr/>
                    <a:lstStyle/>
                    <a:p>
                      <a:pPr algn="r"/>
                      <a:r>
                        <a:rPr sz="1050" b="1" i="0">
                          <a:solidFill>
                            <a:srgbClr val="FFFFFF"/>
                          </a:solidFill>
                          <a:latin typeface="Cabin"/>
                        </a:rPr>
                        <a:t>Sensitivity</a:t>
                      </a:r>
                    </a:p>
                  </a:txBody>
                  <a:tcPr marT="18288" marB="18288" anchor="ctr">
                    <a:solidFill>
                      <a:srgbClr val="0D3C4C"/>
                    </a:solidFill>
                  </a:tcPr>
                </a:tc>
                <a:tc>
                  <a:txBody>
                    <a:bodyPr/>
                    <a:lstStyle/>
                    <a:p>
                      <a:pPr algn="r"/>
                      <a:r>
                        <a:rPr sz="1050" b="1" i="0">
                          <a:solidFill>
                            <a:srgbClr val="FFFFFF"/>
                          </a:solidFill>
                          <a:latin typeface="Cabin"/>
                        </a:rPr>
                        <a:t>Specificity</a:t>
                      </a:r>
                    </a:p>
                  </a:txBody>
                  <a:tcPr marT="18288" marB="18288" anchor="ctr">
                    <a:solidFill>
                      <a:srgbClr val="0D3C4C"/>
                    </a:solidFill>
                  </a:tcPr>
                </a:tc>
              </a:tr>
              <a:tr h="310896">
                <a:tc>
                  <a:txBody>
                    <a:bodyPr/>
                    <a:lstStyle/>
                    <a:p>
                      <a:pPr algn="l"/>
                      <a:r>
                        <a:rPr sz="1050" b="0" i="0">
                          <a:solidFill>
                            <a:srgbClr val="0D3C4C"/>
                          </a:solidFill>
                          <a:latin typeface="Nanum Gothic"/>
                        </a:rPr>
                        <a:t>Gradient boosting</a:t>
                      </a:r>
                    </a:p>
                  </a:txBody>
                  <a:tcPr marT="18288" marB="18288" anchor="ctr">
                    <a:solidFill>
                      <a:srgbClr val="EEF6F9"/>
                    </a:solidFill>
                  </a:tcPr>
                </a:tc>
                <a:tc>
                  <a:txBody>
                    <a:bodyPr/>
                    <a:lstStyle/>
                    <a:p>
                      <a:pPr algn="r"/>
                      <a:r>
                        <a:rPr sz="1050" b="0" i="0">
                          <a:solidFill>
                            <a:srgbClr val="0D3C4C"/>
                          </a:solidFill>
                          <a:latin typeface="Nanum Gothic"/>
                        </a:rPr>
                        <a:t>0.804</a:t>
                      </a:r>
                    </a:p>
                  </a:txBody>
                  <a:tcPr marT="18288" marB="18288" anchor="ctr">
                    <a:solidFill>
                      <a:srgbClr val="EEF6F9"/>
                    </a:solidFill>
                  </a:tcPr>
                </a:tc>
                <a:tc>
                  <a:txBody>
                    <a:bodyPr/>
                    <a:lstStyle/>
                    <a:p>
                      <a:pPr algn="r"/>
                      <a:r>
                        <a:rPr sz="1050" b="0" i="0">
                          <a:solidFill>
                            <a:srgbClr val="0D3C4C"/>
                          </a:solidFill>
                          <a:latin typeface="Nanum Gothic"/>
                        </a:rPr>
                        <a:t>0.797-0.811</a:t>
                      </a:r>
                    </a:p>
                  </a:txBody>
                  <a:tcPr marT="18288" marB="18288" anchor="ctr">
                    <a:solidFill>
                      <a:srgbClr val="EEF6F9"/>
                    </a:solidFill>
                  </a:tcPr>
                </a:tc>
                <a:tc>
                  <a:txBody>
                    <a:bodyPr/>
                    <a:lstStyle/>
                    <a:p>
                      <a:pPr algn="r"/>
                      <a:r>
                        <a:rPr sz="1050" b="0" i="0">
                          <a:solidFill>
                            <a:srgbClr val="0D3C4C"/>
                          </a:solidFill>
                          <a:latin typeface="Nanum Gothic"/>
                        </a:rPr>
                        <a:t>0.801</a:t>
                      </a:r>
                    </a:p>
                  </a:txBody>
                  <a:tcPr marT="18288" marB="18288" anchor="ctr">
                    <a:solidFill>
                      <a:srgbClr val="EEF6F9"/>
                    </a:solidFill>
                  </a:tcPr>
                </a:tc>
                <a:tc>
                  <a:txBody>
                    <a:bodyPr/>
                    <a:lstStyle/>
                    <a:p>
                      <a:pPr algn="r"/>
                      <a:r>
                        <a:rPr sz="1050" b="0" i="0">
                          <a:solidFill>
                            <a:srgbClr val="0D3C4C"/>
                          </a:solidFill>
                          <a:latin typeface="Nanum Gothic"/>
                        </a:rPr>
                        <a:t>73.6%</a:t>
                      </a:r>
                    </a:p>
                  </a:txBody>
                  <a:tcPr marT="18288" marB="18288" anchor="ctr">
                    <a:solidFill>
                      <a:srgbClr val="EEF6F9"/>
                    </a:solidFill>
                  </a:tcPr>
                </a:tc>
                <a:tc>
                  <a:txBody>
                    <a:bodyPr/>
                    <a:lstStyle/>
                    <a:p>
                      <a:pPr algn="r"/>
                      <a:r>
                        <a:rPr sz="1050" b="0" i="0">
                          <a:solidFill>
                            <a:srgbClr val="0D3C4C"/>
                          </a:solidFill>
                          <a:latin typeface="Nanum Gothic"/>
                        </a:rPr>
                        <a:t>68.9%</a:t>
                      </a:r>
                    </a:p>
                  </a:txBody>
                  <a:tcPr marT="18288" marB="18288" anchor="ctr">
                    <a:solidFill>
                      <a:srgbClr val="EEF6F9"/>
                    </a:solidFill>
                  </a:tcPr>
                </a:tc>
                <a:tc>
                  <a:txBody>
                    <a:bodyPr/>
                    <a:lstStyle/>
                    <a:p>
                      <a:pPr algn="r"/>
                      <a:r>
                        <a:rPr sz="1050" b="0" i="0">
                          <a:solidFill>
                            <a:srgbClr val="0D3C4C"/>
                          </a:solidFill>
                          <a:latin typeface="Nanum Gothic"/>
                        </a:rPr>
                        <a:t>78.2%</a:t>
                      </a:r>
                    </a:p>
                  </a:txBody>
                  <a:tcPr marT="18288" marB="18288" anchor="ctr">
                    <a:solidFill>
                      <a:srgbClr val="EEF6F9"/>
                    </a:solidFill>
                  </a:tcPr>
                </a:tc>
              </a:tr>
              <a:tr h="310896">
                <a:tc>
                  <a:txBody>
                    <a:bodyPr/>
                    <a:lstStyle/>
                    <a:p>
                      <a:pPr algn="l"/>
                      <a:r>
                        <a:rPr sz="1050" b="0" i="0">
                          <a:solidFill>
                            <a:srgbClr val="0D3C4C"/>
                          </a:solidFill>
                          <a:latin typeface="Nanum Gothic"/>
                        </a:rPr>
                        <a:t>Random forest</a:t>
                      </a:r>
                    </a:p>
                  </a:txBody>
                  <a:tcPr marT="18288" marB="18288" anchor="ctr">
                    <a:solidFill>
                      <a:srgbClr val="FFFFFF"/>
                    </a:solidFill>
                  </a:tcPr>
                </a:tc>
                <a:tc>
                  <a:txBody>
                    <a:bodyPr/>
                    <a:lstStyle/>
                    <a:p>
                      <a:pPr algn="r"/>
                      <a:r>
                        <a:rPr sz="1050" b="0" i="0">
                          <a:solidFill>
                            <a:srgbClr val="0D3C4C"/>
                          </a:solidFill>
                          <a:latin typeface="Nanum Gothic"/>
                        </a:rPr>
                        <a:t>0.803</a:t>
                      </a:r>
                    </a:p>
                  </a:txBody>
                  <a:tcPr marT="18288" marB="18288" anchor="ctr">
                    <a:solidFill>
                      <a:srgbClr val="FFFFFF"/>
                    </a:solidFill>
                  </a:tcPr>
                </a:tc>
                <a:tc>
                  <a:txBody>
                    <a:bodyPr/>
                    <a:lstStyle/>
                    <a:p>
                      <a:pPr algn="r"/>
                      <a:r>
                        <a:rPr sz="1050" b="0" i="0">
                          <a:solidFill>
                            <a:srgbClr val="0D3C4C"/>
                          </a:solidFill>
                          <a:latin typeface="Nanum Gothic"/>
                        </a:rPr>
                        <a:t>0.796-0.810</a:t>
                      </a:r>
                    </a:p>
                  </a:txBody>
                  <a:tcPr marT="18288" marB="18288" anchor="ctr">
                    <a:solidFill>
                      <a:srgbClr val="FFFFFF"/>
                    </a:solidFill>
                  </a:tcPr>
                </a:tc>
                <a:tc>
                  <a:txBody>
                    <a:bodyPr/>
                    <a:lstStyle/>
                    <a:p>
                      <a:pPr algn="r"/>
                      <a:r>
                        <a:rPr sz="1050" b="0" i="0">
                          <a:solidFill>
                            <a:srgbClr val="0D3C4C"/>
                          </a:solidFill>
                          <a:latin typeface="Nanum Gothic"/>
                        </a:rPr>
                        <a:t>0.799</a:t>
                      </a:r>
                    </a:p>
                  </a:txBody>
                  <a:tcPr marT="18288" marB="18288" anchor="ctr">
                    <a:solidFill>
                      <a:srgbClr val="FFFFFF"/>
                    </a:solidFill>
                  </a:tcPr>
                </a:tc>
                <a:tc>
                  <a:txBody>
                    <a:bodyPr/>
                    <a:lstStyle/>
                    <a:p>
                      <a:pPr algn="r"/>
                      <a:r>
                        <a:rPr sz="1050" b="0" i="0">
                          <a:solidFill>
                            <a:srgbClr val="0D3C4C"/>
                          </a:solidFill>
                          <a:latin typeface="Nanum Gothic"/>
                        </a:rPr>
                        <a:t>73.4%</a:t>
                      </a:r>
                    </a:p>
                  </a:txBody>
                  <a:tcPr marT="18288" marB="18288" anchor="ctr">
                    <a:solidFill>
                      <a:srgbClr val="FFFFFF"/>
                    </a:solidFill>
                  </a:tcPr>
                </a:tc>
                <a:tc>
                  <a:txBody>
                    <a:bodyPr/>
                    <a:lstStyle/>
                    <a:p>
                      <a:pPr algn="r"/>
                      <a:r>
                        <a:rPr sz="1050" b="0" i="0">
                          <a:solidFill>
                            <a:srgbClr val="0D3C4C"/>
                          </a:solidFill>
                          <a:latin typeface="Nanum Gothic"/>
                        </a:rPr>
                        <a:t>68.5%</a:t>
                      </a:r>
                    </a:p>
                  </a:txBody>
                  <a:tcPr marT="18288" marB="18288" anchor="ctr">
                    <a:solidFill>
                      <a:srgbClr val="FFFFFF"/>
                    </a:solidFill>
                  </a:tcPr>
                </a:tc>
                <a:tc>
                  <a:txBody>
                    <a:bodyPr/>
                    <a:lstStyle/>
                    <a:p>
                      <a:pPr algn="r"/>
                      <a:r>
                        <a:rPr sz="1050" b="0" i="0">
                          <a:solidFill>
                            <a:srgbClr val="0D3C4C"/>
                          </a:solidFill>
                          <a:latin typeface="Nanum Gothic"/>
                        </a:rPr>
                        <a:t>78.1%</a:t>
                      </a:r>
                    </a:p>
                  </a:txBody>
                  <a:tcPr marT="18288" marB="18288" anchor="ctr">
                    <a:solidFill>
                      <a:srgbClr val="FFFFFF"/>
                    </a:solidFill>
                  </a:tcPr>
                </a:tc>
              </a:tr>
              <a:tr h="310896">
                <a:tc>
                  <a:txBody>
                    <a:bodyPr/>
                    <a:lstStyle/>
                    <a:p>
                      <a:pPr algn="l"/>
                      <a:r>
                        <a:rPr sz="1050" b="0" i="0">
                          <a:solidFill>
                            <a:srgbClr val="0D3C4C"/>
                          </a:solidFill>
                          <a:latin typeface="Nanum Gothic"/>
                        </a:rPr>
                        <a:t>Neural network (MLP)</a:t>
                      </a:r>
                    </a:p>
                  </a:txBody>
                  <a:tcPr marT="18288" marB="18288" anchor="ctr">
                    <a:solidFill>
                      <a:srgbClr val="EEF6F9"/>
                    </a:solidFill>
                  </a:tcPr>
                </a:tc>
                <a:tc>
                  <a:txBody>
                    <a:bodyPr/>
                    <a:lstStyle/>
                    <a:p>
                      <a:pPr algn="r"/>
                      <a:r>
                        <a:rPr sz="1050" b="0" i="0">
                          <a:solidFill>
                            <a:srgbClr val="0D3C4C"/>
                          </a:solidFill>
                          <a:latin typeface="Nanum Gothic"/>
                        </a:rPr>
                        <a:t>0.803</a:t>
                      </a:r>
                    </a:p>
                  </a:txBody>
                  <a:tcPr marT="18288" marB="18288" anchor="ctr">
                    <a:solidFill>
                      <a:srgbClr val="EEF6F9"/>
                    </a:solidFill>
                  </a:tcPr>
                </a:tc>
                <a:tc>
                  <a:txBody>
                    <a:bodyPr/>
                    <a:lstStyle/>
                    <a:p>
                      <a:pPr algn="r"/>
                      <a:r>
                        <a:rPr sz="1050" b="0" i="0">
                          <a:solidFill>
                            <a:srgbClr val="0D3C4C"/>
                          </a:solidFill>
                          <a:latin typeface="Nanum Gothic"/>
                        </a:rPr>
                        <a:t>0.795-0.810</a:t>
                      </a:r>
                    </a:p>
                  </a:txBody>
                  <a:tcPr marT="18288" marB="18288" anchor="ctr">
                    <a:solidFill>
                      <a:srgbClr val="EEF6F9"/>
                    </a:solidFill>
                  </a:tcPr>
                </a:tc>
                <a:tc>
                  <a:txBody>
                    <a:bodyPr/>
                    <a:lstStyle/>
                    <a:p>
                      <a:pPr algn="r"/>
                      <a:r>
                        <a:rPr sz="1050" b="0" i="0">
                          <a:solidFill>
                            <a:srgbClr val="0D3C4C"/>
                          </a:solidFill>
                          <a:latin typeface="Nanum Gothic"/>
                        </a:rPr>
                        <a:t>0.799</a:t>
                      </a:r>
                    </a:p>
                  </a:txBody>
                  <a:tcPr marT="18288" marB="18288" anchor="ctr">
                    <a:solidFill>
                      <a:srgbClr val="EEF6F9"/>
                    </a:solidFill>
                  </a:tcPr>
                </a:tc>
                <a:tc>
                  <a:txBody>
                    <a:bodyPr/>
                    <a:lstStyle/>
                    <a:p>
                      <a:pPr algn="r"/>
                      <a:r>
                        <a:rPr sz="1050" b="0" i="0">
                          <a:solidFill>
                            <a:srgbClr val="0D3C4C"/>
                          </a:solidFill>
                          <a:latin typeface="Nanum Gothic"/>
                        </a:rPr>
                        <a:t>73.4%</a:t>
                      </a:r>
                    </a:p>
                  </a:txBody>
                  <a:tcPr marT="18288" marB="18288" anchor="ctr">
                    <a:solidFill>
                      <a:srgbClr val="EEF6F9"/>
                    </a:solidFill>
                  </a:tcPr>
                </a:tc>
                <a:tc>
                  <a:txBody>
                    <a:bodyPr/>
                    <a:lstStyle/>
                    <a:p>
                      <a:pPr algn="r"/>
                      <a:r>
                        <a:rPr sz="1050" b="0" i="0">
                          <a:solidFill>
                            <a:srgbClr val="0D3C4C"/>
                          </a:solidFill>
                          <a:latin typeface="Nanum Gothic"/>
                        </a:rPr>
                        <a:t>71.0%</a:t>
                      </a:r>
                    </a:p>
                  </a:txBody>
                  <a:tcPr marT="18288" marB="18288" anchor="ctr">
                    <a:solidFill>
                      <a:srgbClr val="EEF6F9"/>
                    </a:solidFill>
                  </a:tcPr>
                </a:tc>
                <a:tc>
                  <a:txBody>
                    <a:bodyPr/>
                    <a:lstStyle/>
                    <a:p>
                      <a:pPr algn="r"/>
                      <a:r>
                        <a:rPr sz="1050" b="0" i="0">
                          <a:solidFill>
                            <a:srgbClr val="0D3C4C"/>
                          </a:solidFill>
                          <a:latin typeface="Nanum Gothic"/>
                        </a:rPr>
                        <a:t>75.7%</a:t>
                      </a:r>
                    </a:p>
                  </a:txBody>
                  <a:tcPr marT="18288" marB="18288" anchor="ctr">
                    <a:solidFill>
                      <a:srgbClr val="EEF6F9"/>
                    </a:solidFill>
                  </a:tcPr>
                </a:tc>
              </a:tr>
              <a:tr h="310896">
                <a:tc>
                  <a:txBody>
                    <a:bodyPr/>
                    <a:lstStyle/>
                    <a:p>
                      <a:pPr algn="l"/>
                      <a:r>
                        <a:rPr sz="1050" b="0" i="0">
                          <a:solidFill>
                            <a:srgbClr val="0D3C4C"/>
                          </a:solidFill>
                          <a:latin typeface="Nanum Gothic"/>
                        </a:rPr>
                        <a:t>Points score (all factors)</a:t>
                      </a:r>
                    </a:p>
                  </a:txBody>
                  <a:tcPr marT="18288" marB="18288" anchor="ctr">
                    <a:solidFill>
                      <a:srgbClr val="FFFFFF"/>
                    </a:solidFill>
                  </a:tcPr>
                </a:tc>
                <a:tc>
                  <a:txBody>
                    <a:bodyPr/>
                    <a:lstStyle/>
                    <a:p>
                      <a:pPr algn="r"/>
                      <a:r>
                        <a:rPr sz="1050" b="0" i="0">
                          <a:solidFill>
                            <a:srgbClr val="0D3C4C"/>
                          </a:solidFill>
                          <a:latin typeface="Nanum Gothic"/>
                        </a:rPr>
                        <a:t>0.795</a:t>
                      </a:r>
                    </a:p>
                  </a:txBody>
                  <a:tcPr marT="18288" marB="18288" anchor="ctr">
                    <a:solidFill>
                      <a:srgbClr val="FFFFFF"/>
                    </a:solidFill>
                  </a:tcPr>
                </a:tc>
                <a:tc>
                  <a:txBody>
                    <a:bodyPr/>
                    <a:lstStyle/>
                    <a:p>
                      <a:pPr algn="r"/>
                      <a:r>
                        <a:rPr sz="1050" b="0" i="0">
                          <a:solidFill>
                            <a:srgbClr val="0D3C4C"/>
                          </a:solidFill>
                          <a:latin typeface="Nanum Gothic"/>
                        </a:rPr>
                        <a:t>0.788-0.803</a:t>
                      </a:r>
                    </a:p>
                  </a:txBody>
                  <a:tcPr marT="18288" marB="18288" anchor="ctr">
                    <a:solidFill>
                      <a:srgbClr val="FFFFFF"/>
                    </a:solidFill>
                  </a:tcPr>
                </a:tc>
                <a:tc>
                  <a:txBody>
                    <a:bodyPr/>
                    <a:lstStyle/>
                    <a:p>
                      <a:pPr algn="r"/>
                      <a:r>
                        <a:rPr sz="1050" b="0" i="0">
                          <a:solidFill>
                            <a:srgbClr val="0D3C4C"/>
                          </a:solidFill>
                          <a:latin typeface="Nanum Gothic"/>
                        </a:rPr>
                        <a:t>-</a:t>
                      </a:r>
                    </a:p>
                  </a:txBody>
                  <a:tcPr marT="18288" marB="18288" anchor="ctr">
                    <a:solidFill>
                      <a:srgbClr val="FFFFFF"/>
                    </a:solidFill>
                  </a:tcPr>
                </a:tc>
                <a:tc>
                  <a:txBody>
                    <a:bodyPr/>
                    <a:lstStyle/>
                    <a:p>
                      <a:pPr algn="r"/>
                      <a:r>
                        <a:rPr sz="1050" b="0" i="0">
                          <a:solidFill>
                            <a:srgbClr val="0D3C4C"/>
                          </a:solidFill>
                          <a:latin typeface="Nanum Gothic"/>
                        </a:rPr>
                        <a:t>72.5%</a:t>
                      </a:r>
                    </a:p>
                  </a:txBody>
                  <a:tcPr marT="18288" marB="18288" anchor="ctr">
                    <a:solidFill>
                      <a:srgbClr val="FFFFFF"/>
                    </a:solidFill>
                  </a:tcPr>
                </a:tc>
                <a:tc>
                  <a:txBody>
                    <a:bodyPr/>
                    <a:lstStyle/>
                    <a:p>
                      <a:pPr algn="r"/>
                      <a:r>
                        <a:rPr sz="1050" b="0" i="0">
                          <a:solidFill>
                            <a:srgbClr val="0D3C4C"/>
                          </a:solidFill>
                          <a:latin typeface="Nanum Gothic"/>
                        </a:rPr>
                        <a:t>64.3%</a:t>
                      </a:r>
                    </a:p>
                  </a:txBody>
                  <a:tcPr marT="18288" marB="18288" anchor="ctr">
                    <a:solidFill>
                      <a:srgbClr val="FFFFFF"/>
                    </a:solidFill>
                  </a:tcPr>
                </a:tc>
                <a:tc>
                  <a:txBody>
                    <a:bodyPr/>
                    <a:lstStyle/>
                    <a:p>
                      <a:pPr algn="r"/>
                      <a:r>
                        <a:rPr sz="1050" b="0" i="0">
                          <a:solidFill>
                            <a:srgbClr val="0D3C4C"/>
                          </a:solidFill>
                          <a:latin typeface="Nanum Gothic"/>
                        </a:rPr>
                        <a:t>80.6%</a:t>
                      </a:r>
                    </a:p>
                  </a:txBody>
                  <a:tcPr marT="18288" marB="18288" anchor="ctr">
                    <a:solidFill>
                      <a:srgbClr val="FFFFFF"/>
                    </a:solidFill>
                  </a:tcPr>
                </a:tc>
              </a:tr>
              <a:tr h="310896">
                <a:tc>
                  <a:txBody>
                    <a:bodyPr/>
                    <a:lstStyle/>
                    <a:p>
                      <a:pPr algn="l"/>
                      <a:r>
                        <a:rPr sz="1050" b="0" i="0">
                          <a:solidFill>
                            <a:srgbClr val="0D3C4C"/>
                          </a:solidFill>
                          <a:latin typeface="Nanum Gothic"/>
                        </a:rPr>
                        <a:t>Logistic regression</a:t>
                      </a:r>
                    </a:p>
                  </a:txBody>
                  <a:tcPr marT="18288" marB="18288" anchor="ctr">
                    <a:solidFill>
                      <a:srgbClr val="EEF6F9"/>
                    </a:solidFill>
                  </a:tcPr>
                </a:tc>
                <a:tc>
                  <a:txBody>
                    <a:bodyPr/>
                    <a:lstStyle/>
                    <a:p>
                      <a:pPr algn="r"/>
                      <a:r>
                        <a:rPr sz="1050" b="0" i="0">
                          <a:solidFill>
                            <a:srgbClr val="0D3C4C"/>
                          </a:solidFill>
                          <a:latin typeface="Nanum Gothic"/>
                        </a:rPr>
                        <a:t>0.793</a:t>
                      </a:r>
                    </a:p>
                  </a:txBody>
                  <a:tcPr marT="18288" marB="18288" anchor="ctr">
                    <a:solidFill>
                      <a:srgbClr val="EEF6F9"/>
                    </a:solidFill>
                  </a:tcPr>
                </a:tc>
                <a:tc>
                  <a:txBody>
                    <a:bodyPr/>
                    <a:lstStyle/>
                    <a:p>
                      <a:pPr algn="r"/>
                      <a:r>
                        <a:rPr sz="1050" b="0" i="0">
                          <a:solidFill>
                            <a:srgbClr val="0D3C4C"/>
                          </a:solidFill>
                          <a:latin typeface="Nanum Gothic"/>
                        </a:rPr>
                        <a:t>0.785-0.800</a:t>
                      </a:r>
                    </a:p>
                  </a:txBody>
                  <a:tcPr marT="18288" marB="18288" anchor="ctr">
                    <a:solidFill>
                      <a:srgbClr val="EEF6F9"/>
                    </a:solidFill>
                  </a:tcPr>
                </a:tc>
                <a:tc>
                  <a:txBody>
                    <a:bodyPr/>
                    <a:lstStyle/>
                    <a:p>
                      <a:pPr algn="r"/>
                      <a:r>
                        <a:rPr sz="1050" b="0" i="0">
                          <a:solidFill>
                            <a:srgbClr val="0D3C4C"/>
                          </a:solidFill>
                          <a:latin typeface="Nanum Gothic"/>
                        </a:rPr>
                        <a:t>0.790</a:t>
                      </a:r>
                    </a:p>
                  </a:txBody>
                  <a:tcPr marT="18288" marB="18288" anchor="ctr">
                    <a:solidFill>
                      <a:srgbClr val="EEF6F9"/>
                    </a:solidFill>
                  </a:tcPr>
                </a:tc>
                <a:tc>
                  <a:txBody>
                    <a:bodyPr/>
                    <a:lstStyle/>
                    <a:p>
                      <a:pPr algn="r"/>
                      <a:r>
                        <a:rPr sz="1050" b="0" i="0">
                          <a:solidFill>
                            <a:srgbClr val="0D3C4C"/>
                          </a:solidFill>
                          <a:latin typeface="Nanum Gothic"/>
                        </a:rPr>
                        <a:t>72.6%</a:t>
                      </a:r>
                    </a:p>
                  </a:txBody>
                  <a:tcPr marT="18288" marB="18288" anchor="ctr">
                    <a:solidFill>
                      <a:srgbClr val="EEF6F9"/>
                    </a:solidFill>
                  </a:tcPr>
                </a:tc>
                <a:tc>
                  <a:txBody>
                    <a:bodyPr/>
                    <a:lstStyle/>
                    <a:p>
                      <a:pPr algn="r"/>
                      <a:r>
                        <a:rPr sz="1050" b="0" i="0">
                          <a:solidFill>
                            <a:srgbClr val="0D3C4C"/>
                          </a:solidFill>
                          <a:latin typeface="Nanum Gothic"/>
                        </a:rPr>
                        <a:t>66.8%</a:t>
                      </a:r>
                    </a:p>
                  </a:txBody>
                  <a:tcPr marT="18288" marB="18288" anchor="ctr">
                    <a:solidFill>
                      <a:srgbClr val="EEF6F9"/>
                    </a:solidFill>
                  </a:tcPr>
                </a:tc>
                <a:tc>
                  <a:txBody>
                    <a:bodyPr/>
                    <a:lstStyle/>
                    <a:p>
                      <a:pPr algn="r"/>
                      <a:r>
                        <a:rPr sz="1050" b="0" i="0">
                          <a:solidFill>
                            <a:srgbClr val="0D3C4C"/>
                          </a:solidFill>
                          <a:latin typeface="Nanum Gothic"/>
                        </a:rPr>
                        <a:t>78.2%</a:t>
                      </a:r>
                    </a:p>
                  </a:txBody>
                  <a:tcPr marT="18288" marB="18288" anchor="ctr">
                    <a:solidFill>
                      <a:srgbClr val="EEF6F9"/>
                    </a:solidFill>
                  </a:tcPr>
                </a:tc>
              </a:tr>
              <a:tr h="310896">
                <a:tc>
                  <a:txBody>
                    <a:bodyPr/>
                    <a:lstStyle/>
                    <a:p>
                      <a:pPr algn="l"/>
                      <a:r>
                        <a:rPr sz="1050" b="0" i="0">
                          <a:solidFill>
                            <a:srgbClr val="0D3C4C"/>
                          </a:solidFill>
                          <a:latin typeface="Nanum Gothic"/>
                        </a:rPr>
                        <a:t>Framingham form, refitted</a:t>
                      </a:r>
                    </a:p>
                  </a:txBody>
                  <a:tcPr marT="18288" marB="18288" anchor="ctr">
                    <a:solidFill>
                      <a:srgbClr val="FFFFFF"/>
                    </a:solidFill>
                  </a:tcPr>
                </a:tc>
                <a:tc>
                  <a:txBody>
                    <a:bodyPr/>
                    <a:lstStyle/>
                    <a:p>
                      <a:pPr algn="r"/>
                      <a:r>
                        <a:rPr sz="1050" b="0" i="0">
                          <a:solidFill>
                            <a:srgbClr val="0D3C4C"/>
                          </a:solidFill>
                          <a:latin typeface="Nanum Gothic"/>
                        </a:rPr>
                        <a:t>0.780</a:t>
                      </a:r>
                    </a:p>
                  </a:txBody>
                  <a:tcPr marT="18288" marB="18288" anchor="ctr">
                    <a:solidFill>
                      <a:srgbClr val="FFFFFF"/>
                    </a:solidFill>
                  </a:tcPr>
                </a:tc>
                <a:tc>
                  <a:txBody>
                    <a:bodyPr/>
                    <a:lstStyle/>
                    <a:p>
                      <a:pPr algn="r"/>
                      <a:r>
                        <a:rPr sz="1050" b="0" i="0">
                          <a:solidFill>
                            <a:srgbClr val="0D3C4C"/>
                          </a:solidFill>
                          <a:latin typeface="Nanum Gothic"/>
                        </a:rPr>
                        <a:t>0.773-0.788</a:t>
                      </a:r>
                    </a:p>
                  </a:txBody>
                  <a:tcPr marT="18288" marB="18288" anchor="ctr">
                    <a:solidFill>
                      <a:srgbClr val="FFFFFF"/>
                    </a:solidFill>
                  </a:tcPr>
                </a:tc>
                <a:tc>
                  <a:txBody>
                    <a:bodyPr/>
                    <a:lstStyle/>
                    <a:p>
                      <a:pPr algn="r"/>
                      <a:r>
                        <a:rPr sz="1050" b="0" i="0">
                          <a:solidFill>
                            <a:srgbClr val="0D3C4C"/>
                          </a:solidFill>
                          <a:latin typeface="Nanum Gothic"/>
                        </a:rPr>
                        <a:t>0.780</a:t>
                      </a:r>
                    </a:p>
                  </a:txBody>
                  <a:tcPr marT="18288" marB="18288" anchor="ctr">
                    <a:solidFill>
                      <a:srgbClr val="FFFFFF"/>
                    </a:solidFill>
                  </a:tcPr>
                </a:tc>
                <a:tc>
                  <a:txBody>
                    <a:bodyPr/>
                    <a:lstStyle/>
                    <a:p>
                      <a:pPr algn="r"/>
                      <a:r>
                        <a:rPr sz="1050" b="0" i="0">
                          <a:solidFill>
                            <a:srgbClr val="0D3C4C"/>
                          </a:solidFill>
                          <a:latin typeface="Nanum Gothic"/>
                        </a:rPr>
                        <a:t>71.4%</a:t>
                      </a:r>
                    </a:p>
                  </a:txBody>
                  <a:tcPr marT="18288" marB="18288" anchor="ctr">
                    <a:solidFill>
                      <a:srgbClr val="FFFFFF"/>
                    </a:solidFill>
                  </a:tcPr>
                </a:tc>
                <a:tc>
                  <a:txBody>
                    <a:bodyPr/>
                    <a:lstStyle/>
                    <a:p>
                      <a:pPr algn="r"/>
                      <a:r>
                        <a:rPr sz="1050" b="0" i="0">
                          <a:solidFill>
                            <a:srgbClr val="0D3C4C"/>
                          </a:solidFill>
                          <a:latin typeface="Nanum Gothic"/>
                        </a:rPr>
                        <a:t>66.3%</a:t>
                      </a:r>
                    </a:p>
                  </a:txBody>
                  <a:tcPr marT="18288" marB="18288" anchor="ctr">
                    <a:solidFill>
                      <a:srgbClr val="FFFFFF"/>
                    </a:solidFill>
                  </a:tcPr>
                </a:tc>
                <a:tc>
                  <a:txBody>
                    <a:bodyPr/>
                    <a:lstStyle/>
                    <a:p>
                      <a:pPr algn="r"/>
                      <a:r>
                        <a:rPr sz="1050" b="0" i="0">
                          <a:solidFill>
                            <a:srgbClr val="0D3C4C"/>
                          </a:solidFill>
                          <a:latin typeface="Nanum Gothic"/>
                        </a:rPr>
                        <a:t>76.3%</a:t>
                      </a:r>
                    </a:p>
                  </a:txBody>
                  <a:tcPr marT="18288" marB="18288" anchor="ctr">
                    <a:solidFill>
                      <a:srgbClr val="FFFFFF"/>
                    </a:solidFill>
                  </a:tcPr>
                </a:tc>
              </a:tr>
              <a:tr h="310896">
                <a:tc>
                  <a:txBody>
                    <a:bodyPr/>
                    <a:lstStyle/>
                    <a:p>
                      <a:pPr algn="l"/>
                      <a:r>
                        <a:rPr sz="1050" b="0" i="0">
                          <a:solidFill>
                            <a:srgbClr val="0D3C4C"/>
                          </a:solidFill>
                          <a:latin typeface="Nanum Gothic"/>
                        </a:rPr>
                        <a:t>Systolic pressure alone</a:t>
                      </a:r>
                    </a:p>
                  </a:txBody>
                  <a:tcPr marT="18288" marB="18288" anchor="ctr">
                    <a:solidFill>
                      <a:srgbClr val="EEF6F9"/>
                    </a:solidFill>
                  </a:tcPr>
                </a:tc>
                <a:tc>
                  <a:txBody>
                    <a:bodyPr/>
                    <a:lstStyle/>
                    <a:p>
                      <a:pPr algn="r"/>
                      <a:r>
                        <a:rPr sz="1050" b="0" i="0">
                          <a:solidFill>
                            <a:srgbClr val="0D3C4C"/>
                          </a:solidFill>
                          <a:latin typeface="Nanum Gothic"/>
                        </a:rPr>
                        <a:t>0.754</a:t>
                      </a:r>
                    </a:p>
                  </a:txBody>
                  <a:tcPr marT="18288" marB="18288" anchor="ctr">
                    <a:solidFill>
                      <a:srgbClr val="EEF6F9"/>
                    </a:solidFill>
                  </a:tcPr>
                </a:tc>
                <a:tc>
                  <a:txBody>
                    <a:bodyPr/>
                    <a:lstStyle/>
                    <a:p>
                      <a:pPr algn="r"/>
                      <a:r>
                        <a:rPr sz="1050" b="0" i="0">
                          <a:solidFill>
                            <a:srgbClr val="0D3C4C"/>
                          </a:solidFill>
                          <a:latin typeface="Nanum Gothic"/>
                        </a:rPr>
                        <a:t>0.746-0.761</a:t>
                      </a:r>
                    </a:p>
                  </a:txBody>
                  <a:tcPr marT="18288" marB="18288" anchor="ctr">
                    <a:solidFill>
                      <a:srgbClr val="EEF6F9"/>
                    </a:solidFill>
                  </a:tcPr>
                </a:tc>
                <a:tc>
                  <a:txBody>
                    <a:bodyPr/>
                    <a:lstStyle/>
                    <a:p>
                      <a:pPr algn="r"/>
                      <a:r>
                        <a:rPr sz="1050" b="0" i="0">
                          <a:solidFill>
                            <a:srgbClr val="0D3C4C"/>
                          </a:solidFill>
                          <a:latin typeface="Nanum Gothic"/>
                        </a:rPr>
                        <a:t>0.751</a:t>
                      </a:r>
                    </a:p>
                  </a:txBody>
                  <a:tcPr marT="18288" marB="18288" anchor="ctr">
                    <a:solidFill>
                      <a:srgbClr val="EEF6F9"/>
                    </a:solidFill>
                  </a:tcPr>
                </a:tc>
                <a:tc>
                  <a:txBody>
                    <a:bodyPr/>
                    <a:lstStyle/>
                    <a:p>
                      <a:pPr algn="r"/>
                      <a:r>
                        <a:rPr sz="1050" b="0" i="0">
                          <a:solidFill>
                            <a:srgbClr val="0D3C4C"/>
                          </a:solidFill>
                          <a:latin typeface="Nanum Gothic"/>
                        </a:rPr>
                        <a:t>71.3%</a:t>
                      </a:r>
                    </a:p>
                  </a:txBody>
                  <a:tcPr marT="18288" marB="18288" anchor="ctr">
                    <a:solidFill>
                      <a:srgbClr val="EEF6F9"/>
                    </a:solidFill>
                  </a:tcPr>
                </a:tc>
                <a:tc>
                  <a:txBody>
                    <a:bodyPr/>
                    <a:lstStyle/>
                    <a:p>
                      <a:pPr algn="r"/>
                      <a:r>
                        <a:rPr sz="1050" b="0" i="0">
                          <a:solidFill>
                            <a:srgbClr val="0D3C4C"/>
                          </a:solidFill>
                          <a:latin typeface="Nanum Gothic"/>
                        </a:rPr>
                        <a:t>61.8%</a:t>
                      </a:r>
                    </a:p>
                  </a:txBody>
                  <a:tcPr marT="18288" marB="18288" anchor="ctr">
                    <a:solidFill>
                      <a:srgbClr val="EEF6F9"/>
                    </a:solidFill>
                  </a:tcPr>
                </a:tc>
                <a:tc>
                  <a:txBody>
                    <a:bodyPr/>
                    <a:lstStyle/>
                    <a:p>
                      <a:pPr algn="r"/>
                      <a:r>
                        <a:rPr sz="1050" b="0" i="0">
                          <a:solidFill>
                            <a:srgbClr val="0D3C4C"/>
                          </a:solidFill>
                          <a:latin typeface="Nanum Gothic"/>
                        </a:rPr>
                        <a:t>80.6%</a:t>
                      </a:r>
                    </a:p>
                  </a:txBody>
                  <a:tcPr marT="18288" marB="18288" anchor="ctr">
                    <a:solidFill>
                      <a:srgbClr val="EEF6F9"/>
                    </a:solidFill>
                  </a:tcPr>
                </a:tc>
              </a:tr>
              <a:tr h="310896">
                <a:tc>
                  <a:txBody>
                    <a:bodyPr/>
                    <a:lstStyle/>
                    <a:p>
                      <a:pPr algn="l"/>
                      <a:r>
                        <a:rPr sz="1050" b="0" i="0">
                          <a:solidFill>
                            <a:srgbClr val="0D3C4C"/>
                          </a:solidFill>
                          <a:latin typeface="Nanum Gothic"/>
                        </a:rPr>
                        <a:t>Rule: systolic ≥ 130 mmHg</a:t>
                      </a:r>
                    </a:p>
                  </a:txBody>
                  <a:tcPr marT="18288" marB="18288" anchor="ctr">
                    <a:solidFill>
                      <a:srgbClr val="FFFFFF"/>
                    </a:solidFill>
                  </a:tcPr>
                </a:tc>
                <a:tc>
                  <a:txBody>
                    <a:bodyPr/>
                    <a:lstStyle/>
                    <a:p>
                      <a:pPr algn="r"/>
                      <a:r>
                        <a:rPr sz="1050" b="0" i="0">
                          <a:solidFill>
                            <a:srgbClr val="0D3C4C"/>
                          </a:solidFill>
                          <a:latin typeface="Nanum Gothic"/>
                        </a:rPr>
                        <a:t>0.712</a:t>
                      </a:r>
                    </a:p>
                  </a:txBody>
                  <a:tcPr marT="18288" marB="18288" anchor="ctr">
                    <a:solidFill>
                      <a:srgbClr val="FFFFFF"/>
                    </a:solidFill>
                  </a:tcPr>
                </a:tc>
                <a:tc>
                  <a:txBody>
                    <a:bodyPr/>
                    <a:lstStyle/>
                    <a:p>
                      <a:pPr algn="r"/>
                      <a:r>
                        <a:rPr sz="1050" b="0" i="0">
                          <a:solidFill>
                            <a:srgbClr val="0D3C4C"/>
                          </a:solidFill>
                          <a:latin typeface="Nanum Gothic"/>
                        </a:rPr>
                        <a:t>0.704-0.719</a:t>
                      </a:r>
                    </a:p>
                  </a:txBody>
                  <a:tcPr marT="18288" marB="18288" anchor="ctr">
                    <a:solidFill>
                      <a:srgbClr val="FFFFFF"/>
                    </a:solidFill>
                  </a:tcPr>
                </a:tc>
                <a:tc>
                  <a:txBody>
                    <a:bodyPr/>
                    <a:lstStyle/>
                    <a:p>
                      <a:pPr algn="r"/>
                      <a:r>
                        <a:rPr sz="1050" b="0" i="0">
                          <a:solidFill>
                            <a:srgbClr val="0D3C4C"/>
                          </a:solidFill>
                          <a:latin typeface="Nanum Gothic"/>
                        </a:rPr>
                        <a:t>0.712</a:t>
                      </a:r>
                    </a:p>
                  </a:txBody>
                  <a:tcPr marT="18288" marB="18288" anchor="ctr">
                    <a:solidFill>
                      <a:srgbClr val="FFFFFF"/>
                    </a:solidFill>
                  </a:tcPr>
                </a:tc>
                <a:tc>
                  <a:txBody>
                    <a:bodyPr/>
                    <a:lstStyle/>
                    <a:p>
                      <a:pPr algn="r"/>
                      <a:r>
                        <a:rPr sz="1050" b="0" i="0">
                          <a:solidFill>
                            <a:srgbClr val="0D3C4C"/>
                          </a:solidFill>
                          <a:latin typeface="Nanum Gothic"/>
                        </a:rPr>
                        <a:t>71.3%</a:t>
                      </a:r>
                    </a:p>
                  </a:txBody>
                  <a:tcPr marT="18288" marB="18288" anchor="ctr">
                    <a:solidFill>
                      <a:srgbClr val="FFFFFF"/>
                    </a:solidFill>
                  </a:tcPr>
                </a:tc>
                <a:tc>
                  <a:txBody>
                    <a:bodyPr/>
                    <a:lstStyle/>
                    <a:p>
                      <a:pPr algn="r"/>
                      <a:r>
                        <a:rPr sz="1050" b="0" i="0">
                          <a:solidFill>
                            <a:srgbClr val="0D3C4C"/>
                          </a:solidFill>
                          <a:latin typeface="Nanum Gothic"/>
                        </a:rPr>
                        <a:t>61.8%</a:t>
                      </a:r>
                    </a:p>
                  </a:txBody>
                  <a:tcPr marT="18288" marB="18288" anchor="ctr">
                    <a:solidFill>
                      <a:srgbClr val="FFFFFF"/>
                    </a:solidFill>
                  </a:tcPr>
                </a:tc>
                <a:tc>
                  <a:txBody>
                    <a:bodyPr/>
                    <a:lstStyle/>
                    <a:p>
                      <a:pPr algn="r"/>
                      <a:r>
                        <a:rPr sz="1050" b="0" i="0">
                          <a:solidFill>
                            <a:srgbClr val="0D3C4C"/>
                          </a:solidFill>
                          <a:latin typeface="Nanum Gothic"/>
                        </a:rPr>
                        <a:t>80.6%</a:t>
                      </a:r>
                    </a:p>
                  </a:txBody>
                  <a:tcPr marT="18288" marB="18288" anchor="ctr">
                    <a:solidFill>
                      <a:srgbClr val="FFFFFF"/>
                    </a:solidFill>
                  </a:tcPr>
                </a:tc>
              </a:tr>
              <a:tr h="310896">
                <a:tc>
                  <a:txBody>
                    <a:bodyPr/>
                    <a:lstStyle/>
                    <a:p>
                      <a:pPr algn="l"/>
                      <a:r>
                        <a:rPr sz="1050" b="0" i="0">
                          <a:solidFill>
                            <a:srgbClr val="0D3C4C"/>
                          </a:solidFill>
                          <a:latin typeface="Nanum Gothic"/>
                        </a:rPr>
                        <a:t>Framingham, as published</a:t>
                      </a:r>
                    </a:p>
                  </a:txBody>
                  <a:tcPr marT="18288" marB="18288" anchor="ctr">
                    <a:solidFill>
                      <a:srgbClr val="EEF6F9"/>
                    </a:solidFill>
                  </a:tcPr>
                </a:tc>
                <a:tc>
                  <a:txBody>
                    <a:bodyPr/>
                    <a:lstStyle/>
                    <a:p>
                      <a:pPr algn="r"/>
                      <a:r>
                        <a:rPr sz="1050" b="0" i="0">
                          <a:solidFill>
                            <a:srgbClr val="0D3C4C"/>
                          </a:solidFill>
                          <a:latin typeface="Nanum Gothic"/>
                        </a:rPr>
                        <a:t>0.693</a:t>
                      </a:r>
                    </a:p>
                  </a:txBody>
                  <a:tcPr marT="18288" marB="18288" anchor="ctr">
                    <a:solidFill>
                      <a:srgbClr val="EEF6F9"/>
                    </a:solidFill>
                  </a:tcPr>
                </a:tc>
                <a:tc>
                  <a:txBody>
                    <a:bodyPr/>
                    <a:lstStyle/>
                    <a:p>
                      <a:pPr algn="r"/>
                      <a:r>
                        <a:rPr sz="1050" b="0" i="0">
                          <a:solidFill>
                            <a:srgbClr val="0D3C4C"/>
                          </a:solidFill>
                          <a:latin typeface="Nanum Gothic"/>
                        </a:rPr>
                        <a:t>0.684-0.701</a:t>
                      </a:r>
                    </a:p>
                  </a:txBody>
                  <a:tcPr marT="18288" marB="18288" anchor="ctr">
                    <a:solidFill>
                      <a:srgbClr val="EEF6F9"/>
                    </a:solidFill>
                  </a:tcPr>
                </a:tc>
                <a:tc>
                  <a:txBody>
                    <a:bodyPr/>
                    <a:lstStyle/>
                    <a:p>
                      <a:pPr algn="r"/>
                      <a:r>
                        <a:rPr sz="1050" b="0" i="0">
                          <a:solidFill>
                            <a:srgbClr val="0D3C4C"/>
                          </a:solidFill>
                          <a:latin typeface="Nanum Gothic"/>
                        </a:rPr>
                        <a:t>0.696</a:t>
                      </a:r>
                    </a:p>
                  </a:txBody>
                  <a:tcPr marT="18288" marB="18288" anchor="ctr">
                    <a:solidFill>
                      <a:srgbClr val="EEF6F9"/>
                    </a:solidFill>
                  </a:tcPr>
                </a:tc>
                <a:tc>
                  <a:txBody>
                    <a:bodyPr/>
                    <a:lstStyle/>
                    <a:p>
                      <a:pPr algn="r"/>
                      <a:r>
                        <a:rPr sz="1050" b="0" i="0">
                          <a:solidFill>
                            <a:srgbClr val="0D3C4C"/>
                          </a:solidFill>
                          <a:latin typeface="Nanum Gothic"/>
                        </a:rPr>
                        <a:t>64.6%</a:t>
                      </a:r>
                    </a:p>
                  </a:txBody>
                  <a:tcPr marT="18288" marB="18288" anchor="ctr">
                    <a:solidFill>
                      <a:srgbClr val="EEF6F9"/>
                    </a:solidFill>
                  </a:tcPr>
                </a:tc>
                <a:tc>
                  <a:txBody>
                    <a:bodyPr/>
                    <a:lstStyle/>
                    <a:p>
                      <a:pPr algn="r"/>
                      <a:r>
                        <a:rPr sz="1050" b="0" i="0">
                          <a:solidFill>
                            <a:srgbClr val="0D3C4C"/>
                          </a:solidFill>
                          <a:latin typeface="Nanum Gothic"/>
                        </a:rPr>
                        <a:t>74.0%</a:t>
                      </a:r>
                    </a:p>
                  </a:txBody>
                  <a:tcPr marT="18288" marB="18288" anchor="ctr">
                    <a:solidFill>
                      <a:srgbClr val="EEF6F9"/>
                    </a:solidFill>
                  </a:tcPr>
                </a:tc>
                <a:tc>
                  <a:txBody>
                    <a:bodyPr/>
                    <a:lstStyle/>
                    <a:p>
                      <a:pPr algn="r"/>
                      <a:r>
                        <a:rPr sz="1050" b="0" i="0">
                          <a:solidFill>
                            <a:srgbClr val="0D3C4C"/>
                          </a:solidFill>
                          <a:latin typeface="Nanum Gothic"/>
                        </a:rPr>
                        <a:t>55.5%</a:t>
                      </a:r>
                    </a:p>
                  </a:txBody>
                  <a:tcPr marT="18288" marB="18288" anchor="ctr">
                    <a:solidFill>
                      <a:srgbClr val="EEF6F9"/>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cleaning strategies</a:t>
            </a:r>
          </a:p>
        </p:txBody>
      </p:sp>
      <p:graphicFrame>
        <p:nvGraphicFramePr>
          <p:cNvPr id="3" name="Table 2"/>
          <p:cNvGraphicFramePr>
            <a:graphicFrameLocks noGrp="1"/>
          </p:cNvGraphicFramePr>
          <p:nvPr/>
        </p:nvGraphicFramePr>
        <p:xfrm>
          <a:off x="722376" y="1188720"/>
          <a:ext cx="7708392" cy="1536192"/>
        </p:xfrm>
        <a:graphic>
          <a:graphicData uri="http://schemas.openxmlformats.org/drawingml/2006/table">
            <a:tbl>
              <a:tblPr firstRow="1" bandRow="1">
                <a:tableStyleId>{5C22544A-7EE6-4342-B048-85BDC9FD1C3A}</a:tableStyleId>
              </a:tblPr>
              <a:tblGrid>
                <a:gridCol w="3063240"/>
                <a:gridCol w="1417320"/>
                <a:gridCol w="868680"/>
                <a:gridCol w="1508760"/>
                <a:gridCol w="850392"/>
              </a:tblGrid>
              <a:tr h="384048">
                <a:tc>
                  <a:txBody>
                    <a:bodyPr/>
                    <a:lstStyle/>
                    <a:p>
                      <a:pPr algn="l"/>
                      <a:r>
                        <a:rPr sz="1100" b="1" i="0">
                          <a:solidFill>
                            <a:srgbClr val="FFFFFF"/>
                          </a:solidFill>
                          <a:latin typeface="Cabin"/>
                        </a:rPr>
                        <a:t>Trained on</a:t>
                      </a:r>
                    </a:p>
                  </a:txBody>
                  <a:tcPr marT="18288" marB="18288" anchor="ctr">
                    <a:solidFill>
                      <a:srgbClr val="0D3C4C"/>
                    </a:solidFill>
                  </a:tcPr>
                </a:tc>
                <a:tc>
                  <a:txBody>
                    <a:bodyPr/>
                    <a:lstStyle/>
                    <a:p>
                      <a:pPr algn="r"/>
                      <a:r>
                        <a:rPr sz="1100" b="1" i="0">
                          <a:solidFill>
                            <a:srgbClr val="FFFFFF"/>
                          </a:solidFill>
                          <a:latin typeface="Cabin"/>
                        </a:rPr>
                        <a:t>Gradient boosting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c>
                  <a:txBody>
                    <a:bodyPr/>
                    <a:lstStyle/>
                    <a:p>
                      <a:pPr algn="r"/>
                      <a:r>
                        <a:rPr sz="1100" b="1" i="0">
                          <a:solidFill>
                            <a:srgbClr val="FFFFFF"/>
                          </a:solidFill>
                          <a:latin typeface="Cabin"/>
                        </a:rPr>
                        <a:t>Logistic regression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r>
              <a:tr h="384048">
                <a:tc>
                  <a:txBody>
                    <a:bodyPr/>
                    <a:lstStyle/>
                    <a:p>
                      <a:pPr algn="l"/>
                      <a:r>
                        <a:rPr sz="1100" b="0" i="0">
                          <a:solidFill>
                            <a:srgbClr val="0D3C4C"/>
                          </a:solidFill>
                          <a:latin typeface="Nanum Gothic"/>
                        </a:rPr>
                        <a:t>Raw data (69,976 records)</a:t>
                      </a:r>
                    </a:p>
                  </a:txBody>
                  <a:tcPr marT="18288" marB="18288" anchor="ctr">
                    <a:solidFill>
                      <a:srgbClr val="EEF6F9"/>
                    </a:solidFill>
                  </a:tcPr>
                </a:tc>
                <a:tc>
                  <a:txBody>
                    <a:bodyPr/>
                    <a:lstStyle/>
                    <a:p>
                      <a:pPr algn="r"/>
                      <a:r>
                        <a:rPr sz="1100" b="0" i="0">
                          <a:solidFill>
                            <a:srgbClr val="0D3C4C"/>
                          </a:solidFill>
                          <a:latin typeface="Nanum Gothic"/>
                        </a:rPr>
                        <a:t>0.804</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0.776</a:t>
                      </a:r>
                    </a:p>
                  </a:txBody>
                  <a:tcPr marT="18288" marB="18288" anchor="ctr">
                    <a:solidFill>
                      <a:srgbClr val="EEF6F9"/>
                    </a:solidFill>
                  </a:tcPr>
                </a:tc>
                <a:tc>
                  <a:txBody>
                    <a:bodyPr/>
                    <a:lstStyle/>
                    <a:p>
                      <a:pPr algn="r"/>
                      <a:r>
                        <a:rPr sz="1100" b="0" i="0">
                          <a:solidFill>
                            <a:srgbClr val="0D3C4C"/>
                          </a:solidFill>
                          <a:latin typeface="Nanum Gothic"/>
                        </a:rPr>
                        <a:t>71.8%</a:t>
                      </a:r>
                    </a:p>
                  </a:txBody>
                  <a:tcPr marT="18288" marB="18288" anchor="ctr">
                    <a:solidFill>
                      <a:srgbClr val="EEF6F9"/>
                    </a:solidFill>
                  </a:tcPr>
                </a:tc>
              </a:tr>
              <a:tr h="384048">
                <a:tc>
                  <a:txBody>
                    <a:bodyPr/>
                    <a:lstStyle/>
                    <a:p>
                      <a:pPr algn="l"/>
                      <a:r>
                        <a:rPr sz="1100" b="0" i="0">
                          <a:solidFill>
                            <a:srgbClr val="0D3C4C"/>
                          </a:solidFill>
                          <a:latin typeface="Nanum Gothic"/>
                        </a:rPr>
                        <a:t>Implausible records dropped (68,581)</a:t>
                      </a:r>
                    </a:p>
                  </a:txBody>
                  <a:tcPr marT="18288" marB="18288" anchor="ctr">
                    <a:solidFill>
                      <a:srgbClr val="FFFFFF"/>
                    </a:solidFill>
                  </a:tcPr>
                </a:tc>
                <a:tc>
                  <a:txBody>
                    <a:bodyPr/>
                    <a:lstStyle/>
                    <a:p>
                      <a:pPr algn="r"/>
                      <a:r>
                        <a:rPr sz="1100" b="0" i="0">
                          <a:solidFill>
                            <a:srgbClr val="0D3C4C"/>
                          </a:solidFill>
                          <a:latin typeface="Nanum Gothic"/>
                        </a:rPr>
                        <a:t>0.804</a:t>
                      </a:r>
                    </a:p>
                  </a:txBody>
                  <a:tcPr marT="18288" marB="18288" anchor="ctr">
                    <a:solidFill>
                      <a:srgbClr val="FFFFFF"/>
                    </a:solidFill>
                  </a:tcPr>
                </a:tc>
                <a:tc>
                  <a:txBody>
                    <a:bodyPr/>
                    <a:lstStyle/>
                    <a:p>
                      <a:pPr algn="r"/>
                      <a:r>
                        <a:rPr sz="1100" b="0" i="0">
                          <a:solidFill>
                            <a:srgbClr val="0D3C4C"/>
                          </a:solidFill>
                          <a:latin typeface="Nanum Gothic"/>
                        </a:rPr>
                        <a:t>73.6%</a:t>
                      </a:r>
                    </a:p>
                  </a:txBody>
                  <a:tcPr marT="18288" marB="18288" anchor="ctr">
                    <a:solidFill>
                      <a:srgbClr val="FFFFFF"/>
                    </a:solidFill>
                  </a:tcPr>
                </a:tc>
                <a:tc>
                  <a:txBody>
                    <a:bodyPr/>
                    <a:lstStyle/>
                    <a:p>
                      <a:pPr algn="r"/>
                      <a:r>
                        <a:rPr sz="1100" b="0" i="0">
                          <a:solidFill>
                            <a:srgbClr val="0D3C4C"/>
                          </a:solidFill>
                          <a:latin typeface="Nanum Gothic"/>
                        </a:rPr>
                        <a:t>0.793</a:t>
                      </a:r>
                    </a:p>
                  </a:txBody>
                  <a:tcPr marT="18288" marB="18288" anchor="ctr">
                    <a:solidFill>
                      <a:srgbClr val="FFFFFF"/>
                    </a:solidFill>
                  </a:tcPr>
                </a:tc>
                <a:tc>
                  <a:txBody>
                    <a:bodyPr/>
                    <a:lstStyle/>
                    <a:p>
                      <a:pPr algn="r"/>
                      <a:r>
                        <a:rPr sz="1100" b="0" i="0">
                          <a:solidFill>
                            <a:srgbClr val="0D3C4C"/>
                          </a:solidFill>
                          <a:latin typeface="Nanum Gothic"/>
                        </a:rPr>
                        <a:t>72.6%</a:t>
                      </a:r>
                    </a:p>
                  </a:txBody>
                  <a:tcPr marT="18288" marB="18288" anchor="ctr">
                    <a:solidFill>
                      <a:srgbClr val="FFFFFF"/>
                    </a:solidFill>
                  </a:tcPr>
                </a:tc>
              </a:tr>
              <a:tr h="384048">
                <a:tc>
                  <a:txBody>
                    <a:bodyPr/>
                    <a:lstStyle/>
                    <a:p>
                      <a:pPr algn="l"/>
                      <a:r>
                        <a:rPr sz="1100" b="0" i="0">
                          <a:solidFill>
                            <a:srgbClr val="0D3C4C"/>
                          </a:solidFill>
                          <a:latin typeface="Nanum Gothic"/>
                        </a:rPr>
                        <a:t>Entry errors repaired (69,838)</a:t>
                      </a:r>
                    </a:p>
                  </a:txBody>
                  <a:tcPr marT="18288" marB="18288" anchor="ctr">
                    <a:solidFill>
                      <a:srgbClr val="EEF6F9"/>
                    </a:solidFill>
                  </a:tcPr>
                </a:tc>
                <a:tc>
                  <a:txBody>
                    <a:bodyPr/>
                    <a:lstStyle/>
                    <a:p>
                      <a:pPr algn="r"/>
                      <a:r>
                        <a:rPr sz="1100" b="0" i="0">
                          <a:solidFill>
                            <a:srgbClr val="0D3C4C"/>
                          </a:solidFill>
                          <a:latin typeface="Nanum Gothic"/>
                        </a:rPr>
                        <a:t>0.805</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0.793</a:t>
                      </a:r>
                    </a:p>
                  </a:txBody>
                  <a:tcPr marT="18288" marB="18288" anchor="ctr">
                    <a:solidFill>
                      <a:srgbClr val="EEF6F9"/>
                    </a:solidFill>
                  </a:tcPr>
                </a:tc>
                <a:tc>
                  <a:txBody>
                    <a:bodyPr/>
                    <a:lstStyle/>
                    <a:p>
                      <a:pPr algn="r"/>
                      <a:r>
                        <a:rPr sz="1100" b="0" i="0">
                          <a:solidFill>
                            <a:srgbClr val="0D3C4C"/>
                          </a:solidFill>
                          <a:latin typeface="Nanum Gothic"/>
                        </a:rPr>
                        <a:t>72.6%</a:t>
                      </a:r>
                    </a:p>
                  </a:txBody>
                  <a:tcPr marT="18288" marB="18288" anchor="ctr">
                    <a:solidFill>
                      <a:srgbClr val="EEF6F9"/>
                    </a:solidFill>
                  </a:tcPr>
                </a:tc>
              </a:tr>
            </a:tbl>
          </a:graphicData>
        </a:graphic>
      </p:graphicFrame>
      <p:sp>
        <p:nvSpPr>
          <p:cNvPr id="4" name="TextBox 3"/>
          <p:cNvSpPr txBox="1"/>
          <p:nvPr/>
        </p:nvSpPr>
        <p:spPr>
          <a:xfrm>
            <a:off x="722376" y="2971800"/>
            <a:ext cx="7708392" cy="1371600"/>
          </a:xfrm>
          <a:prstGeom prst="rect">
            <a:avLst/>
          </a:prstGeom>
          <a:noFill/>
        </p:spPr>
        <p:txBody>
          <a:bodyPr wrap="square" anchor="t" lIns="0" rIns="0" tIns="0" bIns="0">
            <a:spAutoFit/>
          </a:bodyPr>
          <a:lstStyle/>
          <a:p>
            <a:pPr algn="l"/>
            <a:r>
              <a:rPr sz="1200" b="0" i="0">
                <a:solidFill>
                  <a:srgbClr val="0D3C4C"/>
                </a:solidFill>
                <a:latin typeface="Nanum Gothic"/>
              </a:rPr>
              <a:t>All six models are scored on the same test patients, those whose records pass every check.</a:t>
            </a:r>
          </a:p>
          <a:p>
            <a:pPr algn="l">
              <a:spcBef>
                <a:spcPts val="800"/>
              </a:spcBef>
            </a:pPr>
            <a:r>
              <a:rPr sz="1200" b="0" i="0">
                <a:solidFill>
                  <a:srgbClr val="0D3C4C"/>
                </a:solidFill>
                <a:latin typeface="Nanum Gothic"/>
              </a:rPr>
              <a:t>Trees split on the order of values, so absurd readings simply land in the top branch. A straight-line model is pulled by them: its blood-pressure coefficient shrinks towards zero.</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who the model serves well</a:t>
            </a:r>
          </a:p>
        </p:txBody>
      </p:sp>
      <p:graphicFrame>
        <p:nvGraphicFramePr>
          <p:cNvPr id="3" name="Table 2"/>
          <p:cNvGraphicFramePr>
            <a:graphicFrameLocks noGrp="1"/>
          </p:cNvGraphicFramePr>
          <p:nvPr/>
        </p:nvGraphicFramePr>
        <p:xfrm>
          <a:off x="722376" y="1188720"/>
          <a:ext cx="7708392" cy="2432304"/>
        </p:xfrm>
        <a:graphic>
          <a:graphicData uri="http://schemas.openxmlformats.org/drawingml/2006/table">
            <a:tbl>
              <a:tblPr firstRow="1" bandRow="1">
                <a:tableStyleId>{5C22544A-7EE6-4342-B048-85BDC9FD1C3A}</a:tableStyleId>
              </a:tblPr>
              <a:tblGrid>
                <a:gridCol w="1828800"/>
                <a:gridCol w="914400"/>
                <a:gridCol w="1188720"/>
                <a:gridCol w="1188720"/>
                <a:gridCol w="777240"/>
                <a:gridCol w="914400"/>
                <a:gridCol w="896112"/>
              </a:tblGrid>
              <a:tr h="347472">
                <a:tc>
                  <a:txBody>
                    <a:bodyPr/>
                    <a:lstStyle/>
                    <a:p>
                      <a:pPr algn="l"/>
                      <a:r>
                        <a:rPr sz="1100" b="1" i="0">
                          <a:solidFill>
                            <a:srgbClr val="FFFFFF"/>
                          </a:solidFill>
                          <a:latin typeface="Cabin"/>
                        </a:rPr>
                        <a:t>Group</a:t>
                      </a:r>
                    </a:p>
                  </a:txBody>
                  <a:tcPr marT="18288" marB="18288" anchor="ctr">
                    <a:solidFill>
                      <a:srgbClr val="0D3C4C"/>
                    </a:solidFill>
                  </a:tcPr>
                </a:tc>
                <a:tc>
                  <a:txBody>
                    <a:bodyPr/>
                    <a:lstStyle/>
                    <a:p>
                      <a:pPr algn="r"/>
                      <a:r>
                        <a:rPr sz="1100" b="1" i="0">
                          <a:solidFill>
                            <a:srgbClr val="FFFFFF"/>
                          </a:solidFill>
                          <a:latin typeface="Cabin"/>
                        </a:rPr>
                        <a:t>Patients</a:t>
                      </a:r>
                    </a:p>
                  </a:txBody>
                  <a:tcPr marT="18288" marB="18288" anchor="ctr">
                    <a:solidFill>
                      <a:srgbClr val="0D3C4C"/>
                    </a:solidFill>
                  </a:tcPr>
                </a:tc>
                <a:tc>
                  <a:txBody>
                    <a:bodyPr/>
                    <a:lstStyle/>
                    <a:p>
                      <a:pPr algn="r"/>
                      <a:r>
                        <a:rPr sz="1100" b="1" i="0">
                          <a:solidFill>
                            <a:srgbClr val="FFFFFF"/>
                          </a:solidFill>
                          <a:latin typeface="Cabin"/>
                        </a:rPr>
                        <a:t>Share with CVD</a:t>
                      </a:r>
                    </a:p>
                  </a:txBody>
                  <a:tcPr marT="18288" marB="18288" anchor="ctr">
                    <a:solidFill>
                      <a:srgbClr val="0D3C4C"/>
                    </a:solidFill>
                  </a:tcPr>
                </a:tc>
                <a:tc>
                  <a:txBody>
                    <a:bodyPr/>
                    <a:lstStyle/>
                    <a:p>
                      <a:pPr algn="r"/>
                      <a:r>
                        <a:rPr sz="1100" b="1" i="0">
                          <a:solidFill>
                            <a:srgbClr val="FFFFFF"/>
                          </a:solidFill>
                          <a:latin typeface="Cabin"/>
                        </a:rPr>
                        <a:t>Mean predicted</a:t>
                      </a:r>
                    </a:p>
                  </a:txBody>
                  <a:tcPr marT="18288" marB="18288" anchor="ctr">
                    <a:solidFill>
                      <a:srgbClr val="0D3C4C"/>
                    </a:solidFill>
                  </a:tcPr>
                </a:tc>
                <a:tc>
                  <a:txBody>
                    <a:bodyPr/>
                    <a:lstStyle/>
                    <a:p>
                      <a:pPr algn="r"/>
                      <a:r>
                        <a:rPr sz="1100" b="1" i="0">
                          <a:solidFill>
                            <a:srgbClr val="FFFFFF"/>
                          </a:solidFill>
                          <a:latin typeface="Cabin"/>
                        </a:rPr>
                        <a:t>AUC</a:t>
                      </a:r>
                    </a:p>
                  </a:txBody>
                  <a:tcPr marT="18288" marB="18288" anchor="ctr">
                    <a:solidFill>
                      <a:srgbClr val="0D3C4C"/>
                    </a:solidFill>
                  </a:tcPr>
                </a:tc>
                <a:tc>
                  <a:txBody>
                    <a:bodyPr/>
                    <a:lstStyle/>
                    <a:p>
                      <a:pPr algn="r"/>
                      <a:r>
                        <a:rPr sz="1100" b="1" i="0">
                          <a:solidFill>
                            <a:srgbClr val="FFFFFF"/>
                          </a:solidFill>
                          <a:latin typeface="Cabin"/>
                        </a:rPr>
                        <a:t>Sensitivity</a:t>
                      </a:r>
                    </a:p>
                  </a:txBody>
                  <a:tcPr marT="18288" marB="18288" anchor="ctr">
                    <a:solidFill>
                      <a:srgbClr val="0D3C4C"/>
                    </a:solidFill>
                  </a:tcPr>
                </a:tc>
                <a:tc>
                  <a:txBody>
                    <a:bodyPr/>
                    <a:lstStyle/>
                    <a:p>
                      <a:pPr algn="r"/>
                      <a:r>
                        <a:rPr sz="1100" b="1" i="0">
                          <a:solidFill>
                            <a:srgbClr val="FFFFFF"/>
                          </a:solidFill>
                          <a:latin typeface="Cabin"/>
                        </a:rPr>
                        <a:t>Specificity</a:t>
                      </a:r>
                    </a:p>
                  </a:txBody>
                  <a:tcPr marT="18288" marB="18288" anchor="ctr">
                    <a:solidFill>
                      <a:srgbClr val="0D3C4C"/>
                    </a:solidFill>
                  </a:tcPr>
                </a:tc>
              </a:tr>
              <a:tr h="347472">
                <a:tc>
                  <a:txBody>
                    <a:bodyPr/>
                    <a:lstStyle/>
                    <a:p>
                      <a:pPr algn="l"/>
                      <a:r>
                        <a:rPr sz="1100" b="0" i="0">
                          <a:solidFill>
                            <a:srgbClr val="0D3C4C"/>
                          </a:solidFill>
                          <a:latin typeface="Nanum Gothic"/>
                        </a:rPr>
                        <a:t>Women</a:t>
                      </a:r>
                    </a:p>
                  </a:txBody>
                  <a:tcPr marT="18288" marB="18288" anchor="ctr">
                    <a:solidFill>
                      <a:srgbClr val="EEF6F9"/>
                    </a:solidFill>
                  </a:tcPr>
                </a:tc>
                <a:tc>
                  <a:txBody>
                    <a:bodyPr/>
                    <a:lstStyle/>
                    <a:p>
                      <a:pPr algn="r"/>
                      <a:r>
                        <a:rPr sz="1100" b="0" i="0">
                          <a:solidFill>
                            <a:srgbClr val="0D3C4C"/>
                          </a:solidFill>
                          <a:latin typeface="Nanum Gothic"/>
                        </a:rPr>
                        <a:t>8,858</a:t>
                      </a:r>
                    </a:p>
                  </a:txBody>
                  <a:tcPr marT="18288" marB="18288" anchor="ctr">
                    <a:solidFill>
                      <a:srgbClr val="EEF6F9"/>
                    </a:solidFill>
                  </a:tcPr>
                </a:tc>
                <a:tc>
                  <a:txBody>
                    <a:bodyPr/>
                    <a:lstStyle/>
                    <a:p>
                      <a:pPr algn="r"/>
                      <a:r>
                        <a:rPr sz="1100" b="0" i="0">
                          <a:solidFill>
                            <a:srgbClr val="0D3C4C"/>
                          </a:solidFill>
                          <a:latin typeface="Nanum Gothic"/>
                        </a:rPr>
                        <a:t>49.2%</a:t>
                      </a:r>
                    </a:p>
                  </a:txBody>
                  <a:tcPr marT="18288" marB="18288" anchor="ctr">
                    <a:solidFill>
                      <a:srgbClr val="EEF6F9"/>
                    </a:solidFill>
                  </a:tcPr>
                </a:tc>
                <a:tc>
                  <a:txBody>
                    <a:bodyPr/>
                    <a:lstStyle/>
                    <a:p>
                      <a:pPr algn="r"/>
                      <a:r>
                        <a:rPr sz="1100" b="0" i="0">
                          <a:solidFill>
                            <a:srgbClr val="0D3C4C"/>
                          </a:solidFill>
                          <a:latin typeface="Nanum Gothic"/>
                        </a:rPr>
                        <a:t>48.7%</a:t>
                      </a:r>
                    </a:p>
                  </a:txBody>
                  <a:tcPr marT="18288" marB="18288" anchor="ctr">
                    <a:solidFill>
                      <a:srgbClr val="EEF6F9"/>
                    </a:solidFill>
                  </a:tcPr>
                </a:tc>
                <a:tc>
                  <a:txBody>
                    <a:bodyPr/>
                    <a:lstStyle/>
                    <a:p>
                      <a:pPr algn="r"/>
                      <a:r>
                        <a:rPr sz="1100" b="0" i="0">
                          <a:solidFill>
                            <a:srgbClr val="0D3C4C"/>
                          </a:solidFill>
                          <a:latin typeface="Nanum Gothic"/>
                        </a:rPr>
                        <a:t>0.803</a:t>
                      </a:r>
                    </a:p>
                  </a:txBody>
                  <a:tcPr marT="18288" marB="18288" anchor="ctr">
                    <a:solidFill>
                      <a:srgbClr val="EEF6F9"/>
                    </a:solidFill>
                  </a:tcPr>
                </a:tc>
                <a:tc>
                  <a:txBody>
                    <a:bodyPr/>
                    <a:lstStyle/>
                    <a:p>
                      <a:pPr algn="r"/>
                      <a:r>
                        <a:rPr sz="1100" b="0" i="0">
                          <a:solidFill>
                            <a:srgbClr val="0D3C4C"/>
                          </a:solidFill>
                          <a:latin typeface="Nanum Gothic"/>
                        </a:rPr>
                        <a:t>68.0%</a:t>
                      </a:r>
                    </a:p>
                  </a:txBody>
                  <a:tcPr marT="18288" marB="18288" anchor="ctr">
                    <a:solidFill>
                      <a:srgbClr val="EEF6F9"/>
                    </a:solidFill>
                  </a:tcPr>
                </a:tc>
                <a:tc>
                  <a:txBody>
                    <a:bodyPr/>
                    <a:lstStyle/>
                    <a:p>
                      <a:pPr algn="r"/>
                      <a:r>
                        <a:rPr sz="1100" b="0" i="0">
                          <a:solidFill>
                            <a:srgbClr val="0D3C4C"/>
                          </a:solidFill>
                          <a:latin typeface="Nanum Gothic"/>
                        </a:rPr>
                        <a:t>78.6%</a:t>
                      </a:r>
                    </a:p>
                  </a:txBody>
                  <a:tcPr marT="18288" marB="18288" anchor="ctr">
                    <a:solidFill>
                      <a:srgbClr val="EEF6F9"/>
                    </a:solidFill>
                  </a:tcPr>
                </a:tc>
              </a:tr>
              <a:tr h="347472">
                <a:tc>
                  <a:txBody>
                    <a:bodyPr/>
                    <a:lstStyle/>
                    <a:p>
                      <a:pPr algn="l"/>
                      <a:r>
                        <a:rPr sz="1100" b="0" i="0">
                          <a:solidFill>
                            <a:srgbClr val="0D3C4C"/>
                          </a:solidFill>
                          <a:latin typeface="Nanum Gothic"/>
                        </a:rPr>
                        <a:t>Men</a:t>
                      </a:r>
                    </a:p>
                  </a:txBody>
                  <a:tcPr marT="18288" marB="18288" anchor="ctr">
                    <a:solidFill>
                      <a:srgbClr val="FFFFFF"/>
                    </a:solidFill>
                  </a:tcPr>
                </a:tc>
                <a:tc>
                  <a:txBody>
                    <a:bodyPr/>
                    <a:lstStyle/>
                    <a:p>
                      <a:pPr algn="r"/>
                      <a:r>
                        <a:rPr sz="1100" b="0" i="0">
                          <a:solidFill>
                            <a:srgbClr val="0D3C4C"/>
                          </a:solidFill>
                          <a:latin typeface="Nanum Gothic"/>
                        </a:rPr>
                        <a:t>4,864</a:t>
                      </a:r>
                    </a:p>
                  </a:txBody>
                  <a:tcPr marT="18288" marB="18288" anchor="ctr">
                    <a:solidFill>
                      <a:srgbClr val="FFFFFF"/>
                    </a:solidFill>
                  </a:tcPr>
                </a:tc>
                <a:tc>
                  <a:txBody>
                    <a:bodyPr/>
                    <a:lstStyle/>
                    <a:p>
                      <a:pPr algn="r"/>
                      <a:r>
                        <a:rPr sz="1100" b="0" i="0">
                          <a:solidFill>
                            <a:srgbClr val="0D3C4C"/>
                          </a:solidFill>
                          <a:latin typeface="Nanum Gothic"/>
                        </a:rPr>
                        <a:t>49.9%</a:t>
                      </a:r>
                    </a:p>
                  </a:txBody>
                  <a:tcPr marT="18288" marB="18288" anchor="ctr">
                    <a:solidFill>
                      <a:srgbClr val="FFFFFF"/>
                    </a:solidFill>
                  </a:tcPr>
                </a:tc>
                <a:tc>
                  <a:txBody>
                    <a:bodyPr/>
                    <a:lstStyle/>
                    <a:p>
                      <a:pPr algn="r"/>
                      <a:r>
                        <a:rPr sz="1100" b="0" i="0">
                          <a:solidFill>
                            <a:srgbClr val="0D3C4C"/>
                          </a:solidFill>
                          <a:latin typeface="Nanum Gothic"/>
                        </a:rPr>
                        <a:t>50.7%</a:t>
                      </a:r>
                    </a:p>
                  </a:txBody>
                  <a:tcPr marT="18288" marB="18288" anchor="ctr">
                    <a:solidFill>
                      <a:srgbClr val="FFFFFF"/>
                    </a:solidFill>
                  </a:tcPr>
                </a:tc>
                <a:tc>
                  <a:txBody>
                    <a:bodyPr/>
                    <a:lstStyle/>
                    <a:p>
                      <a:pPr algn="r"/>
                      <a:r>
                        <a:rPr sz="1100" b="0" i="0">
                          <a:solidFill>
                            <a:srgbClr val="0D3C4C"/>
                          </a:solidFill>
                          <a:latin typeface="Nanum Gothic"/>
                        </a:rPr>
                        <a:t>0.808</a:t>
                      </a:r>
                    </a:p>
                  </a:txBody>
                  <a:tcPr marT="18288" marB="18288" anchor="ctr">
                    <a:solidFill>
                      <a:srgbClr val="FFFFFF"/>
                    </a:solidFill>
                  </a:tcPr>
                </a:tc>
                <a:tc>
                  <a:txBody>
                    <a:bodyPr/>
                    <a:lstStyle/>
                    <a:p>
                      <a:pPr algn="r"/>
                      <a:r>
                        <a:rPr sz="1100" b="0" i="0">
                          <a:solidFill>
                            <a:srgbClr val="0D3C4C"/>
                          </a:solidFill>
                          <a:latin typeface="Nanum Gothic"/>
                        </a:rPr>
                        <a:t>70.4%</a:t>
                      </a:r>
                    </a:p>
                  </a:txBody>
                  <a:tcPr marT="18288" marB="18288" anchor="ctr">
                    <a:solidFill>
                      <a:srgbClr val="FFFFFF"/>
                    </a:solidFill>
                  </a:tcPr>
                </a:tc>
                <a:tc>
                  <a:txBody>
                    <a:bodyPr/>
                    <a:lstStyle/>
                    <a:p>
                      <a:pPr algn="r"/>
                      <a:r>
                        <a:rPr sz="1100" b="0" i="0">
                          <a:solidFill>
                            <a:srgbClr val="0D3C4C"/>
                          </a:solidFill>
                          <a:latin typeface="Nanum Gothic"/>
                        </a:rPr>
                        <a:t>77.6%</a:t>
                      </a:r>
                    </a:p>
                  </a:txBody>
                  <a:tcPr marT="18288" marB="18288" anchor="ctr">
                    <a:solidFill>
                      <a:srgbClr val="FFFFFF"/>
                    </a:solidFill>
                  </a:tcPr>
                </a:tc>
              </a:tr>
              <a:tr h="347472">
                <a:tc>
                  <a:txBody>
                    <a:bodyPr/>
                    <a:lstStyle/>
                    <a:p>
                      <a:pPr algn="l"/>
                      <a:r>
                        <a:rPr sz="1100" b="0" i="0">
                          <a:solidFill>
                            <a:srgbClr val="0D3C4C"/>
                          </a:solidFill>
                          <a:latin typeface="Nanum Gothic"/>
                        </a:rPr>
                        <a:t>Age under 50</a:t>
                      </a:r>
                    </a:p>
                  </a:txBody>
                  <a:tcPr marT="18288" marB="18288" anchor="ctr">
                    <a:solidFill>
                      <a:srgbClr val="EEF6F9"/>
                    </a:solidFill>
                  </a:tcPr>
                </a:tc>
                <a:tc>
                  <a:txBody>
                    <a:bodyPr/>
                    <a:lstStyle/>
                    <a:p>
                      <a:pPr algn="r"/>
                      <a:r>
                        <a:rPr sz="1100" b="0" i="0">
                          <a:solidFill>
                            <a:srgbClr val="0D3C4C"/>
                          </a:solidFill>
                          <a:latin typeface="Nanum Gothic"/>
                        </a:rPr>
                        <a:t>4,361</a:t>
                      </a:r>
                    </a:p>
                  </a:txBody>
                  <a:tcPr marT="18288" marB="18288" anchor="ctr">
                    <a:solidFill>
                      <a:srgbClr val="EEF6F9"/>
                    </a:solidFill>
                  </a:tcPr>
                </a:tc>
                <a:tc>
                  <a:txBody>
                    <a:bodyPr/>
                    <a:lstStyle/>
                    <a:p>
                      <a:pPr algn="r"/>
                      <a:r>
                        <a:rPr sz="1100" b="0" i="0">
                          <a:solidFill>
                            <a:srgbClr val="0D3C4C"/>
                          </a:solidFill>
                          <a:latin typeface="Nanum Gothic"/>
                        </a:rPr>
                        <a:t>36.8%</a:t>
                      </a:r>
                    </a:p>
                  </a:txBody>
                  <a:tcPr marT="18288" marB="18288" anchor="ctr">
                    <a:solidFill>
                      <a:srgbClr val="EEF6F9"/>
                    </a:solidFill>
                  </a:tcPr>
                </a:tc>
                <a:tc>
                  <a:txBody>
                    <a:bodyPr/>
                    <a:lstStyle/>
                    <a:p>
                      <a:pPr algn="r"/>
                      <a:r>
                        <a:rPr sz="1100" b="0" i="0">
                          <a:solidFill>
                            <a:srgbClr val="0D3C4C"/>
                          </a:solidFill>
                          <a:latin typeface="Nanum Gothic"/>
                        </a:rPr>
                        <a:t>36.3%</a:t>
                      </a:r>
                    </a:p>
                  </a:txBody>
                  <a:tcPr marT="18288" marB="18288" anchor="ctr">
                    <a:solidFill>
                      <a:srgbClr val="EEF6F9"/>
                    </a:solidFill>
                  </a:tcPr>
                </a:tc>
                <a:tc>
                  <a:txBody>
                    <a:bodyPr/>
                    <a:lstStyle/>
                    <a:p>
                      <a:pPr algn="r"/>
                      <a:r>
                        <a:rPr sz="1100" b="0" i="0">
                          <a:solidFill>
                            <a:srgbClr val="0D3C4C"/>
                          </a:solidFill>
                          <a:latin typeface="Nanum Gothic"/>
                        </a:rPr>
                        <a:t>0.835</a:t>
                      </a:r>
                    </a:p>
                  </a:txBody>
                  <a:tcPr marT="18288" marB="18288" anchor="ctr">
                    <a:solidFill>
                      <a:srgbClr val="EEF6F9"/>
                    </a:solidFill>
                  </a:tcPr>
                </a:tc>
                <a:tc>
                  <a:txBody>
                    <a:bodyPr/>
                    <a:lstStyle/>
                    <a:p>
                      <a:pPr algn="r"/>
                      <a:r>
                        <a:rPr sz="1100" b="0" i="0">
                          <a:solidFill>
                            <a:srgbClr val="0D3C4C"/>
                          </a:solidFill>
                          <a:latin typeface="Nanum Gothic"/>
                        </a:rPr>
                        <a:t>59.0%</a:t>
                      </a:r>
                    </a:p>
                  </a:txBody>
                  <a:tcPr marT="18288" marB="18288" anchor="ctr">
                    <a:solidFill>
                      <a:srgbClr val="EEF6F9"/>
                    </a:solidFill>
                  </a:tcPr>
                </a:tc>
                <a:tc>
                  <a:txBody>
                    <a:bodyPr/>
                    <a:lstStyle/>
                    <a:p>
                      <a:pPr algn="r"/>
                      <a:r>
                        <a:rPr sz="1100" b="0" i="0">
                          <a:solidFill>
                            <a:srgbClr val="0D3C4C"/>
                          </a:solidFill>
                          <a:latin typeface="Nanum Gothic"/>
                        </a:rPr>
                        <a:t>91.4%</a:t>
                      </a:r>
                    </a:p>
                  </a:txBody>
                  <a:tcPr marT="18288" marB="18288" anchor="ctr">
                    <a:solidFill>
                      <a:srgbClr val="EEF6F9"/>
                    </a:solidFill>
                  </a:tcPr>
                </a:tc>
              </a:tr>
              <a:tr h="347472">
                <a:tc>
                  <a:txBody>
                    <a:bodyPr/>
                    <a:lstStyle/>
                    <a:p>
                      <a:pPr algn="l"/>
                      <a:r>
                        <a:rPr sz="1100" b="0" i="0">
                          <a:solidFill>
                            <a:srgbClr val="0D3C4C"/>
                          </a:solidFill>
                          <a:latin typeface="Nanum Gothic"/>
                        </a:rPr>
                        <a:t>Age 50-59</a:t>
                      </a:r>
                    </a:p>
                  </a:txBody>
                  <a:tcPr marT="18288" marB="18288" anchor="ctr">
                    <a:solidFill>
                      <a:srgbClr val="FFFFFF"/>
                    </a:solidFill>
                  </a:tcPr>
                </a:tc>
                <a:tc>
                  <a:txBody>
                    <a:bodyPr/>
                    <a:lstStyle/>
                    <a:p>
                      <a:pPr algn="r"/>
                      <a:r>
                        <a:rPr sz="1100" b="0" i="0">
                          <a:solidFill>
                            <a:srgbClr val="0D3C4C"/>
                          </a:solidFill>
                          <a:latin typeface="Nanum Gothic"/>
                        </a:rPr>
                        <a:t>6,900</a:t>
                      </a:r>
                    </a:p>
                  </a:txBody>
                  <a:tcPr marT="18288" marB="18288" anchor="ctr">
                    <a:solidFill>
                      <a:srgbClr val="FFFFFF"/>
                    </a:solidFill>
                  </a:tcPr>
                </a:tc>
                <a:tc>
                  <a:txBody>
                    <a:bodyPr/>
                    <a:lstStyle/>
                    <a:p>
                      <a:pPr algn="r"/>
                      <a:r>
                        <a:rPr sz="1100" b="0" i="0">
                          <a:solidFill>
                            <a:srgbClr val="0D3C4C"/>
                          </a:solidFill>
                          <a:latin typeface="Nanum Gothic"/>
                        </a:rPr>
                        <a:t>50.8%</a:t>
                      </a:r>
                    </a:p>
                  </a:txBody>
                  <a:tcPr marT="18288" marB="18288" anchor="ctr">
                    <a:solidFill>
                      <a:srgbClr val="FFFFFF"/>
                    </a:solidFill>
                  </a:tcPr>
                </a:tc>
                <a:tc>
                  <a:txBody>
                    <a:bodyPr/>
                    <a:lstStyle/>
                    <a:p>
                      <a:pPr algn="r"/>
                      <a:r>
                        <a:rPr sz="1100" b="0" i="0">
                          <a:solidFill>
                            <a:srgbClr val="0D3C4C"/>
                          </a:solidFill>
                          <a:latin typeface="Nanum Gothic"/>
                        </a:rPr>
                        <a:t>51.6%</a:t>
                      </a:r>
                    </a:p>
                  </a:txBody>
                  <a:tcPr marT="18288" marB="18288" anchor="ctr">
                    <a:solidFill>
                      <a:srgbClr val="FFFFFF"/>
                    </a:solidFill>
                  </a:tcPr>
                </a:tc>
                <a:tc>
                  <a:txBody>
                    <a:bodyPr/>
                    <a:lstStyle/>
                    <a:p>
                      <a:pPr algn="r"/>
                      <a:r>
                        <a:rPr sz="1100" b="0" i="0">
                          <a:solidFill>
                            <a:srgbClr val="0D3C4C"/>
                          </a:solidFill>
                          <a:latin typeface="Nanum Gothic"/>
                        </a:rPr>
                        <a:t>0.768</a:t>
                      </a:r>
                    </a:p>
                  </a:txBody>
                  <a:tcPr marT="18288" marB="18288" anchor="ctr">
                    <a:solidFill>
                      <a:srgbClr val="FFFFFF"/>
                    </a:solidFill>
                  </a:tcPr>
                </a:tc>
                <a:tc>
                  <a:txBody>
                    <a:bodyPr/>
                    <a:lstStyle/>
                    <a:p>
                      <a:pPr algn="r"/>
                      <a:r>
                        <a:rPr sz="1100" b="0" i="0">
                          <a:solidFill>
                            <a:srgbClr val="0D3C4C"/>
                          </a:solidFill>
                          <a:latin typeface="Nanum Gothic"/>
                        </a:rPr>
                        <a:t>64.2%</a:t>
                      </a:r>
                    </a:p>
                  </a:txBody>
                  <a:tcPr marT="18288" marB="18288" anchor="ctr">
                    <a:solidFill>
                      <a:srgbClr val="FFFFFF"/>
                    </a:solidFill>
                  </a:tcPr>
                </a:tc>
                <a:tc>
                  <a:txBody>
                    <a:bodyPr/>
                    <a:lstStyle/>
                    <a:p>
                      <a:pPr algn="r"/>
                      <a:r>
                        <a:rPr sz="1100" b="0" i="0">
                          <a:solidFill>
                            <a:srgbClr val="0D3C4C"/>
                          </a:solidFill>
                          <a:latin typeface="Nanum Gothic"/>
                        </a:rPr>
                        <a:t>77.7%</a:t>
                      </a:r>
                    </a:p>
                  </a:txBody>
                  <a:tcPr marT="18288" marB="18288" anchor="ctr">
                    <a:solidFill>
                      <a:srgbClr val="FFFFFF"/>
                    </a:solidFill>
                  </a:tcPr>
                </a:tc>
              </a:tr>
              <a:tr h="347472">
                <a:tc>
                  <a:txBody>
                    <a:bodyPr/>
                    <a:lstStyle/>
                    <a:p>
                      <a:pPr algn="l"/>
                      <a:r>
                        <a:rPr sz="1100" b="0" i="0">
                          <a:solidFill>
                            <a:srgbClr val="0D3C4C"/>
                          </a:solidFill>
                          <a:latin typeface="Nanum Gothic"/>
                        </a:rPr>
                        <a:t>Age 60 and over</a:t>
                      </a:r>
                    </a:p>
                  </a:txBody>
                  <a:tcPr marT="18288" marB="18288" anchor="ctr">
                    <a:solidFill>
                      <a:srgbClr val="EEF6F9"/>
                    </a:solidFill>
                  </a:tcPr>
                </a:tc>
                <a:tc>
                  <a:txBody>
                    <a:bodyPr/>
                    <a:lstStyle/>
                    <a:p>
                      <a:pPr algn="r"/>
                      <a:r>
                        <a:rPr sz="1100" b="0" i="0">
                          <a:solidFill>
                            <a:srgbClr val="0D3C4C"/>
                          </a:solidFill>
                          <a:latin typeface="Nanum Gothic"/>
                        </a:rPr>
                        <a:t>2,461</a:t>
                      </a:r>
                    </a:p>
                  </a:txBody>
                  <a:tcPr marT="18288" marB="18288" anchor="ctr">
                    <a:solidFill>
                      <a:srgbClr val="EEF6F9"/>
                    </a:solidFill>
                  </a:tcPr>
                </a:tc>
                <a:tc>
                  <a:txBody>
                    <a:bodyPr/>
                    <a:lstStyle/>
                    <a:p>
                      <a:pPr algn="r"/>
                      <a:r>
                        <a:rPr sz="1100" b="0" i="0">
                          <a:solidFill>
                            <a:srgbClr val="0D3C4C"/>
                          </a:solidFill>
                          <a:latin typeface="Nanum Gothic"/>
                        </a:rPr>
                        <a:t>67.9%</a:t>
                      </a:r>
                    </a:p>
                  </a:txBody>
                  <a:tcPr marT="18288" marB="18288" anchor="ctr">
                    <a:solidFill>
                      <a:srgbClr val="EEF6F9"/>
                    </a:solidFill>
                  </a:tcPr>
                </a:tc>
                <a:tc>
                  <a:txBody>
                    <a:bodyPr/>
                    <a:lstStyle/>
                    <a:p>
                      <a:pPr algn="r"/>
                      <a:r>
                        <a:rPr sz="1100" b="0" i="0">
                          <a:solidFill>
                            <a:srgbClr val="0D3C4C"/>
                          </a:solidFill>
                          <a:latin typeface="Nanum Gothic"/>
                        </a:rPr>
                        <a:t>66.5%</a:t>
                      </a:r>
                    </a:p>
                  </a:txBody>
                  <a:tcPr marT="18288" marB="18288" anchor="ctr">
                    <a:solidFill>
                      <a:srgbClr val="EEF6F9"/>
                    </a:solidFill>
                  </a:tcPr>
                </a:tc>
                <a:tc>
                  <a:txBody>
                    <a:bodyPr/>
                    <a:lstStyle/>
                    <a:p>
                      <a:pPr algn="r"/>
                      <a:r>
                        <a:rPr sz="1100" b="0" i="0">
                          <a:solidFill>
                            <a:srgbClr val="0D3C4C"/>
                          </a:solidFill>
                          <a:latin typeface="Nanum Gothic"/>
                        </a:rPr>
                        <a:t>0.718</a:t>
                      </a:r>
                    </a:p>
                  </a:txBody>
                  <a:tcPr marT="18288" marB="18288" anchor="ctr">
                    <a:solidFill>
                      <a:srgbClr val="EEF6F9"/>
                    </a:solidFill>
                  </a:tcPr>
                </a:tc>
                <a:tc>
                  <a:txBody>
                    <a:bodyPr/>
                    <a:lstStyle/>
                    <a:p>
                      <a:pPr algn="r"/>
                      <a:r>
                        <a:rPr sz="1100" b="0" i="0">
                          <a:solidFill>
                            <a:srgbClr val="0D3C4C"/>
                          </a:solidFill>
                          <a:latin typeface="Nanum Gothic"/>
                        </a:rPr>
                        <a:t>88.1%</a:t>
                      </a:r>
                    </a:p>
                  </a:txBody>
                  <a:tcPr marT="18288" marB="18288" anchor="ctr">
                    <a:solidFill>
                      <a:srgbClr val="EEF6F9"/>
                    </a:solidFill>
                  </a:tcPr>
                </a:tc>
                <a:tc>
                  <a:txBody>
                    <a:bodyPr/>
                    <a:lstStyle/>
                    <a:p>
                      <a:pPr algn="r"/>
                      <a:r>
                        <a:rPr sz="1100" b="0" i="0">
                          <a:solidFill>
                            <a:srgbClr val="0D3C4C"/>
                          </a:solidFill>
                          <a:latin typeface="Nanum Gothic"/>
                        </a:rPr>
                        <a:t>34.7%</a:t>
                      </a:r>
                    </a:p>
                  </a:txBody>
                  <a:tcPr marT="18288" marB="18288" anchor="ctr">
                    <a:solidFill>
                      <a:srgbClr val="EEF6F9"/>
                    </a:solidFill>
                  </a:tcPr>
                </a:tc>
              </a:tr>
              <a:tr h="347472">
                <a:tc>
                  <a:txBody>
                    <a:bodyPr/>
                    <a:lstStyle/>
                    <a:p>
                      <a:pPr algn="l"/>
                      <a:r>
                        <a:rPr sz="1100" b="0" i="0">
                          <a:solidFill>
                            <a:srgbClr val="0D3C4C"/>
                          </a:solidFill>
                          <a:latin typeface="Nanum Gothic"/>
                        </a:rPr>
                        <a:t>Everyone</a:t>
                      </a:r>
                    </a:p>
                  </a:txBody>
                  <a:tcPr marT="18288" marB="18288" anchor="ctr">
                    <a:solidFill>
                      <a:srgbClr val="FFFFFF"/>
                    </a:solidFill>
                  </a:tcPr>
                </a:tc>
                <a:tc>
                  <a:txBody>
                    <a:bodyPr/>
                    <a:lstStyle/>
                    <a:p>
                      <a:pPr algn="r"/>
                      <a:r>
                        <a:rPr sz="1100" b="0" i="0">
                          <a:solidFill>
                            <a:srgbClr val="0D3C4C"/>
                          </a:solidFill>
                          <a:latin typeface="Nanum Gothic"/>
                        </a:rPr>
                        <a:t>13,722</a:t>
                      </a:r>
                    </a:p>
                  </a:txBody>
                  <a:tcPr marT="18288" marB="18288" anchor="ctr">
                    <a:solidFill>
                      <a:srgbClr val="FFFFFF"/>
                    </a:solidFill>
                  </a:tcPr>
                </a:tc>
                <a:tc>
                  <a:txBody>
                    <a:bodyPr/>
                    <a:lstStyle/>
                    <a:p>
                      <a:pPr algn="r"/>
                      <a:r>
                        <a:rPr sz="1100" b="0" i="0">
                          <a:solidFill>
                            <a:srgbClr val="0D3C4C"/>
                          </a:solidFill>
                          <a:latin typeface="Nanum Gothic"/>
                        </a:rPr>
                        <a:t>49.4%</a:t>
                      </a:r>
                    </a:p>
                  </a:txBody>
                  <a:tcPr marT="18288" marB="18288" anchor="ctr">
                    <a:solidFill>
                      <a:srgbClr val="FFFFFF"/>
                    </a:solidFill>
                  </a:tcPr>
                </a:tc>
                <a:tc>
                  <a:txBody>
                    <a:bodyPr/>
                    <a:lstStyle/>
                    <a:p>
                      <a:pPr algn="r"/>
                      <a:r>
                        <a:rPr sz="1100" b="0" i="0">
                          <a:solidFill>
                            <a:srgbClr val="0D3C4C"/>
                          </a:solidFill>
                          <a:latin typeface="Nanum Gothic"/>
                        </a:rPr>
                        <a:t>49.4%</a:t>
                      </a:r>
                    </a:p>
                  </a:txBody>
                  <a:tcPr marT="18288" marB="18288" anchor="ctr">
                    <a:solidFill>
                      <a:srgbClr val="FFFFFF"/>
                    </a:solidFill>
                  </a:tcPr>
                </a:tc>
                <a:tc>
                  <a:txBody>
                    <a:bodyPr/>
                    <a:lstStyle/>
                    <a:p>
                      <a:pPr algn="r"/>
                      <a:r>
                        <a:rPr sz="1100" b="0" i="0">
                          <a:solidFill>
                            <a:srgbClr val="0D3C4C"/>
                          </a:solidFill>
                          <a:latin typeface="Nanum Gothic"/>
                        </a:rPr>
                        <a:t>0.804</a:t>
                      </a:r>
                    </a:p>
                  </a:txBody>
                  <a:tcPr marT="18288" marB="18288" anchor="ctr">
                    <a:solidFill>
                      <a:srgbClr val="FFFFFF"/>
                    </a:solidFill>
                  </a:tcPr>
                </a:tc>
                <a:tc>
                  <a:txBody>
                    <a:bodyPr/>
                    <a:lstStyle/>
                    <a:p>
                      <a:pPr algn="r"/>
                      <a:r>
                        <a:rPr sz="1100" b="0" i="0">
                          <a:solidFill>
                            <a:srgbClr val="0D3C4C"/>
                          </a:solidFill>
                          <a:latin typeface="Nanum Gothic"/>
                        </a:rPr>
                        <a:t>68.9%</a:t>
                      </a:r>
                    </a:p>
                  </a:txBody>
                  <a:tcPr marT="18288" marB="18288" anchor="ctr">
                    <a:solidFill>
                      <a:srgbClr val="FFFFFF"/>
                    </a:solidFill>
                  </a:tcPr>
                </a:tc>
                <a:tc>
                  <a:txBody>
                    <a:bodyPr/>
                    <a:lstStyle/>
                    <a:p>
                      <a:pPr algn="r"/>
                      <a:r>
                        <a:rPr sz="1100" b="0" i="0">
                          <a:solidFill>
                            <a:srgbClr val="0D3C4C"/>
                          </a:solidFill>
                          <a:latin typeface="Nanum Gothic"/>
                        </a:rPr>
                        <a:t>78.2%</a:t>
                      </a:r>
                    </a:p>
                  </a:txBody>
                  <a:tcPr marT="18288" marB="18288" anchor="ctr">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ild Meningitis Case Study by Slidesgo">
  <a:themeElements>
    <a:clrScheme name="Simple Light">
      <a:dk1>
        <a:srgbClr val="0D3C4C"/>
      </a:dk1>
      <a:lt1>
        <a:srgbClr val="FFFFFF"/>
      </a:lt1>
      <a:dk2>
        <a:srgbClr val="E05A4F"/>
      </a:dk2>
      <a:lt2>
        <a:srgbClr val="99D0E2"/>
      </a:lt2>
      <a:accent1>
        <a:srgbClr val="ADBAC1"/>
      </a:accent1>
      <a:accent2>
        <a:srgbClr val="ADD9E8"/>
      </a:accent2>
      <a:accent3>
        <a:srgbClr val="FFFFFF"/>
      </a:accent3>
      <a:accent4>
        <a:srgbClr val="FFFFFF"/>
      </a:accent4>
      <a:accent5>
        <a:srgbClr val="FFFFFF"/>
      </a:accent5>
      <a:accent6>
        <a:srgbClr val="FFFFFF"/>
      </a:accent6>
      <a:hlink>
        <a:srgbClr val="14576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